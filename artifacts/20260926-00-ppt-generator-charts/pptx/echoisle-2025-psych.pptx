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10900" y="247650"/>
            <a:ext cx="838200" cy="838200"/>
          </a:xfrm>
          <a:prstGeom prst="ellipse">
            <a:avLst/>
          </a:prstGeom>
          <a:noFill/>
          <a:ln w="14288">
            <a:solidFill>
              <a:srgbClr val="94A3B8">
                <a:alpha val="1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1163300" y="400050"/>
            <a:ext cx="533400" cy="533400"/>
          </a:xfrm>
          <a:prstGeom prst="ellipse">
            <a:avLst/>
          </a:prstGeom>
          <a:noFill/>
          <a:ln w="14288">
            <a:solidFill>
              <a:srgbClr val="94A3B8">
                <a:alpha val="2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11315700" y="552450"/>
            <a:ext cx="228600" cy="228600"/>
          </a:xfrm>
          <a:prstGeom prst="ellipse">
            <a:avLst/>
          </a:prstGeom>
          <a:noFill/>
          <a:ln w="14288">
            <a:solidFill>
              <a:srgbClr val="94A3B8">
                <a:alpha val="35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350520" y="645795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年度核心指标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7665" y="991552"/>
            <a:ext cx="9851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KPI OVERVIEW</a:t>
            </a:r>
          </a:p>
        </p:txBody>
      </p:sp>
      <p:sp>
        <p:nvSpPr>
          <p:cNvPr id="8" name="Rectangle 8"/>
          <p:cNvSpPr/>
          <p:nvPr/>
        </p:nvSpPr>
        <p:spPr>
          <a:xfrm>
            <a:off x="381000" y="1200150"/>
            <a:ext cx="609600" cy="38100"/>
          </a:xfrm>
          <a:prstGeom prst="rect">
            <a:avLst/>
          </a:prstGeom>
          <a:gradFill>
            <a:gsLst>
              <a:gs pos="0">
                <a:srgbClr val="1E3A5F"/>
              </a:gs>
              <a:gs pos="100000">
                <a:srgbClr val="3D8B7A"/>
              </a:gs>
            </a:gsLst>
            <a:lin ang="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167670" y="791528"/>
            <a:ext cx="26566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四项指标 · 两项由趋势与漏斗数据推算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428750"/>
            <a:ext cx="5334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723900" y="1619250"/>
            <a:ext cx="76200" cy="666750"/>
          </a:xfrm>
          <a:prstGeom prst="rect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35355" y="16640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年度营收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165" y="1915478"/>
            <a:ext cx="11691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ANNUAL REVENUE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" y="2390775"/>
            <a:ext cx="159439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¥3,846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31720" y="2520315"/>
            <a:ext cx="3086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74151"/>
                </a:solidFill>
                <a:latin typeface="Segoe UI"/>
                <a:ea typeface="Microsoft YaHei"/>
                <a:cs typeface="Segoe UI"/>
              </a:rPr>
              <a:t>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9165" y="3001328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利润率 15.3% · 12 个月合计</a:t>
            </a:r>
          </a:p>
        </p:txBody>
      </p:sp>
      <p:sp>
        <p:nvSpPr>
          <p:cNvPr id="17" name="Freeform 17"/>
          <p:cNvSpPr/>
          <p:nvPr/>
        </p:nvSpPr>
        <p:spPr>
          <a:xfrm>
            <a:off x="952500" y="3114675"/>
            <a:ext cx="114300" cy="85725"/>
          </a:xfrm>
          <a:custGeom>
            <a:avLst/>
            <a:gdLst/>
            <a:ahLst/>
            <a:cxnLst/>
            <a:rect l="l" t="t" r="r" b="b"/>
            <a:pathLst>
              <a:path w="114300" h="85725">
                <a:moveTo>
                  <a:pt x="0" y="85725"/>
                </a:moveTo>
                <a:lnTo>
                  <a:pt x="57150" y="0"/>
                </a:lnTo>
                <a:lnTo>
                  <a:pt x="114300" y="85725"/>
                </a:lnTo>
                <a:close/>
              </a:path>
            </a:pathLst>
          </a:custGeom>
          <a:solidFill>
            <a:srgbClr val="3D8B7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08710" y="3070860"/>
            <a:ext cx="10119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D8B7A"/>
                </a:solidFill>
                <a:latin typeface="Segoe UI"/>
                <a:ea typeface="Microsoft YaHei"/>
                <a:cs typeface="Segoe UI"/>
              </a:rPr>
              <a:t>+23.8% 同比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9165" y="344900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12 个月营收合计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1428750"/>
            <a:ext cx="5334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438900" y="1619250"/>
            <a:ext cx="76200" cy="666750"/>
          </a:xfrm>
          <a:prstGeom prst="rect">
            <a:avLst/>
          </a:prstGeom>
          <a:solidFill>
            <a:srgbClr val="3D8B7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650355" y="16640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年度利润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4165" y="1915478"/>
            <a:ext cx="8241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NET PROFIT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29400" y="2390775"/>
            <a:ext cx="108832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¥588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04760" y="2520315"/>
            <a:ext cx="3086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74151"/>
                </a:solidFill>
                <a:latin typeface="Segoe UI"/>
                <a:ea typeface="Microsoft YaHei"/>
                <a:cs typeface="Segoe UI"/>
              </a:rPr>
              <a:t>万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4165" y="3001328"/>
            <a:ext cx="17518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营收 3,846 − 成本 3,258</a:t>
            </a:r>
          </a:p>
        </p:txBody>
      </p:sp>
      <p:sp>
        <p:nvSpPr>
          <p:cNvPr id="27" name="Freeform 27"/>
          <p:cNvSpPr/>
          <p:nvPr/>
        </p:nvSpPr>
        <p:spPr>
          <a:xfrm>
            <a:off x="6667500" y="3114675"/>
            <a:ext cx="114300" cy="85725"/>
          </a:xfrm>
          <a:custGeom>
            <a:avLst/>
            <a:gdLst/>
            <a:ahLst/>
            <a:cxnLst/>
            <a:rect l="l" t="t" r="r" b="b"/>
            <a:pathLst>
              <a:path w="114300" h="85725">
                <a:moveTo>
                  <a:pt x="0" y="85725"/>
                </a:moveTo>
                <a:lnTo>
                  <a:pt x="57150" y="0"/>
                </a:lnTo>
                <a:lnTo>
                  <a:pt x="114300" y="85725"/>
                </a:lnTo>
                <a:close/>
              </a:path>
            </a:pathLst>
          </a:custGeom>
          <a:solidFill>
            <a:srgbClr val="3D8B7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23710" y="3070860"/>
            <a:ext cx="17480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D8B7A"/>
                </a:solidFill>
                <a:latin typeface="Segoe UI"/>
                <a:ea typeface="Microsoft YaHei"/>
                <a:cs typeface="Segoe UI"/>
              </a:rPr>
              <a:t>利润率 15.3%（推算）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4165" y="3449002"/>
            <a:ext cx="2043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营收合计 − 成本合计（推算）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4191000"/>
            <a:ext cx="5334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723900" y="4381500"/>
            <a:ext cx="76200" cy="666750"/>
          </a:xfrm>
          <a:prstGeom prst="rect">
            <a:avLst/>
          </a:prstGeom>
          <a:solidFill>
            <a:srgbClr val="E07843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35355" y="44262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月活用户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9165" y="4677728"/>
            <a:ext cx="11921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MONTHLY ACTIVE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4400" y="5153025"/>
            <a:ext cx="97331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18.8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89760" y="5282565"/>
            <a:ext cx="3086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74151"/>
                </a:solidFill>
                <a:latin typeface="Segoe UI"/>
                <a:ea typeface="Microsoft YaHei"/>
                <a:cs typeface="Segoe UI"/>
              </a:rPr>
              <a:t>万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9165" y="5763578"/>
            <a:ext cx="7780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188,000 人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52500" y="5886450"/>
            <a:ext cx="114300" cy="57150"/>
          </a:xfrm>
          <a:prstGeom prst="rect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108710" y="5833110"/>
            <a:ext cx="20634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5C8E"/>
                </a:solidFill>
                <a:latin typeface="Segoe UI"/>
                <a:ea typeface="Microsoft YaHei"/>
                <a:cs typeface="Segoe UI"/>
              </a:rPr>
              <a:t>注册→月活 46.9%（推算）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9165" y="621125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转化漏斗第 4 级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286500" y="4191000"/>
            <a:ext cx="5334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6438900" y="4381500"/>
            <a:ext cx="76200" cy="666750"/>
          </a:xfrm>
          <a:prstGeom prst="rect">
            <a:avLst/>
          </a:prstGeom>
          <a:solidFill>
            <a:srgbClr val="B54545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650355" y="44262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付费订阅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654165" y="4677728"/>
            <a:ext cx="12611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PAID SUBSCRIBERS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629400" y="5153025"/>
            <a:ext cx="83529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5.2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383780" y="5282565"/>
            <a:ext cx="3086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74151"/>
                </a:solidFill>
                <a:latin typeface="Segoe UI"/>
                <a:ea typeface="Microsoft YaHei"/>
                <a:cs typeface="Segoe UI"/>
              </a:rPr>
              <a:t>万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654165" y="5763578"/>
            <a:ext cx="7320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52,000 人</a:t>
            </a:r>
          </a:p>
        </p:txBody>
      </p:sp>
      <p:sp>
        <p:nvSpPr>
          <p:cNvPr id="47" name="Freeform 47"/>
          <p:cNvSpPr/>
          <p:nvPr/>
        </p:nvSpPr>
        <p:spPr>
          <a:xfrm>
            <a:off x="6667500" y="5876925"/>
            <a:ext cx="114300" cy="85725"/>
          </a:xfrm>
          <a:custGeom>
            <a:avLst/>
            <a:gdLst/>
            <a:ahLst/>
            <a:cxnLst/>
            <a:rect l="l" t="t" r="r" b="b"/>
            <a:pathLst>
              <a:path w="114300" h="85725">
                <a:moveTo>
                  <a:pt x="0" y="0"/>
                </a:moveTo>
                <a:lnTo>
                  <a:pt x="57150" y="85725"/>
                </a:lnTo>
                <a:lnTo>
                  <a:pt x="114300" y="0"/>
                </a:lnTo>
                <a:close/>
              </a:path>
            </a:pathLst>
          </a:custGeom>
          <a:solidFill>
            <a:srgbClr val="B54545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823710" y="5833110"/>
            <a:ext cx="20634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54545"/>
                </a:solidFill>
                <a:latin typeface="Segoe UI"/>
                <a:ea typeface="Microsoft YaHei"/>
                <a:cs typeface="Segoe UI"/>
              </a:rPr>
              <a:t>月活→付费 27.7%（推算）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54165" y="621125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转化漏斗第 5 级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67665" y="6249352"/>
            <a:ext cx="49186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演示数据（虚构）· 图表骨架取自 ppt-generator templates/charts/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322272" y="62493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01 / 06</a:t>
            </a:r>
          </a:p>
        </p:txBody>
      </p:sp>
    </p:spTree>
  </p:cSld>
  <p:clrMapOvr>
    <a:masterClrMapping/>
  </p:clrMapOvr>
  <p:transition dur="5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10900" y="247650"/>
            <a:ext cx="838200" cy="838200"/>
          </a:xfrm>
          <a:prstGeom prst="ellipse">
            <a:avLst/>
          </a:prstGeom>
          <a:noFill/>
          <a:ln w="14288">
            <a:solidFill>
              <a:srgbClr val="94A3B8">
                <a:alpha val="1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1163300" y="400050"/>
            <a:ext cx="533400" cy="533400"/>
          </a:xfrm>
          <a:prstGeom prst="ellipse">
            <a:avLst/>
          </a:prstGeom>
          <a:noFill/>
          <a:ln w="14288">
            <a:solidFill>
              <a:srgbClr val="94A3B8">
                <a:alpha val="2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11315700" y="552450"/>
            <a:ext cx="228600" cy="228600"/>
          </a:xfrm>
          <a:prstGeom prst="ellipse">
            <a:avLst/>
          </a:prstGeom>
          <a:noFill/>
          <a:ln w="14288">
            <a:solidFill>
              <a:srgbClr val="94A3B8">
                <a:alpha val="35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350520" y="645795"/>
            <a:ext cx="33733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月度营收与成本趋势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7665" y="991552"/>
            <a:ext cx="11461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MONTHLY TREND</a:t>
            </a:r>
          </a:p>
        </p:txBody>
      </p:sp>
      <p:sp>
        <p:nvSpPr>
          <p:cNvPr id="8" name="Rectangle 8"/>
          <p:cNvSpPr/>
          <p:nvPr/>
        </p:nvSpPr>
        <p:spPr>
          <a:xfrm>
            <a:off x="381000" y="1200150"/>
            <a:ext cx="609600" cy="38100"/>
          </a:xfrm>
          <a:prstGeom prst="rect">
            <a:avLst/>
          </a:prstGeom>
          <a:gradFill>
            <a:gsLst>
              <a:gs pos="0">
                <a:srgbClr val="1E3A5F"/>
              </a:gs>
              <a:gs pos="100000">
                <a:srgbClr val="3D8B7A"/>
              </a:gs>
            </a:gsLst>
            <a:lin ang="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371487" y="791528"/>
            <a:ext cx="14528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单位：万元 · 12 个月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2946" y="5173028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0</a:t>
            </a:r>
          </a:p>
        </p:txBody>
      </p:sp>
      <p:sp>
        <p:nvSpPr>
          <p:cNvPr id="11" name="Line 11"/>
          <p:cNvSpPr/>
          <p:nvPr/>
        </p:nvSpPr>
        <p:spPr>
          <a:xfrm>
            <a:off x="1333500" y="42862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2" name="TextBox 12"/>
          <p:cNvSpPr txBox="1"/>
          <p:nvPr/>
        </p:nvSpPr>
        <p:spPr>
          <a:xfrm>
            <a:off x="962596" y="4220528"/>
            <a:ext cx="2413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100</a:t>
            </a:r>
          </a:p>
        </p:txBody>
      </p:sp>
      <p:sp>
        <p:nvSpPr>
          <p:cNvPr id="13" name="Line 13"/>
          <p:cNvSpPr/>
          <p:nvPr/>
        </p:nvSpPr>
        <p:spPr>
          <a:xfrm>
            <a:off x="1333500" y="33337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4" name="TextBox 14"/>
          <p:cNvSpPr txBox="1"/>
          <p:nvPr/>
        </p:nvSpPr>
        <p:spPr>
          <a:xfrm>
            <a:off x="924258" y="326802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200</a:t>
            </a:r>
          </a:p>
        </p:txBody>
      </p:sp>
      <p:sp>
        <p:nvSpPr>
          <p:cNvPr id="15" name="Line 15"/>
          <p:cNvSpPr/>
          <p:nvPr/>
        </p:nvSpPr>
        <p:spPr>
          <a:xfrm>
            <a:off x="1333500" y="23812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6" name="TextBox 16"/>
          <p:cNvSpPr txBox="1"/>
          <p:nvPr/>
        </p:nvSpPr>
        <p:spPr>
          <a:xfrm>
            <a:off x="924258" y="231552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300</a:t>
            </a:r>
          </a:p>
        </p:txBody>
      </p:sp>
      <p:sp>
        <p:nvSpPr>
          <p:cNvPr id="17" name="Line 17"/>
          <p:cNvSpPr/>
          <p:nvPr/>
        </p:nvSpPr>
        <p:spPr>
          <a:xfrm>
            <a:off x="1333500" y="14287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8" name="TextBox 18"/>
          <p:cNvSpPr txBox="1"/>
          <p:nvPr/>
        </p:nvSpPr>
        <p:spPr>
          <a:xfrm>
            <a:off x="924258" y="136302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400</a:t>
            </a:r>
          </a:p>
        </p:txBody>
      </p:sp>
      <p:sp>
        <p:nvSpPr>
          <p:cNvPr id="19" name="Line 19"/>
          <p:cNvSpPr/>
          <p:nvPr/>
        </p:nvSpPr>
        <p:spPr>
          <a:xfrm>
            <a:off x="1333500" y="1428750"/>
            <a:ext cx="9525" cy="3810000"/>
          </a:xfrm>
          <a:custGeom>
            <a:avLst/>
            <a:gdLst/>
            <a:ahLst/>
            <a:cxnLst/>
            <a:rect l="l" t="t" r="r" b="b"/>
            <a:pathLst>
              <a:path w="9525"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noFill/>
          <a:ln w="19050">
            <a:solidFill>
              <a:srgbClr val="94A3B8"/>
            </a:solidFill>
          </a:ln>
        </p:spPr>
      </p:sp>
      <p:sp>
        <p:nvSpPr>
          <p:cNvPr id="20" name="Line 20"/>
          <p:cNvSpPr/>
          <p:nvPr/>
        </p:nvSpPr>
        <p:spPr>
          <a:xfrm>
            <a:off x="1333500" y="52387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19050">
            <a:solidFill>
              <a:srgbClr val="94A3B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2030111" y="5411152"/>
            <a:ext cx="2260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20567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2月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30192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3月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39817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4月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49442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5月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59067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6月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68692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7月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678317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8月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87942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9月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74564" y="5411152"/>
            <a:ext cx="3103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10月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103358" y="5411152"/>
            <a:ext cx="2720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11月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893814" y="5411152"/>
            <a:ext cx="3103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12月</a:t>
            </a:r>
          </a:p>
        </p:txBody>
      </p:sp>
      <p:sp>
        <p:nvSpPr>
          <p:cNvPr id="33" name="Polyline 33"/>
          <p:cNvSpPr/>
          <p:nvPr/>
        </p:nvSpPr>
        <p:spPr>
          <a:xfrm>
            <a:off x="2143125" y="1533525"/>
            <a:ext cx="8905875" cy="1343025"/>
          </a:xfrm>
          <a:custGeom>
            <a:avLst/>
            <a:gdLst/>
            <a:ahLst/>
            <a:cxnLst/>
            <a:rect l="l" t="t" r="r" b="b"/>
            <a:pathLst>
              <a:path w="8905875" h="1343025">
                <a:moveTo>
                  <a:pt x="0" y="1343025"/>
                </a:moveTo>
                <a:lnTo>
                  <a:pt x="809625" y="1181100"/>
                </a:lnTo>
                <a:lnTo>
                  <a:pt x="1619250" y="1047750"/>
                </a:lnTo>
                <a:lnTo>
                  <a:pt x="2428875" y="838200"/>
                </a:lnTo>
                <a:lnTo>
                  <a:pt x="3238500" y="704850"/>
                </a:lnTo>
                <a:lnTo>
                  <a:pt x="4048125" y="590550"/>
                </a:lnTo>
                <a:lnTo>
                  <a:pt x="4857750" y="485775"/>
                </a:lnTo>
                <a:lnTo>
                  <a:pt x="5667375" y="447675"/>
                </a:lnTo>
                <a:lnTo>
                  <a:pt x="6477000" y="552450"/>
                </a:lnTo>
                <a:lnTo>
                  <a:pt x="7286625" y="381000"/>
                </a:lnTo>
                <a:lnTo>
                  <a:pt x="8096250" y="257175"/>
                </a:lnTo>
                <a:lnTo>
                  <a:pt x="8905875" y="0"/>
                </a:lnTo>
              </a:path>
            </a:pathLst>
          </a:custGeom>
          <a:noFill/>
          <a:ln w="28575">
            <a:solidFill>
              <a:srgbClr val="2E5C8E"/>
            </a:solidFill>
          </a:ln>
        </p:spPr>
      </p:sp>
      <p:sp>
        <p:nvSpPr>
          <p:cNvPr id="34" name="Ellipse 34"/>
          <p:cNvSpPr/>
          <p:nvPr/>
        </p:nvSpPr>
        <p:spPr>
          <a:xfrm>
            <a:off x="2095500" y="2828925"/>
            <a:ext cx="95250" cy="95250"/>
          </a:xfrm>
          <a:prstGeom prst="ellipse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2905125" y="2667000"/>
            <a:ext cx="95250" cy="95250"/>
          </a:xfrm>
          <a:prstGeom prst="ellipse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3714750" y="2533650"/>
            <a:ext cx="95250" cy="95250"/>
          </a:xfrm>
          <a:prstGeom prst="ellipse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4524375" y="2324100"/>
            <a:ext cx="95250" cy="95250"/>
          </a:xfrm>
          <a:prstGeom prst="ellipse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5334000" y="2190750"/>
            <a:ext cx="95250" cy="95250"/>
          </a:xfrm>
          <a:prstGeom prst="ellipse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6143625" y="2076450"/>
            <a:ext cx="95250" cy="95250"/>
          </a:xfrm>
          <a:prstGeom prst="ellipse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6953250" y="1971675"/>
            <a:ext cx="95250" cy="95250"/>
          </a:xfrm>
          <a:prstGeom prst="ellipse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7762875" y="1933575"/>
            <a:ext cx="95250" cy="95250"/>
          </a:xfrm>
          <a:prstGeom prst="ellipse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8572500" y="2038350"/>
            <a:ext cx="95250" cy="95250"/>
          </a:xfrm>
          <a:prstGeom prst="ellipse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9382125" y="1866900"/>
            <a:ext cx="95250" cy="95250"/>
          </a:xfrm>
          <a:prstGeom prst="ellipse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10191750" y="1743075"/>
            <a:ext cx="95250" cy="95250"/>
          </a:xfrm>
          <a:prstGeom prst="ellipse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45" name="Ellipse 45"/>
          <p:cNvSpPr/>
          <p:nvPr/>
        </p:nvSpPr>
        <p:spPr>
          <a:xfrm>
            <a:off x="11001375" y="1485900"/>
            <a:ext cx="95250" cy="95250"/>
          </a:xfrm>
          <a:prstGeom prst="ellipse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46" name="Polyline 46"/>
          <p:cNvSpPr/>
          <p:nvPr/>
        </p:nvSpPr>
        <p:spPr>
          <a:xfrm>
            <a:off x="2143125" y="2305050"/>
            <a:ext cx="8905875" cy="733425"/>
          </a:xfrm>
          <a:custGeom>
            <a:avLst/>
            <a:gdLst/>
            <a:ahLst/>
            <a:cxnLst/>
            <a:rect l="l" t="t" r="r" b="b"/>
            <a:pathLst>
              <a:path w="8905875" h="733425">
                <a:moveTo>
                  <a:pt x="0" y="733425"/>
                </a:moveTo>
                <a:lnTo>
                  <a:pt x="809625" y="628650"/>
                </a:lnTo>
                <a:lnTo>
                  <a:pt x="1619250" y="571500"/>
                </a:lnTo>
                <a:lnTo>
                  <a:pt x="2428875" y="466725"/>
                </a:lnTo>
                <a:lnTo>
                  <a:pt x="3238500" y="400050"/>
                </a:lnTo>
                <a:lnTo>
                  <a:pt x="4048125" y="323850"/>
                </a:lnTo>
                <a:lnTo>
                  <a:pt x="4857750" y="257175"/>
                </a:lnTo>
                <a:lnTo>
                  <a:pt x="5667375" y="209550"/>
                </a:lnTo>
                <a:lnTo>
                  <a:pt x="6477000" y="295275"/>
                </a:lnTo>
                <a:lnTo>
                  <a:pt x="7286625" y="180975"/>
                </a:lnTo>
                <a:lnTo>
                  <a:pt x="8096250" y="104775"/>
                </a:lnTo>
                <a:lnTo>
                  <a:pt x="8905875" y="0"/>
                </a:lnTo>
              </a:path>
            </a:pathLst>
          </a:custGeom>
          <a:noFill/>
          <a:ln w="28575">
            <a:solidFill>
              <a:srgbClr val="3D8B7A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2095500" y="2990850"/>
            <a:ext cx="95250" cy="95250"/>
          </a:xfrm>
          <a:prstGeom prst="ellipse">
            <a:avLst/>
          </a:prstGeom>
          <a:solidFill>
            <a:srgbClr val="3D8B7A"/>
          </a:solidFill>
          <a:ln>
            <a:noFill/>
          </a:ln>
        </p:spPr>
      </p:sp>
      <p:sp>
        <p:nvSpPr>
          <p:cNvPr id="48" name="Ellipse 48"/>
          <p:cNvSpPr/>
          <p:nvPr/>
        </p:nvSpPr>
        <p:spPr>
          <a:xfrm>
            <a:off x="2905125" y="2886075"/>
            <a:ext cx="95250" cy="95250"/>
          </a:xfrm>
          <a:prstGeom prst="ellipse">
            <a:avLst/>
          </a:prstGeom>
          <a:solidFill>
            <a:srgbClr val="3D8B7A"/>
          </a:solidFill>
          <a:ln>
            <a:noFill/>
          </a:ln>
        </p:spPr>
      </p:sp>
      <p:sp>
        <p:nvSpPr>
          <p:cNvPr id="49" name="Ellipse 49"/>
          <p:cNvSpPr/>
          <p:nvPr/>
        </p:nvSpPr>
        <p:spPr>
          <a:xfrm>
            <a:off x="3714750" y="2828925"/>
            <a:ext cx="95250" cy="95250"/>
          </a:xfrm>
          <a:prstGeom prst="ellipse">
            <a:avLst/>
          </a:prstGeom>
          <a:solidFill>
            <a:srgbClr val="3D8B7A"/>
          </a:solidFill>
          <a:ln>
            <a:noFill/>
          </a:ln>
        </p:spPr>
      </p:sp>
      <p:sp>
        <p:nvSpPr>
          <p:cNvPr id="50" name="Ellipse 50"/>
          <p:cNvSpPr/>
          <p:nvPr/>
        </p:nvSpPr>
        <p:spPr>
          <a:xfrm>
            <a:off x="4524375" y="2724150"/>
            <a:ext cx="95250" cy="95250"/>
          </a:xfrm>
          <a:prstGeom prst="ellipse">
            <a:avLst/>
          </a:prstGeom>
          <a:solidFill>
            <a:srgbClr val="3D8B7A"/>
          </a:solidFill>
          <a:ln>
            <a:noFill/>
          </a:ln>
        </p:spPr>
      </p:sp>
      <p:sp>
        <p:nvSpPr>
          <p:cNvPr id="51" name="Ellipse 51"/>
          <p:cNvSpPr/>
          <p:nvPr/>
        </p:nvSpPr>
        <p:spPr>
          <a:xfrm>
            <a:off x="5334000" y="2657475"/>
            <a:ext cx="95250" cy="95250"/>
          </a:xfrm>
          <a:prstGeom prst="ellipse">
            <a:avLst/>
          </a:prstGeom>
          <a:solidFill>
            <a:srgbClr val="3D8B7A"/>
          </a:solidFill>
          <a:ln>
            <a:noFill/>
          </a:ln>
        </p:spPr>
      </p:sp>
      <p:sp>
        <p:nvSpPr>
          <p:cNvPr id="52" name="Ellipse 52"/>
          <p:cNvSpPr/>
          <p:nvPr/>
        </p:nvSpPr>
        <p:spPr>
          <a:xfrm>
            <a:off x="6143625" y="2581275"/>
            <a:ext cx="95250" cy="95250"/>
          </a:xfrm>
          <a:prstGeom prst="ellipse">
            <a:avLst/>
          </a:prstGeom>
          <a:solidFill>
            <a:srgbClr val="3D8B7A"/>
          </a:solidFill>
          <a:ln>
            <a:noFill/>
          </a:ln>
        </p:spPr>
      </p:sp>
      <p:sp>
        <p:nvSpPr>
          <p:cNvPr id="53" name="Ellipse 53"/>
          <p:cNvSpPr/>
          <p:nvPr/>
        </p:nvSpPr>
        <p:spPr>
          <a:xfrm>
            <a:off x="6953250" y="2514600"/>
            <a:ext cx="95250" cy="95250"/>
          </a:xfrm>
          <a:prstGeom prst="ellipse">
            <a:avLst/>
          </a:prstGeom>
          <a:solidFill>
            <a:srgbClr val="3D8B7A"/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7762875" y="2466975"/>
            <a:ext cx="95250" cy="95250"/>
          </a:xfrm>
          <a:prstGeom prst="ellipse">
            <a:avLst/>
          </a:prstGeom>
          <a:solidFill>
            <a:srgbClr val="3D8B7A"/>
          </a:solidFill>
          <a:ln>
            <a:noFill/>
          </a:ln>
        </p:spPr>
      </p:sp>
      <p:sp>
        <p:nvSpPr>
          <p:cNvPr id="55" name="Ellipse 55"/>
          <p:cNvSpPr/>
          <p:nvPr/>
        </p:nvSpPr>
        <p:spPr>
          <a:xfrm>
            <a:off x="8572500" y="2552700"/>
            <a:ext cx="95250" cy="95250"/>
          </a:xfrm>
          <a:prstGeom prst="ellipse">
            <a:avLst/>
          </a:prstGeom>
          <a:solidFill>
            <a:srgbClr val="3D8B7A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9382125" y="2438400"/>
            <a:ext cx="95250" cy="95250"/>
          </a:xfrm>
          <a:prstGeom prst="ellipse">
            <a:avLst/>
          </a:prstGeom>
          <a:solidFill>
            <a:srgbClr val="3D8B7A"/>
          </a:solidFill>
          <a:ln>
            <a:noFill/>
          </a:ln>
        </p:spPr>
      </p:sp>
      <p:sp>
        <p:nvSpPr>
          <p:cNvPr id="57" name="Ellipse 57"/>
          <p:cNvSpPr/>
          <p:nvPr/>
        </p:nvSpPr>
        <p:spPr>
          <a:xfrm>
            <a:off x="10191750" y="2362200"/>
            <a:ext cx="95250" cy="95250"/>
          </a:xfrm>
          <a:prstGeom prst="ellipse">
            <a:avLst/>
          </a:prstGeom>
          <a:solidFill>
            <a:srgbClr val="3D8B7A"/>
          </a:solidFill>
          <a:ln>
            <a:noFill/>
          </a:ln>
        </p:spPr>
      </p:sp>
      <p:sp>
        <p:nvSpPr>
          <p:cNvPr id="58" name="Ellipse 58"/>
          <p:cNvSpPr/>
          <p:nvPr/>
        </p:nvSpPr>
        <p:spPr>
          <a:xfrm>
            <a:off x="11001375" y="2257425"/>
            <a:ext cx="95250" cy="95250"/>
          </a:xfrm>
          <a:prstGeom prst="ellipse">
            <a:avLst/>
          </a:prstGeom>
          <a:solidFill>
            <a:srgbClr val="3D8B7A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10653922" y="2061210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308</a:t>
            </a:r>
          </a:p>
        </p:txBody>
      </p:sp>
      <p:sp>
        <p:nvSpPr>
          <p:cNvPr id="60" name="Rectangle 60"/>
          <p:cNvSpPr/>
          <p:nvPr/>
        </p:nvSpPr>
        <p:spPr>
          <a:xfrm>
            <a:off x="9048750" y="1162050"/>
            <a:ext cx="133350" cy="133350"/>
          </a:xfrm>
          <a:prstGeom prst="rect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9243060" y="1146810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74151"/>
                </a:solidFill>
                <a:latin typeface="Segoe UI"/>
                <a:ea typeface="Microsoft YaHei"/>
                <a:cs typeface="Segoe UI"/>
              </a:rPr>
              <a:t>营收</a:t>
            </a:r>
          </a:p>
        </p:txBody>
      </p:sp>
      <p:sp>
        <p:nvSpPr>
          <p:cNvPr id="62" name="Rectangle 62"/>
          <p:cNvSpPr/>
          <p:nvPr/>
        </p:nvSpPr>
        <p:spPr>
          <a:xfrm>
            <a:off x="10096500" y="1162050"/>
            <a:ext cx="133350" cy="133350"/>
          </a:xfrm>
          <a:prstGeom prst="rect">
            <a:avLst/>
          </a:prstGeom>
          <a:solidFill>
            <a:srgbClr val="3D8B7A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10290810" y="1146810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74151"/>
                </a:solidFill>
                <a:latin typeface="Segoe UI"/>
                <a:ea typeface="Microsoft YaHei"/>
                <a:cs typeface="Segoe UI"/>
              </a:rPr>
              <a:t>成本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320165" y="5887402"/>
            <a:ext cx="38911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利润 = 营收合计 3,846 − 成本合计 3,258 = 588（万元）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67665" y="6249352"/>
            <a:ext cx="49186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演示数据（虚构）· 图表骨架取自 ppt-generator templates/charts/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283934" y="62493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02 / 06</a:t>
            </a:r>
          </a:p>
        </p:txBody>
      </p:sp>
    </p:spTree>
  </p:cSld>
  <p:clrMapOvr>
    <a:masterClrMapping/>
  </p:clrMapOvr>
  <p:transition dur="5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10900" y="247650"/>
            <a:ext cx="838200" cy="838200"/>
          </a:xfrm>
          <a:prstGeom prst="ellipse">
            <a:avLst/>
          </a:prstGeom>
          <a:noFill/>
          <a:ln w="14288">
            <a:solidFill>
              <a:srgbClr val="94A3B8">
                <a:alpha val="1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1163300" y="400050"/>
            <a:ext cx="533400" cy="533400"/>
          </a:xfrm>
          <a:prstGeom prst="ellipse">
            <a:avLst/>
          </a:prstGeom>
          <a:noFill/>
          <a:ln w="14288">
            <a:solidFill>
              <a:srgbClr val="94A3B8">
                <a:alpha val="2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11315700" y="552450"/>
            <a:ext cx="228600" cy="228600"/>
          </a:xfrm>
          <a:prstGeom prst="ellipse">
            <a:avLst/>
          </a:prstGeom>
          <a:noFill/>
          <a:ln w="14288">
            <a:solidFill>
              <a:srgbClr val="94A3B8">
                <a:alpha val="35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350520" y="645795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各内容线年度营收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7665" y="991552"/>
            <a:ext cx="11768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REVENUE BY LINE</a:t>
            </a:r>
          </a:p>
        </p:txBody>
      </p:sp>
      <p:sp>
        <p:nvSpPr>
          <p:cNvPr id="8" name="Rectangle 8"/>
          <p:cNvSpPr/>
          <p:nvPr/>
        </p:nvSpPr>
        <p:spPr>
          <a:xfrm>
            <a:off x="381000" y="1200150"/>
            <a:ext cx="609600" cy="38100"/>
          </a:xfrm>
          <a:prstGeom prst="rect">
            <a:avLst/>
          </a:prstGeom>
          <a:gradFill>
            <a:gsLst>
              <a:gs pos="0">
                <a:srgbClr val="1E3A5F"/>
              </a:gs>
              <a:gs pos="100000">
                <a:srgbClr val="3D8B7A"/>
              </a:gs>
            </a:gsLst>
            <a:lin ang="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087785" y="791528"/>
            <a:ext cx="17365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单位：万元 · 五条内容线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2946" y="5173028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0</a:t>
            </a:r>
          </a:p>
        </p:txBody>
      </p:sp>
      <p:sp>
        <p:nvSpPr>
          <p:cNvPr id="11" name="Line 11"/>
          <p:cNvSpPr/>
          <p:nvPr/>
        </p:nvSpPr>
        <p:spPr>
          <a:xfrm>
            <a:off x="1333500" y="42862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2" name="TextBox 12"/>
          <p:cNvSpPr txBox="1"/>
          <p:nvPr/>
        </p:nvSpPr>
        <p:spPr>
          <a:xfrm>
            <a:off x="924258" y="422052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400</a:t>
            </a:r>
          </a:p>
        </p:txBody>
      </p:sp>
      <p:sp>
        <p:nvSpPr>
          <p:cNvPr id="13" name="Line 13"/>
          <p:cNvSpPr/>
          <p:nvPr/>
        </p:nvSpPr>
        <p:spPr>
          <a:xfrm>
            <a:off x="1333500" y="33337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4" name="TextBox 14"/>
          <p:cNvSpPr txBox="1"/>
          <p:nvPr/>
        </p:nvSpPr>
        <p:spPr>
          <a:xfrm>
            <a:off x="924258" y="326802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800</a:t>
            </a:r>
          </a:p>
        </p:txBody>
      </p:sp>
      <p:sp>
        <p:nvSpPr>
          <p:cNvPr id="15" name="Line 15"/>
          <p:cNvSpPr/>
          <p:nvPr/>
        </p:nvSpPr>
        <p:spPr>
          <a:xfrm>
            <a:off x="1333500" y="23812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6" name="TextBox 16"/>
          <p:cNvSpPr txBox="1"/>
          <p:nvPr/>
        </p:nvSpPr>
        <p:spPr>
          <a:xfrm>
            <a:off x="793909" y="2315528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1,200</a:t>
            </a:r>
          </a:p>
        </p:txBody>
      </p:sp>
      <p:sp>
        <p:nvSpPr>
          <p:cNvPr id="17" name="Line 17"/>
          <p:cNvSpPr/>
          <p:nvPr/>
        </p:nvSpPr>
        <p:spPr>
          <a:xfrm>
            <a:off x="1333500" y="14287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8" name="TextBox 18"/>
          <p:cNvSpPr txBox="1"/>
          <p:nvPr/>
        </p:nvSpPr>
        <p:spPr>
          <a:xfrm>
            <a:off x="793909" y="1363028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1,600</a:t>
            </a:r>
          </a:p>
        </p:txBody>
      </p:sp>
      <p:sp>
        <p:nvSpPr>
          <p:cNvPr id="19" name="Line 19"/>
          <p:cNvSpPr/>
          <p:nvPr/>
        </p:nvSpPr>
        <p:spPr>
          <a:xfrm>
            <a:off x="1333500" y="1428750"/>
            <a:ext cx="9525" cy="3810000"/>
          </a:xfrm>
          <a:custGeom>
            <a:avLst/>
            <a:gdLst/>
            <a:ahLst/>
            <a:cxnLst/>
            <a:rect l="l" t="t" r="r" b="b"/>
            <a:pathLst>
              <a:path w="9525"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noFill/>
          <a:ln w="19050">
            <a:solidFill>
              <a:srgbClr val="94A3B8"/>
            </a:solidFill>
          </a:ln>
        </p:spPr>
      </p:sp>
      <p:sp>
        <p:nvSpPr>
          <p:cNvPr id="20" name="Line 20"/>
          <p:cNvSpPr/>
          <p:nvPr/>
        </p:nvSpPr>
        <p:spPr>
          <a:xfrm>
            <a:off x="1333500" y="52387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19050">
            <a:solidFill>
              <a:srgbClr val="94A3B8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2095500" y="2176462"/>
            <a:ext cx="476250" cy="3062288"/>
          </a:xfrm>
          <a:prstGeom prst="rect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088356" y="1913572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1,286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67865" y="5394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74151"/>
                </a:solidFill>
                <a:latin typeface="Segoe UI"/>
                <a:ea typeface="Microsoft YaHei"/>
                <a:cs typeface="Segoe UI"/>
              </a:rPr>
              <a:t>声音内容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810000" y="3181350"/>
            <a:ext cx="476250" cy="2057400"/>
          </a:xfrm>
          <a:prstGeom prst="rect">
            <a:avLst/>
          </a:prstGeom>
          <a:solidFill>
            <a:srgbClr val="3D8B7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881066" y="2918460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864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82365" y="5394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74151"/>
                </a:solidFill>
                <a:latin typeface="Segoe UI"/>
                <a:ea typeface="Microsoft YaHei"/>
                <a:cs typeface="Segoe UI"/>
              </a:rPr>
              <a:t>付费社区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524500" y="3543300"/>
            <a:ext cx="476250" cy="1695450"/>
          </a:xfrm>
          <a:prstGeom prst="rect">
            <a:avLst/>
          </a:prstGeom>
          <a:solidFill>
            <a:srgbClr val="E07843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618569" y="3280410"/>
            <a:ext cx="2881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712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96865" y="5394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74151"/>
                </a:solidFill>
                <a:latin typeface="Segoe UI"/>
                <a:ea typeface="Microsoft YaHei"/>
                <a:cs typeface="Segoe UI"/>
              </a:rPr>
              <a:t>直播打赏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239000" y="3802856"/>
            <a:ext cx="476250" cy="1435894"/>
          </a:xfrm>
          <a:prstGeom prst="rect">
            <a:avLst/>
          </a:prstGeom>
          <a:solidFill>
            <a:srgbClr val="64748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310066" y="3539966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603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11365" y="5394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74151"/>
                </a:solidFill>
                <a:latin typeface="Segoe UI"/>
                <a:ea typeface="Microsoft YaHei"/>
                <a:cs typeface="Segoe UI"/>
              </a:rPr>
              <a:t>品牌合作</a:t>
            </a:r>
          </a:p>
        </p:txBody>
      </p:sp>
      <p:sp>
        <p:nvSpPr>
          <p:cNvPr id="33" name="Rectangle 33"/>
          <p:cNvSpPr/>
          <p:nvPr/>
        </p:nvSpPr>
        <p:spPr>
          <a:xfrm>
            <a:off x="8953500" y="4331494"/>
            <a:ext cx="476250" cy="907256"/>
          </a:xfrm>
          <a:prstGeom prst="rect">
            <a:avLst/>
          </a:prstGeom>
          <a:solidFill>
            <a:srgbClr val="B54545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047569" y="4068604"/>
            <a:ext cx="2881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381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825865" y="5394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74151"/>
                </a:solidFill>
                <a:latin typeface="Segoe UI"/>
                <a:ea typeface="Microsoft YaHei"/>
                <a:cs typeface="Segoe UI"/>
              </a:rPr>
              <a:t>衍生周边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20165" y="5887402"/>
            <a:ext cx="28636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五条内容线合计 3,846 万元 · 单位：万元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67665" y="6249352"/>
            <a:ext cx="49186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演示数据（虚构）· 图表骨架取自 ppt-generator templates/charts/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83934" y="62493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03 / 06</a:t>
            </a:r>
          </a:p>
        </p:txBody>
      </p:sp>
    </p:spTree>
  </p:cSld>
  <p:clrMapOvr>
    <a:masterClrMapping/>
  </p:clrMapOvr>
  <p:transition dur="5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10900" y="247650"/>
            <a:ext cx="838200" cy="838200"/>
          </a:xfrm>
          <a:prstGeom prst="ellipse">
            <a:avLst/>
          </a:prstGeom>
          <a:noFill/>
          <a:ln w="14288">
            <a:solidFill>
              <a:srgbClr val="94A3B8">
                <a:alpha val="1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1163300" y="400050"/>
            <a:ext cx="533400" cy="533400"/>
          </a:xfrm>
          <a:prstGeom prst="ellipse">
            <a:avLst/>
          </a:prstGeom>
          <a:noFill/>
          <a:ln w="14288">
            <a:solidFill>
              <a:srgbClr val="94A3B8">
                <a:alpha val="2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11315700" y="552450"/>
            <a:ext cx="228600" cy="228600"/>
          </a:xfrm>
          <a:prstGeom prst="ellipse">
            <a:avLst/>
          </a:prstGeom>
          <a:noFill/>
          <a:ln w="14288">
            <a:solidFill>
              <a:srgbClr val="94A3B8">
                <a:alpha val="35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350520" y="645795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营收构成占比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7665" y="991552"/>
            <a:ext cx="9084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REVENUE MIX</a:t>
            </a:r>
          </a:p>
        </p:txBody>
      </p:sp>
      <p:sp>
        <p:nvSpPr>
          <p:cNvPr id="8" name="Rectangle 8"/>
          <p:cNvSpPr/>
          <p:nvPr/>
        </p:nvSpPr>
        <p:spPr>
          <a:xfrm>
            <a:off x="381000" y="1200150"/>
            <a:ext cx="609600" cy="38100"/>
          </a:xfrm>
          <a:prstGeom prst="rect">
            <a:avLst/>
          </a:prstGeom>
          <a:gradFill>
            <a:gsLst>
              <a:gs pos="0">
                <a:srgbClr val="1E3A5F"/>
              </a:gs>
              <a:gs pos="100000">
                <a:srgbClr val="3D8B7A"/>
              </a:gs>
            </a:gsLst>
            <a:lin ang="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627727" y="791528"/>
            <a:ext cx="21966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五项构成 · 角度与占比同源计算</a:t>
            </a:r>
          </a:p>
        </p:txBody>
      </p:sp>
      <p:sp>
        <p:nvSpPr>
          <p:cNvPr id="10" name="Freeform 10"/>
          <p:cNvSpPr/>
          <p:nvPr/>
        </p:nvSpPr>
        <p:spPr>
          <a:xfrm>
            <a:off x="3810000" y="2190750"/>
            <a:ext cx="1793115" cy="2581466"/>
          </a:xfrm>
          <a:custGeom>
            <a:avLst/>
            <a:gdLst/>
            <a:ahLst/>
            <a:cxnLst/>
            <a:rect l="l" t="t" r="r" b="b"/>
            <a:pathLst>
              <a:path w="1793115" h="2581466">
                <a:moveTo>
                  <a:pt x="0" y="0"/>
                </a:moveTo>
                <a:cubicBezTo>
                  <a:pt x="614538" y="4"/>
                  <a:pt x="1182073" y="328916"/>
                  <a:pt x="1487594" y="862127"/>
                </a:cubicBezTo>
                <a:cubicBezTo>
                  <a:pt x="1793115" y="1395337"/>
                  <a:pt x="1789889" y="2051286"/>
                  <a:pt x="1479137" y="2581466"/>
                </a:cubicBezTo>
                <a:lnTo>
                  <a:pt x="821722" y="2196084"/>
                </a:lnTo>
                <a:cubicBezTo>
                  <a:pt x="994327" y="1901547"/>
                  <a:pt x="996103" y="1537159"/>
                  <a:pt x="826379" y="1240953"/>
                </a:cubicBezTo>
                <a:cubicBezTo>
                  <a:pt x="656654" y="944746"/>
                  <a:pt x="341386" y="762023"/>
                  <a:pt x="0" y="762000"/>
                </a:cubicBezTo>
                <a:close/>
              </a:path>
            </a:pathLst>
          </a:custGeom>
          <a:solidFill>
            <a:srgbClr val="2E5C8E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3188684" y="4386834"/>
            <a:ext cx="2100453" cy="1421424"/>
          </a:xfrm>
          <a:custGeom>
            <a:avLst/>
            <a:gdLst/>
            <a:ahLst/>
            <a:cxnLst/>
            <a:rect l="l" t="t" r="r" b="b"/>
            <a:pathLst>
              <a:path w="2100453" h="1421424">
                <a:moveTo>
                  <a:pt x="2100453" y="385381"/>
                </a:moveTo>
                <a:cubicBezTo>
                  <a:pt x="1674722" y="1111683"/>
                  <a:pt x="784652" y="1421424"/>
                  <a:pt x="0" y="1116330"/>
                </a:cubicBezTo>
                <a:lnTo>
                  <a:pt x="276130" y="406146"/>
                </a:lnTo>
                <a:cubicBezTo>
                  <a:pt x="712060" y="575626"/>
                  <a:pt x="1206541" y="403520"/>
                  <a:pt x="1443037" y="0"/>
                </a:cubicBezTo>
                <a:close/>
              </a:path>
            </a:pathLst>
          </a:custGeom>
          <a:solidFill>
            <a:srgbClr val="3D8B7A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2096643" y="3940207"/>
            <a:ext cx="1368171" cy="1562957"/>
          </a:xfrm>
          <a:custGeom>
            <a:avLst/>
            <a:gdLst/>
            <a:ahLst/>
            <a:cxnLst/>
            <a:rect l="l" t="t" r="r" b="b"/>
            <a:pathLst>
              <a:path w="1368171" h="1562957">
                <a:moveTo>
                  <a:pt x="1092041" y="1562957"/>
                </a:moveTo>
                <a:cubicBezTo>
                  <a:pt x="454371" y="1315027"/>
                  <a:pt x="25145" y="711715"/>
                  <a:pt x="0" y="28004"/>
                </a:cubicBezTo>
                <a:lnTo>
                  <a:pt x="761524" y="0"/>
                </a:lnTo>
                <a:cubicBezTo>
                  <a:pt x="775478" y="379837"/>
                  <a:pt x="1013919" y="715018"/>
                  <a:pt x="1368171" y="852773"/>
                </a:cubicBezTo>
                <a:close/>
              </a:path>
            </a:pathLst>
          </a:custGeom>
          <a:solidFill>
            <a:srgbClr val="E07843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2075560" y="2512314"/>
            <a:ext cx="1179133" cy="1455896"/>
          </a:xfrm>
          <a:custGeom>
            <a:avLst/>
            <a:gdLst/>
            <a:ahLst/>
            <a:cxnLst/>
            <a:rect l="l" t="t" r="r" b="b"/>
            <a:pathLst>
              <a:path w="1179133" h="1455896">
                <a:moveTo>
                  <a:pt x="21083" y="1455896"/>
                </a:moveTo>
                <a:cubicBezTo>
                  <a:pt x="0" y="881642"/>
                  <a:pt x="268004" y="335012"/>
                  <a:pt x="734887" y="0"/>
                </a:cubicBezTo>
                <a:lnTo>
                  <a:pt x="1179133" y="619030"/>
                </a:lnTo>
                <a:cubicBezTo>
                  <a:pt x="919756" y="805161"/>
                  <a:pt x="770876" y="1108857"/>
                  <a:pt x="782607" y="1427893"/>
                </a:cubicBezTo>
                <a:close/>
              </a:path>
            </a:pathLst>
          </a:custGeom>
          <a:solidFill>
            <a:srgbClr val="64748B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2810446" y="2190750"/>
            <a:ext cx="999554" cy="940594"/>
          </a:xfrm>
          <a:custGeom>
            <a:avLst/>
            <a:gdLst/>
            <a:ahLst/>
            <a:cxnLst/>
            <a:rect l="l" t="t" r="r" b="b"/>
            <a:pathLst>
              <a:path w="999554" h="940594">
                <a:moveTo>
                  <a:pt x="0" y="321564"/>
                </a:moveTo>
                <a:cubicBezTo>
                  <a:pt x="291355" y="112478"/>
                  <a:pt x="640938" y="14"/>
                  <a:pt x="999553" y="0"/>
                </a:cubicBezTo>
                <a:lnTo>
                  <a:pt x="999554" y="762000"/>
                </a:lnTo>
                <a:cubicBezTo>
                  <a:pt x="800329" y="761992"/>
                  <a:pt x="606116" y="824453"/>
                  <a:pt x="444246" y="940594"/>
                </a:cubicBezTo>
                <a:close/>
              </a:path>
            </a:pathLst>
          </a:custGeom>
          <a:solidFill>
            <a:srgbClr val="B54545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2857500" y="2952750"/>
            <a:ext cx="1905000" cy="1905000"/>
          </a:xfrm>
          <a:prstGeom prst="ellipse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139321" y="3505200"/>
            <a:ext cx="13413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3,846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59931" y="40014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年营收（万元）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858000" y="1771650"/>
            <a:ext cx="171450" cy="171450"/>
          </a:xfrm>
          <a:prstGeom prst="rect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126605" y="17592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声音内容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28510" y="2004060"/>
            <a:ext cx="26944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33.4% · 1,286 万元 · 扇形 120.4°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858000" y="2438400"/>
            <a:ext cx="171450" cy="171450"/>
          </a:xfrm>
          <a:prstGeom prst="rect">
            <a:avLst/>
          </a:prstGeom>
          <a:solidFill>
            <a:srgbClr val="3D8B7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126605" y="24260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付费社区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28510" y="2670810"/>
            <a:ext cx="24928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22.5% · 864 万元 · 扇形 80.9°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858000" y="3105150"/>
            <a:ext cx="171450" cy="171450"/>
          </a:xfrm>
          <a:prstGeom prst="rect">
            <a:avLst/>
          </a:prstGeom>
          <a:solidFill>
            <a:srgbClr val="E07843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126605" y="30927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直播打赏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128510" y="3337560"/>
            <a:ext cx="24052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18.5% · 712 万元 · 扇形 66.6°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858000" y="3771900"/>
            <a:ext cx="171450" cy="171450"/>
          </a:xfrm>
          <a:prstGeom prst="rect">
            <a:avLst/>
          </a:prstGeom>
          <a:solidFill>
            <a:srgbClr val="64748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126605" y="37595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品牌合作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28510" y="4004310"/>
            <a:ext cx="24490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15.7% · 603 万元 · 扇形 56.4°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858000" y="4438650"/>
            <a:ext cx="171450" cy="171450"/>
          </a:xfrm>
          <a:prstGeom prst="rect">
            <a:avLst/>
          </a:prstGeom>
          <a:solidFill>
            <a:srgbClr val="B5454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126605" y="44262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衍生周边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28510" y="4671060"/>
            <a:ext cx="23526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9.9% · 381 万元 · 扇形 35.7°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44665" y="5315902"/>
            <a:ext cx="24956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占比合计 100.0% · 角度合计 360.0°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67665" y="6249352"/>
            <a:ext cx="49186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演示数据（虚构）· 图表骨架取自 ppt-generator templates/charts/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83934" y="62493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04 / 06</a:t>
            </a:r>
          </a:p>
        </p:txBody>
      </p:sp>
    </p:spTree>
  </p:cSld>
  <p:clrMapOvr>
    <a:masterClrMapping/>
  </p:clrMapOvr>
  <p:transition dur="5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10900" y="247650"/>
            <a:ext cx="838200" cy="838200"/>
          </a:xfrm>
          <a:prstGeom prst="ellipse">
            <a:avLst/>
          </a:prstGeom>
          <a:noFill/>
          <a:ln w="14288">
            <a:solidFill>
              <a:srgbClr val="94A3B8">
                <a:alpha val="1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1163300" y="400050"/>
            <a:ext cx="533400" cy="533400"/>
          </a:xfrm>
          <a:prstGeom prst="ellipse">
            <a:avLst/>
          </a:prstGeom>
          <a:noFill/>
          <a:ln w="14288">
            <a:solidFill>
              <a:srgbClr val="94A3B8">
                <a:alpha val="2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11315700" y="552450"/>
            <a:ext cx="228600" cy="228600"/>
          </a:xfrm>
          <a:prstGeom prst="ellipse">
            <a:avLst/>
          </a:prstGeom>
          <a:noFill/>
          <a:ln w="14288">
            <a:solidFill>
              <a:srgbClr val="94A3B8">
                <a:alpha val="35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350520" y="645795"/>
            <a:ext cx="289491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节目播放量 TOP8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7665" y="991552"/>
            <a:ext cx="10924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TOP PROGRAMS</a:t>
            </a:r>
          </a:p>
        </p:txBody>
      </p:sp>
      <p:sp>
        <p:nvSpPr>
          <p:cNvPr id="8" name="Rectangle 8"/>
          <p:cNvSpPr/>
          <p:nvPr/>
        </p:nvSpPr>
        <p:spPr>
          <a:xfrm>
            <a:off x="381000" y="1200150"/>
            <a:ext cx="609600" cy="38100"/>
          </a:xfrm>
          <a:prstGeom prst="rect">
            <a:avLst/>
          </a:prstGeom>
          <a:gradFill>
            <a:gsLst>
              <a:gs pos="0">
                <a:srgbClr val="1E3A5F"/>
              </a:gs>
              <a:gs pos="100000">
                <a:srgbClr val="3D8B7A"/>
              </a:gs>
            </a:gsLst>
            <a:lin ang="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547842" y="791528"/>
            <a:ext cx="12764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单位：万次 · 降序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01993" y="60779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0</a:t>
            </a:r>
          </a:p>
        </p:txBody>
      </p:sp>
      <p:sp>
        <p:nvSpPr>
          <p:cNvPr id="11" name="Line 11"/>
          <p:cNvSpPr/>
          <p:nvPr/>
        </p:nvSpPr>
        <p:spPr>
          <a:xfrm>
            <a:off x="4572000" y="1333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2" name="TextBox 12"/>
          <p:cNvSpPr txBox="1"/>
          <p:nvPr/>
        </p:nvSpPr>
        <p:spPr>
          <a:xfrm>
            <a:off x="4366974" y="60779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1,000</a:t>
            </a:r>
          </a:p>
        </p:txBody>
      </p:sp>
      <p:sp>
        <p:nvSpPr>
          <p:cNvPr id="13" name="Line 13"/>
          <p:cNvSpPr/>
          <p:nvPr/>
        </p:nvSpPr>
        <p:spPr>
          <a:xfrm>
            <a:off x="6286500" y="1333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4" name="TextBox 14"/>
          <p:cNvSpPr txBox="1"/>
          <p:nvPr/>
        </p:nvSpPr>
        <p:spPr>
          <a:xfrm>
            <a:off x="6062305" y="60779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2,000</a:t>
            </a:r>
          </a:p>
        </p:txBody>
      </p:sp>
      <p:sp>
        <p:nvSpPr>
          <p:cNvPr id="15" name="Line 15"/>
          <p:cNvSpPr/>
          <p:nvPr/>
        </p:nvSpPr>
        <p:spPr>
          <a:xfrm>
            <a:off x="8001000" y="1333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6" name="TextBox 16"/>
          <p:cNvSpPr txBox="1"/>
          <p:nvPr/>
        </p:nvSpPr>
        <p:spPr>
          <a:xfrm>
            <a:off x="7776805" y="60779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3,000</a:t>
            </a:r>
          </a:p>
        </p:txBody>
      </p:sp>
      <p:sp>
        <p:nvSpPr>
          <p:cNvPr id="17" name="Line 17"/>
          <p:cNvSpPr/>
          <p:nvPr/>
        </p:nvSpPr>
        <p:spPr>
          <a:xfrm>
            <a:off x="9715500" y="1333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8" name="TextBox 18"/>
          <p:cNvSpPr txBox="1"/>
          <p:nvPr/>
        </p:nvSpPr>
        <p:spPr>
          <a:xfrm>
            <a:off x="9491305" y="60779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4,000</a:t>
            </a:r>
          </a:p>
        </p:txBody>
      </p:sp>
      <p:sp>
        <p:nvSpPr>
          <p:cNvPr id="19" name="Line 19"/>
          <p:cNvSpPr/>
          <p:nvPr/>
        </p:nvSpPr>
        <p:spPr>
          <a:xfrm>
            <a:off x="11430000" y="1333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20" name="TextBox 20"/>
          <p:cNvSpPr txBox="1"/>
          <p:nvPr/>
        </p:nvSpPr>
        <p:spPr>
          <a:xfrm>
            <a:off x="11205805" y="60779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5,000</a:t>
            </a:r>
          </a:p>
        </p:txBody>
      </p:sp>
      <p:sp>
        <p:nvSpPr>
          <p:cNvPr id="21" name="Line 21"/>
          <p:cNvSpPr/>
          <p:nvPr/>
        </p:nvSpPr>
        <p:spPr>
          <a:xfrm>
            <a:off x="2857500" y="1333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19050">
            <a:solidFill>
              <a:srgbClr val="94A3B8"/>
            </a:solidFill>
          </a:ln>
        </p:spPr>
      </p:sp>
      <p:sp>
        <p:nvSpPr>
          <p:cNvPr id="22" name="Line 22"/>
          <p:cNvSpPr/>
          <p:nvPr/>
        </p:nvSpPr>
        <p:spPr>
          <a:xfrm>
            <a:off x="2857500" y="5905500"/>
            <a:ext cx="8572500" cy="9525"/>
          </a:xfrm>
          <a:custGeom>
            <a:avLst/>
            <a:gdLst/>
            <a:ahLst/>
            <a:cxnLst/>
            <a:rect l="l" t="t" r="r" b="b"/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9050">
            <a:solidFill>
              <a:srgbClr val="94A3B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045970" y="15754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374151"/>
                </a:solidFill>
                <a:latin typeface="Segoe UI"/>
                <a:ea typeface="Microsoft YaHei"/>
                <a:cs typeface="Segoe UI"/>
              </a:rPr>
              <a:t>深夜电台</a:t>
            </a:r>
          </a:p>
        </p:txBody>
      </p:sp>
      <p:sp>
        <p:nvSpPr>
          <p:cNvPr id="24" name="Rectangle 24"/>
          <p:cNvSpPr/>
          <p:nvPr/>
        </p:nvSpPr>
        <p:spPr>
          <a:xfrm>
            <a:off x="2857500" y="1476375"/>
            <a:ext cx="8263890" cy="342900"/>
          </a:xfrm>
          <a:prstGeom prst="rect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1201400" y="1575435"/>
            <a:ext cx="536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4,820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70710" y="214693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374151"/>
                </a:solidFill>
                <a:latin typeface="Segoe UI"/>
                <a:ea typeface="Microsoft YaHei"/>
                <a:cs typeface="Segoe UI"/>
              </a:rPr>
              <a:t>城市声音志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857500" y="2047875"/>
            <a:ext cx="6266498" cy="342900"/>
          </a:xfrm>
          <a:prstGeom prst="rect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204008" y="2146935"/>
            <a:ext cx="536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3,655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70710" y="271843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374151"/>
                </a:solidFill>
                <a:latin typeface="Segoe UI"/>
                <a:ea typeface="Microsoft YaHei"/>
                <a:cs typeface="Segoe UI"/>
              </a:rPr>
              <a:t>历史回音壁</a:t>
            </a:r>
          </a:p>
        </p:txBody>
      </p:sp>
      <p:sp>
        <p:nvSpPr>
          <p:cNvPr id="30" name="Rectangle 30"/>
          <p:cNvSpPr/>
          <p:nvPr/>
        </p:nvSpPr>
        <p:spPr>
          <a:xfrm>
            <a:off x="2857500" y="2619375"/>
            <a:ext cx="5318379" cy="342900"/>
          </a:xfrm>
          <a:prstGeom prst="rect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255889" y="2718435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3,102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870710" y="328993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374151"/>
                </a:solidFill>
                <a:latin typeface="Segoe UI"/>
                <a:ea typeface="Microsoft YaHei"/>
                <a:cs typeface="Segoe UI"/>
              </a:rPr>
              <a:t>亲子共读夜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857500" y="3190875"/>
            <a:ext cx="4608576" cy="342900"/>
          </a:xfrm>
          <a:prstGeom prst="rect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546086" y="3289935"/>
            <a:ext cx="536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2,688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70710" y="386143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374151"/>
                </a:solidFill>
                <a:latin typeface="Segoe UI"/>
                <a:ea typeface="Microsoft YaHei"/>
                <a:cs typeface="Segoe UI"/>
              </a:rPr>
              <a:t>独立音乐场</a:t>
            </a:r>
          </a:p>
        </p:txBody>
      </p:sp>
      <p:sp>
        <p:nvSpPr>
          <p:cNvPr id="36" name="Rectangle 36"/>
          <p:cNvSpPr/>
          <p:nvPr/>
        </p:nvSpPr>
        <p:spPr>
          <a:xfrm>
            <a:off x="2857500" y="3762375"/>
            <a:ext cx="4013644" cy="342900"/>
          </a:xfrm>
          <a:prstGeom prst="rect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951154" y="3861435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2,341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045970" y="44329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374151"/>
                </a:solidFill>
                <a:latin typeface="Segoe UI"/>
                <a:ea typeface="Microsoft YaHei"/>
                <a:cs typeface="Segoe UI"/>
              </a:rPr>
              <a:t>职场树洞</a:t>
            </a:r>
          </a:p>
        </p:txBody>
      </p:sp>
      <p:sp>
        <p:nvSpPr>
          <p:cNvPr id="39" name="Rectangle 39"/>
          <p:cNvSpPr/>
          <p:nvPr/>
        </p:nvSpPr>
        <p:spPr>
          <a:xfrm>
            <a:off x="2857500" y="4333875"/>
            <a:ext cx="3353562" cy="342900"/>
          </a:xfrm>
          <a:prstGeom prst="rect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291072" y="4432935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1,956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045970" y="50044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374151"/>
                </a:solidFill>
                <a:latin typeface="Segoe UI"/>
                <a:ea typeface="Microsoft YaHei"/>
                <a:cs typeface="Segoe UI"/>
              </a:rPr>
              <a:t>科幻频段</a:t>
            </a:r>
          </a:p>
        </p:txBody>
      </p:sp>
      <p:sp>
        <p:nvSpPr>
          <p:cNvPr id="42" name="Rectangle 42"/>
          <p:cNvSpPr/>
          <p:nvPr/>
        </p:nvSpPr>
        <p:spPr>
          <a:xfrm>
            <a:off x="2857500" y="4905375"/>
            <a:ext cx="2818638" cy="342900"/>
          </a:xfrm>
          <a:prstGeom prst="rect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756148" y="5004435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1,644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045970" y="55759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374151"/>
                </a:solidFill>
                <a:latin typeface="Segoe UI"/>
                <a:ea typeface="Microsoft YaHei"/>
                <a:cs typeface="Segoe UI"/>
              </a:rPr>
              <a:t>晨光英语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857500" y="5476875"/>
            <a:ext cx="2275142" cy="342900"/>
          </a:xfrm>
          <a:prstGeom prst="rect">
            <a:avLst/>
          </a:prstGeom>
          <a:solidFill>
            <a:srgbClr val="2E5C8E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212652" y="5575935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1,327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844165" y="6211252"/>
            <a:ext cx="12764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单位：万次 · 降序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67665" y="6249352"/>
            <a:ext cx="49186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演示数据（虚构）· 图表骨架取自 ppt-generator templates/charts/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283934" y="62493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05 / 06</a:t>
            </a:r>
          </a:p>
        </p:txBody>
      </p:sp>
    </p:spTree>
  </p:cSld>
  <p:clrMapOvr>
    <a:masterClrMapping/>
  </p:clrMapOvr>
  <p:transition dur="5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10900" y="247650"/>
            <a:ext cx="838200" cy="838200"/>
          </a:xfrm>
          <a:prstGeom prst="ellipse">
            <a:avLst/>
          </a:prstGeom>
          <a:noFill/>
          <a:ln w="14288">
            <a:solidFill>
              <a:srgbClr val="94A3B8">
                <a:alpha val="1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11163300" y="400050"/>
            <a:ext cx="533400" cy="533400"/>
          </a:xfrm>
          <a:prstGeom prst="ellipse">
            <a:avLst/>
          </a:prstGeom>
          <a:noFill/>
          <a:ln w="14288">
            <a:solidFill>
              <a:srgbClr val="94A3B8">
                <a:alpha val="2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11315700" y="552450"/>
            <a:ext cx="228600" cy="228600"/>
          </a:xfrm>
          <a:prstGeom prst="ellipse">
            <a:avLst/>
          </a:prstGeom>
          <a:noFill/>
          <a:ln w="14288">
            <a:solidFill>
              <a:srgbClr val="94A3B8">
                <a:alpha val="35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350520" y="645795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E293B"/>
                </a:solidFill>
                <a:latin typeface="Segoe UI"/>
                <a:ea typeface="Microsoft YaHei"/>
                <a:cs typeface="Segoe UI"/>
              </a:rPr>
              <a:t>用户转化漏斗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7665" y="991552"/>
            <a:ext cx="14451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CONVERSION FUNNEL</a:t>
            </a:r>
          </a:p>
        </p:txBody>
      </p:sp>
      <p:sp>
        <p:nvSpPr>
          <p:cNvPr id="8" name="Rectangle 8"/>
          <p:cNvSpPr/>
          <p:nvPr/>
        </p:nvSpPr>
        <p:spPr>
          <a:xfrm>
            <a:off x="381000" y="1200150"/>
            <a:ext cx="609600" cy="38100"/>
          </a:xfrm>
          <a:prstGeom prst="rect">
            <a:avLst/>
          </a:prstGeom>
          <a:gradFill>
            <a:gsLst>
              <a:gs pos="0">
                <a:srgbClr val="1E3A5F"/>
              </a:gs>
              <a:gs pos="100000">
                <a:srgbClr val="3D8B7A"/>
              </a:gs>
            </a:gsLst>
            <a:lin ang="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701195" y="791528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五级 · 单位：人</a:t>
            </a:r>
          </a:p>
        </p:txBody>
      </p:sp>
      <p:sp>
        <p:nvSpPr>
          <p:cNvPr id="10" name="Freeform 10"/>
          <p:cNvSpPr/>
          <p:nvPr/>
        </p:nvSpPr>
        <p:spPr>
          <a:xfrm>
            <a:off x="3238500" y="1524000"/>
            <a:ext cx="5715000" cy="762000"/>
          </a:xfrm>
          <a:custGeom>
            <a:avLst/>
            <a:gdLst/>
            <a:ahLst/>
            <a:cxnLst/>
            <a:rect l="l" t="t" r="r" b="b"/>
            <a:pathLst>
              <a:path w="5715000" h="762000">
                <a:moveTo>
                  <a:pt x="0" y="0"/>
                </a:moveTo>
                <a:lnTo>
                  <a:pt x="5715000" y="0"/>
                </a:lnTo>
                <a:lnTo>
                  <a:pt x="4662297" y="762000"/>
                </a:lnTo>
                <a:lnTo>
                  <a:pt x="1052703" y="762000"/>
                </a:lnTo>
                <a:close/>
              </a:path>
            </a:pathLst>
          </a:custGeom>
          <a:solidFill>
            <a:srgbClr val="2E5C8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995815" y="1685925"/>
            <a:ext cx="22003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到访 · 2,860,000 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48275" y="1946910"/>
            <a:ext cx="16954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占首级 100.0% · 入口</a:t>
            </a:r>
          </a:p>
        </p:txBody>
      </p:sp>
      <p:sp>
        <p:nvSpPr>
          <p:cNvPr id="13" name="Freeform 13"/>
          <p:cNvSpPr/>
          <p:nvPr/>
        </p:nvSpPr>
        <p:spPr>
          <a:xfrm>
            <a:off x="4291203" y="2524125"/>
            <a:ext cx="3609594" cy="762000"/>
          </a:xfrm>
          <a:custGeom>
            <a:avLst/>
            <a:gdLst/>
            <a:ahLst/>
            <a:cxnLst/>
            <a:rect l="l" t="t" r="r" b="b"/>
            <a:pathLst>
              <a:path w="3609594" h="762000">
                <a:moveTo>
                  <a:pt x="0" y="0"/>
                </a:moveTo>
                <a:lnTo>
                  <a:pt x="3609594" y="0"/>
                </a:lnTo>
                <a:lnTo>
                  <a:pt x="2696813" y="762000"/>
                </a:lnTo>
                <a:lnTo>
                  <a:pt x="912781" y="762000"/>
                </a:lnTo>
                <a:close/>
              </a:path>
            </a:pathLst>
          </a:custGeom>
          <a:solidFill>
            <a:srgbClr val="3D8B7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024568" y="2686050"/>
            <a:ext cx="214286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试听 · 1,543,000 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32032" y="2947035"/>
            <a:ext cx="25279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占首级 54.0% · 上级转化 54.0%</a:t>
            </a:r>
          </a:p>
        </p:txBody>
      </p:sp>
      <p:sp>
        <p:nvSpPr>
          <p:cNvPr id="16" name="Freeform 16"/>
          <p:cNvSpPr/>
          <p:nvPr/>
        </p:nvSpPr>
        <p:spPr>
          <a:xfrm>
            <a:off x="5203984" y="3524250"/>
            <a:ext cx="1784032" cy="762000"/>
          </a:xfrm>
          <a:custGeom>
            <a:avLst/>
            <a:gdLst/>
            <a:ahLst/>
            <a:cxnLst/>
            <a:rect l="l" t="t" r="r" b="b"/>
            <a:pathLst>
              <a:path w="1784032" h="762000">
                <a:moveTo>
                  <a:pt x="0" y="0"/>
                </a:moveTo>
                <a:lnTo>
                  <a:pt x="1784032" y="0"/>
                </a:lnTo>
                <a:lnTo>
                  <a:pt x="1613821" y="762000"/>
                </a:lnTo>
                <a:lnTo>
                  <a:pt x="170212" y="762000"/>
                </a:lnTo>
                <a:close/>
              </a:path>
            </a:pathLst>
          </a:custGeom>
          <a:solidFill>
            <a:srgbClr val="E0784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151084" y="3686175"/>
            <a:ext cx="18898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注册 · 401,000 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53940" y="39471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占首级 14.0% · 上级转化 26.0%</a:t>
            </a:r>
          </a:p>
        </p:txBody>
      </p:sp>
      <p:sp>
        <p:nvSpPr>
          <p:cNvPr id="19" name="Freeform 19"/>
          <p:cNvSpPr/>
          <p:nvPr/>
        </p:nvSpPr>
        <p:spPr>
          <a:xfrm>
            <a:off x="5374196" y="4524375"/>
            <a:ext cx="1443609" cy="762000"/>
          </a:xfrm>
          <a:custGeom>
            <a:avLst/>
            <a:gdLst/>
            <a:ahLst/>
            <a:cxnLst/>
            <a:rect l="l" t="t" r="r" b="b"/>
            <a:pathLst>
              <a:path w="1443609" h="762000">
                <a:moveTo>
                  <a:pt x="0" y="0"/>
                </a:moveTo>
                <a:lnTo>
                  <a:pt x="1443609" y="0"/>
                </a:lnTo>
                <a:lnTo>
                  <a:pt x="1334833" y="762000"/>
                </a:lnTo>
                <a:lnTo>
                  <a:pt x="108775" y="762000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151084" y="4686300"/>
            <a:ext cx="18898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月活 · 188,000 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80229" y="4947285"/>
            <a:ext cx="24315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占首级 6.6% · 上级转化 46.9%</a:t>
            </a:r>
          </a:p>
        </p:txBody>
      </p:sp>
      <p:sp>
        <p:nvSpPr>
          <p:cNvPr id="22" name="Freeform 22"/>
          <p:cNvSpPr/>
          <p:nvPr/>
        </p:nvSpPr>
        <p:spPr>
          <a:xfrm>
            <a:off x="5482971" y="5524500"/>
            <a:ext cx="1226058" cy="762000"/>
          </a:xfrm>
          <a:custGeom>
            <a:avLst/>
            <a:gdLst/>
            <a:ahLst/>
            <a:cxnLst/>
            <a:rect l="l" t="t" r="r" b="b"/>
            <a:pathLst>
              <a:path w="1226058" h="762000">
                <a:moveTo>
                  <a:pt x="0" y="0"/>
                </a:moveTo>
                <a:lnTo>
                  <a:pt x="1226058" y="0"/>
                </a:lnTo>
                <a:lnTo>
                  <a:pt x="1226058" y="762000"/>
                </a:lnTo>
                <a:lnTo>
                  <a:pt x="0" y="762000"/>
                </a:lnTo>
                <a:close/>
              </a:path>
            </a:pathLst>
          </a:custGeom>
          <a:solidFill>
            <a:srgbClr val="B54545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955560" y="5686425"/>
            <a:ext cx="228088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付费订阅 · 52,000 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902136" y="5947410"/>
            <a:ext cx="23877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占首级 1.8% · 上级转化 27.7%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8165" y="6192202"/>
            <a:ext cx="53940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宽度编码：120 + 480 × 占首级比例（含基线宽度，防末级不可读）· 首→末 1.8%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7665" y="6249352"/>
            <a:ext cx="49186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演示数据（虚构）· 图表骨架取自 ppt-generator templates/charts/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83934" y="62493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06 / 06</a:t>
            </a:r>
          </a:p>
        </p:txBody>
      </p:sp>
    </p:spTree>
  </p:cSld>
  <p:clrMapOvr>
    <a:masterClrMapping/>
  </p:clrMapOvr>
  <p:transition 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