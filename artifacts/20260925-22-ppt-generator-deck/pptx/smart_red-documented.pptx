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5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0" y="0"/>
            <a:ext cx="3619500" cy="3619500"/>
          </a:xfrm>
          <a:custGeom>
            <a:avLst/>
            <a:gdLst/>
            <a:ahLst/>
            <a:cxnLst/>
            <a:rect l="l" t="t" r="r" b="b"/>
            <a:pathLst>
              <a:path w="3619500" h="3619500">
                <a:moveTo>
                  <a:pt x="0" y="0"/>
                </a:moveTo>
                <a:lnTo>
                  <a:pt x="3619500" y="0"/>
                </a:lnTo>
                <a:lnTo>
                  <a:pt x="0" y="3619500"/>
                </a:lnTo>
                <a:close/>
              </a:path>
            </a:pathLst>
          </a:custGeom>
          <a:solidFill>
            <a:srgbClr val="DE3545"/>
          </a:solidFill>
          <a:ln>
            <a:noFill/>
          </a:ln>
        </p:spPr>
      </p:sp>
      <p:sp>
        <p:nvSpPr>
          <p:cNvPr id="4" name="Freeform 4"/>
          <p:cNvSpPr/>
          <p:nvPr/>
        </p:nvSpPr>
        <p:spPr>
          <a:xfrm>
            <a:off x="0" y="0"/>
            <a:ext cx="1714500" cy="1714500"/>
          </a:xfrm>
          <a:custGeom>
            <a:avLst/>
            <a:gdLst/>
            <a:ahLst/>
            <a:cxnLst/>
            <a:rect l="l" t="t" r="r" b="b"/>
            <a:pathLst>
              <a:path w="1714500" h="1714500">
                <a:moveTo>
                  <a:pt x="0" y="0"/>
                </a:moveTo>
                <a:lnTo>
                  <a:pt x="1714500" y="0"/>
                </a:lnTo>
                <a:lnTo>
                  <a:pt x="0" y="1714500"/>
                </a:lnTo>
                <a:close/>
              </a:path>
            </a:pathLst>
          </a:custGeom>
          <a:solidFill>
            <a:srgbClr val="E86A76"/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0" y="3810000"/>
            <a:ext cx="3048000" cy="3048000"/>
          </a:xfrm>
          <a:custGeom>
            <a:avLst/>
            <a:gdLst/>
            <a:ahLst/>
            <a:cxnLst/>
            <a:rect l="l" t="t" r="r" b="b"/>
            <a:pathLst>
              <a:path w="3048000" h="3048000">
                <a:moveTo>
                  <a:pt x="0" y="3048000"/>
                </a:moveTo>
                <a:lnTo>
                  <a:pt x="3048000" y="3048000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</p:sp>
      <p:sp>
        <p:nvSpPr>
          <p:cNvPr id="6" name="Freeform 6"/>
          <p:cNvSpPr/>
          <p:nvPr/>
        </p:nvSpPr>
        <p:spPr>
          <a:xfrm>
            <a:off x="0" y="5715000"/>
            <a:ext cx="1143000" cy="1143000"/>
          </a:xfrm>
          <a:custGeom>
            <a:avLst/>
            <a:gdLst/>
            <a:ahLst/>
            <a:cxnLst/>
            <a:rect l="l" t="t" r="r" b="b"/>
            <a:pathLst>
              <a:path w="1143000" h="1143000">
                <a:moveTo>
                  <a:pt x="0" y="1143000"/>
                </a:moveTo>
                <a:lnTo>
                  <a:pt x="114300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8191500" y="2857500"/>
            <a:ext cx="4000500" cy="4000500"/>
          </a:xfrm>
          <a:custGeom>
            <a:avLst/>
            <a:gdLst/>
            <a:ahLst/>
            <a:cxnLst/>
            <a:rect l="l" t="t" r="r" b="b"/>
            <a:pathLst>
              <a:path w="4000500" h="4000500">
                <a:moveTo>
                  <a:pt x="4000500" y="4000500"/>
                </a:moveTo>
                <a:lnTo>
                  <a:pt x="4000500" y="0"/>
                </a:lnTo>
                <a:lnTo>
                  <a:pt x="0" y="4000500"/>
                </a:lnTo>
                <a:close/>
              </a:path>
            </a:pathLst>
          </a:custGeom>
          <a:solidFill>
            <a:srgbClr val="DE3545"/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10287000" y="4953000"/>
            <a:ext cx="1905000" cy="1905000"/>
          </a:xfrm>
          <a:custGeom>
            <a:avLst/>
            <a:gdLst/>
            <a:ahLst/>
            <a:cxnLst/>
            <a:rect l="l" t="t" r="r" b="b"/>
            <a:pathLst>
              <a:path w="1905000" h="1905000">
                <a:moveTo>
                  <a:pt x="1905000" y="1905000"/>
                </a:moveTo>
                <a:lnTo>
                  <a:pt x="1905000" y="0"/>
                </a:lnTo>
                <a:lnTo>
                  <a:pt x="0" y="1905000"/>
                </a:lnTo>
                <a:close/>
              </a:path>
            </a:pathLst>
          </a:custGeom>
          <a:solidFill>
            <a:srgbClr val="E86A76"/>
          </a:solidFill>
          <a:ln>
            <a:noFill/>
          </a:ln>
        </p:spPr>
      </p:sp>
      <p:sp>
        <p:nvSpPr>
          <p:cNvPr id="9" name="Freeform 9"/>
          <p:cNvSpPr/>
          <p:nvPr/>
        </p:nvSpPr>
        <p:spPr>
          <a:xfrm>
            <a:off x="11430000" y="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762000" y="0"/>
                </a:moveTo>
                <a:lnTo>
                  <a:pt x="0" y="0"/>
                </a:lnTo>
                <a:lnTo>
                  <a:pt x="762000" y="762000"/>
                </a:lnTo>
                <a:close/>
              </a:path>
            </a:pathLst>
          </a:custGeom>
          <a:solidFill>
            <a:srgbClr val="E97983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4371975" y="2371725"/>
            <a:ext cx="6739128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500" b="1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前端 Skill 验证实验室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457700" y="3171825"/>
            <a:ext cx="409810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DE3545"/>
                </a:solidFill>
                <a:latin typeface="Arial"/>
                <a:ea typeface="Microsoft YaHei"/>
                <a:cs typeface="Arial"/>
              </a:rPr>
              <a:t>SKILL LAB · ROUND 9 · PPT GENERATOR</a:t>
            </a:r>
          </a:p>
        </p:txBody>
      </p:sp>
      <p:sp>
        <p:nvSpPr>
          <p:cNvPr id="12" name="Line 12"/>
          <p:cNvSpPr/>
          <p:nvPr/>
        </p:nvSpPr>
        <p:spPr>
          <a:xfrm>
            <a:off x="4476750" y="3600450"/>
            <a:ext cx="1428750" cy="9525"/>
          </a:xfrm>
          <a:custGeom>
            <a:avLst/>
            <a:gdLst/>
            <a:ahLst/>
            <a:cxnLst/>
            <a:rect l="l" t="t" r="r" b="b"/>
            <a:pathLst>
              <a:path w="1428750" h="9525">
                <a:moveTo>
                  <a:pt x="0" y="0"/>
                </a:moveTo>
                <a:lnTo>
                  <a:pt x="1428750" y="0"/>
                </a:lnTo>
              </a:path>
            </a:pathLst>
          </a:custGeom>
          <a:noFill/>
          <a:ln w="38100">
            <a:solidFill>
              <a:srgbClr val="333333"/>
            </a:solidFill>
          </a:ln>
        </p:spPr>
      </p:sp>
      <p:sp>
        <p:nvSpPr>
          <p:cNvPr id="13" name="Line 13"/>
          <p:cNvSpPr/>
          <p:nvPr/>
        </p:nvSpPr>
        <p:spPr>
          <a:xfrm>
            <a:off x="4476750" y="3695700"/>
            <a:ext cx="857250" cy="9525"/>
          </a:xfrm>
          <a:custGeom>
            <a:avLst/>
            <a:gdLst/>
            <a:ahLst/>
            <a:cxnLst/>
            <a:rect l="l" t="t" r="r" b="b"/>
            <a:pathLst>
              <a:path w="857250" h="9525">
                <a:moveTo>
                  <a:pt x="0" y="0"/>
                </a:moveTo>
                <a:lnTo>
                  <a:pt x="857250" y="0"/>
                </a:lnTo>
              </a:path>
            </a:pathLst>
          </a:custGeom>
          <a:noFill/>
          <a:ln w="9525">
            <a:solidFill>
              <a:srgbClr val="DE3545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4446270" y="3931920"/>
            <a:ext cx="642289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每小时一轮 · 页面构建技能横评阶段汇报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459605" y="4902518"/>
            <a:ext cx="318897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999999"/>
                </a:solidFill>
                <a:latin typeface="Segoe UI"/>
                <a:ea typeface="Microsoft YaHei"/>
                <a:cs typeface="Segoe UI"/>
              </a:rPr>
              <a:t>汇报人：Qoder Agent（无人值守）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459605" y="5207318"/>
            <a:ext cx="231157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999999"/>
                </a:solidFill>
                <a:latin typeface="Segoe UI"/>
                <a:ea typeface="Microsoft YaHei"/>
                <a:cs typeface="Segoe UI"/>
              </a:rPr>
              <a:t>时间：2026-09-25 22:00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459605" y="5512118"/>
            <a:ext cx="324812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999999"/>
                </a:solidFill>
                <a:latin typeface="Segoe UI"/>
                <a:ea typeface="Microsoft YaHei"/>
                <a:cs typeface="Segoe UI"/>
              </a:rPr>
              <a:t>规模：5 页 / 10 分钟 / 三种自带风格</a:t>
            </a:r>
          </a:p>
        </p:txBody>
      </p:sp>
    </p:spTree>
  </p:cSld>
  <p:clrMapOvr>
    <a:masterClrMapping/>
  </p:clrMapOvr>
  <p:transition dur="5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0" y="0"/>
            <a:ext cx="1714500" cy="1714500"/>
          </a:xfrm>
          <a:custGeom>
            <a:avLst/>
            <a:gdLst/>
            <a:ahLst/>
            <a:cxnLst/>
            <a:rect l="l" t="t" r="r" b="b"/>
            <a:pathLst>
              <a:path w="1714500" h="1714500">
                <a:moveTo>
                  <a:pt x="0" y="0"/>
                </a:moveTo>
                <a:lnTo>
                  <a:pt x="1714500" y="0"/>
                </a:lnTo>
                <a:lnTo>
                  <a:pt x="0" y="1714500"/>
                </a:lnTo>
                <a:close/>
              </a:path>
            </a:pathLst>
          </a:custGeom>
          <a:solidFill>
            <a:srgbClr val="DE3545"/>
          </a:solidFill>
          <a:ln>
            <a:noFill/>
          </a:ln>
        </p:spPr>
      </p:sp>
      <p:sp>
        <p:nvSpPr>
          <p:cNvPr id="4" name="Freeform 4"/>
          <p:cNvSpPr/>
          <p:nvPr/>
        </p:nvSpPr>
        <p:spPr>
          <a:xfrm>
            <a:off x="0" y="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0" y="0"/>
                </a:moveTo>
                <a:lnTo>
                  <a:pt x="762000" y="0"/>
                </a:lnTo>
                <a:lnTo>
                  <a:pt x="0" y="762000"/>
                </a:lnTo>
                <a:close/>
              </a:path>
            </a:pathLst>
          </a:custGeom>
          <a:solidFill>
            <a:srgbClr val="F5A0A8"/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10477500" y="5143500"/>
            <a:ext cx="1714500" cy="1714500"/>
          </a:xfrm>
          <a:custGeom>
            <a:avLst/>
            <a:gdLst/>
            <a:ahLst/>
            <a:cxnLst/>
            <a:rect l="l" t="t" r="r" b="b"/>
            <a:pathLst>
              <a:path w="1714500" h="1714500">
                <a:moveTo>
                  <a:pt x="1714500" y="1714500"/>
                </a:moveTo>
                <a:lnTo>
                  <a:pt x="0" y="1714500"/>
                </a:lnTo>
                <a:lnTo>
                  <a:pt x="1714500" y="0"/>
                </a:lnTo>
                <a:close/>
              </a:path>
            </a:pathLst>
          </a:custGeom>
          <a:solidFill>
            <a:srgbClr val="DE3545"/>
          </a:solidFill>
          <a:ln>
            <a:noFill/>
          </a:ln>
        </p:spPr>
      </p:sp>
      <p:sp>
        <p:nvSpPr>
          <p:cNvPr id="6" name="Freeform 6"/>
          <p:cNvSpPr/>
          <p:nvPr/>
        </p:nvSpPr>
        <p:spPr>
          <a:xfrm>
            <a:off x="11239500" y="5905500"/>
            <a:ext cx="952500" cy="952500"/>
          </a:xfrm>
          <a:custGeom>
            <a:avLst/>
            <a:gdLst/>
            <a:ahLst/>
            <a:cxnLst/>
            <a:rect l="l" t="t" r="r" b="b"/>
            <a:pathLst>
              <a:path w="952500" h="952500">
                <a:moveTo>
                  <a:pt x="952500" y="952500"/>
                </a:moveTo>
                <a:lnTo>
                  <a:pt x="0" y="952500"/>
                </a:lnTo>
                <a:lnTo>
                  <a:pt x="952500" y="0"/>
                </a:lnTo>
                <a:close/>
              </a:path>
            </a:pathLst>
          </a:custGeom>
          <a:solidFill>
            <a:srgbClr val="F5A0A8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077039" y="1914525"/>
            <a:ext cx="2037921" cy="2133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077039" y="1914525"/>
            <a:ext cx="2037921" cy="2133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0" b="1" dirty="0">
                <a:solidFill>
                  <a:srgbClr val="FADCDE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722626" y="3196590"/>
            <a:ext cx="6746748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800" b="1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已试组合与留用判定</a:t>
            </a:r>
          </a:p>
        </p:txBody>
      </p:sp>
      <p:sp>
        <p:nvSpPr>
          <p:cNvPr id="10" name="Line 10"/>
          <p:cNvSpPr/>
          <p:nvPr/>
        </p:nvSpPr>
        <p:spPr>
          <a:xfrm>
            <a:off x="5143500" y="4095750"/>
            <a:ext cx="1905000" cy="9525"/>
          </a:xfrm>
          <a:custGeom>
            <a:avLst/>
            <a:gdLst/>
            <a:ahLst/>
            <a:cxnLst/>
            <a:rect l="l" t="t" r="r" b="b"/>
            <a:pathLst>
              <a:path w="1905000" h="9525">
                <a:moveTo>
                  <a:pt x="0" y="0"/>
                </a:moveTo>
                <a:lnTo>
                  <a:pt x="1905000" y="0"/>
                </a:lnTo>
              </a:path>
            </a:pathLst>
          </a:custGeom>
          <a:noFill/>
          <a:ln w="38100">
            <a:solidFill>
              <a:srgbClr val="DE3545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5021580" y="4377690"/>
            <a:ext cx="214884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SKILL LAB REVIEW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324350" y="5029200"/>
            <a:ext cx="35433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4 个技能 · 8 个场景 · 逐轮留用判定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802380" y="5394960"/>
            <a:ext cx="45872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999999"/>
                </a:solidFill>
                <a:latin typeface="Segoe UI"/>
                <a:ea typeface="Microsoft YaHei"/>
                <a:cs typeface="Segoe UI"/>
              </a:rPr>
              <a:t>判定口径：留用 / 留用（限定场景）/ 不适用条款逐条记因</a:t>
            </a:r>
          </a:p>
        </p:txBody>
      </p:sp>
    </p:spTree>
  </p:cSld>
  <p:clrMapOvr>
    <a:masterClrMapping/>
  </p:clrMapOvr>
  <p:transition dur="5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0" y="0"/>
            <a:ext cx="3810000" cy="6858000"/>
          </a:xfrm>
          <a:custGeom>
            <a:avLst/>
            <a:gdLst/>
            <a:ahLst/>
            <a:cxnLst/>
            <a:rect l="l" t="t" r="r" b="b"/>
            <a:pathLst>
              <a:path w="3810000" h="6858000">
                <a:moveTo>
                  <a:pt x="0" y="0"/>
                </a:moveTo>
                <a:lnTo>
                  <a:pt x="3810000" y="0"/>
                </a:lnTo>
                <a:lnTo>
                  <a:pt x="28575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DE3545"/>
          </a:solidFill>
          <a:ln>
            <a:noFill/>
          </a:ln>
        </p:spPr>
      </p:sp>
      <p:sp>
        <p:nvSpPr>
          <p:cNvPr id="4" name="Freeform 4"/>
          <p:cNvSpPr/>
          <p:nvPr/>
        </p:nvSpPr>
        <p:spPr>
          <a:xfrm>
            <a:off x="0" y="5238750"/>
            <a:ext cx="1714500" cy="1619250"/>
          </a:xfrm>
          <a:custGeom>
            <a:avLst/>
            <a:gdLst/>
            <a:ahLst/>
            <a:cxnLst/>
            <a:rect l="l" t="t" r="r" b="b"/>
            <a:pathLst>
              <a:path w="1714500" h="1619250">
                <a:moveTo>
                  <a:pt x="0" y="1619250"/>
                </a:moveTo>
                <a:lnTo>
                  <a:pt x="1714500" y="1619250"/>
                </a:ln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0" y="60960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0" y="762000"/>
                </a:moveTo>
                <a:lnTo>
                  <a:pt x="76200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</p:spPr>
      </p:sp>
      <p:sp>
        <p:nvSpPr>
          <p:cNvPr id="6" name="Freeform 6"/>
          <p:cNvSpPr/>
          <p:nvPr/>
        </p:nvSpPr>
        <p:spPr>
          <a:xfrm>
            <a:off x="10858500" y="5524500"/>
            <a:ext cx="1333500" cy="1333500"/>
          </a:xfrm>
          <a:custGeom>
            <a:avLst/>
            <a:gdLst/>
            <a:ahLst/>
            <a:cxnLst/>
            <a:rect l="l" t="t" r="r" b="b"/>
            <a:pathLst>
              <a:path w="1333500" h="1333500">
                <a:moveTo>
                  <a:pt x="1333500" y="1333500"/>
                </a:moveTo>
                <a:lnTo>
                  <a:pt x="1333500" y="0"/>
                </a:lnTo>
                <a:lnTo>
                  <a:pt x="0" y="1333500"/>
                </a:lnTo>
                <a:close/>
              </a:path>
            </a:pathLst>
          </a:custGeom>
          <a:solidFill>
            <a:srgbClr val="DE3545"/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11525250" y="6191250"/>
            <a:ext cx="666750" cy="666750"/>
          </a:xfrm>
          <a:custGeom>
            <a:avLst/>
            <a:gdLst/>
            <a:ahLst/>
            <a:cxnLst/>
            <a:rect l="l" t="t" r="r" b="b"/>
            <a:pathLst>
              <a:path w="666750" h="666750">
                <a:moveTo>
                  <a:pt x="666750" y="666750"/>
                </a:moveTo>
                <a:lnTo>
                  <a:pt x="666750" y="0"/>
                </a:lnTo>
                <a:lnTo>
                  <a:pt x="0" y="666750"/>
                </a:lnTo>
                <a:close/>
              </a:path>
            </a:pathLst>
          </a:custGeom>
          <a:solidFill>
            <a:srgbClr val="E97983"/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11620500" y="0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571500" y="0"/>
                </a:moveTo>
                <a:lnTo>
                  <a:pt x="0" y="0"/>
                </a:lnTo>
                <a:lnTo>
                  <a:pt x="571500" y="571500"/>
                </a:lnTo>
                <a:close/>
              </a:path>
            </a:pathLst>
          </a:custGeom>
          <a:solidFill>
            <a:srgbClr val="E97983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502920" y="1322070"/>
            <a:ext cx="1793367" cy="1097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4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目录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48640" y="2091690"/>
            <a:ext cx="270090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FFC1C1"/>
                </a:solidFill>
                <a:latin typeface="Arial"/>
                <a:ea typeface="Microsoft YaHei"/>
                <a:cs typeface="Arial"/>
              </a:rPr>
              <a:t>CATALOGUE · ROUND 9</a:t>
            </a:r>
          </a:p>
        </p:txBody>
      </p:sp>
      <p:sp>
        <p:nvSpPr>
          <p:cNvPr id="11" name="Line 11"/>
          <p:cNvSpPr/>
          <p:nvPr/>
        </p:nvSpPr>
        <p:spPr>
          <a:xfrm>
            <a:off x="571500" y="2571750"/>
            <a:ext cx="952500" cy="9525"/>
          </a:xfrm>
          <a:custGeom>
            <a:avLst/>
            <a:gdLst/>
            <a:ahLst/>
            <a:cxnLst/>
            <a:rect l="l" t="t" r="r" b="b"/>
            <a:pathLst>
              <a:path w="952500" h="9525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/>
          <a:ln w="38100">
            <a:solidFill>
              <a:srgbClr val="FFFFFF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554355" y="2997518"/>
            <a:ext cx="291293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C1C1"/>
                </a:solidFill>
                <a:latin typeface="Segoe UI"/>
                <a:ea typeface="Microsoft YaHei"/>
                <a:cs typeface="Segoe UI"/>
              </a:rPr>
              <a:t>8 轮记录 · 4 个技能 · 1 个新场景</a:t>
            </a:r>
          </a:p>
        </p:txBody>
      </p:sp>
      <p:sp>
        <p:nvSpPr>
          <p:cNvPr id="13" name="Ellipse 13"/>
          <p:cNvSpPr/>
          <p:nvPr/>
        </p:nvSpPr>
        <p:spPr>
          <a:xfrm>
            <a:off x="4648200" y="1504950"/>
            <a:ext cx="609600" cy="6096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DE3545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4789463" y="1678305"/>
            <a:ext cx="32707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DE3545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446395" y="1598295"/>
            <a:ext cx="2637282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方法与去重契约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461635" y="2042160"/>
            <a:ext cx="24841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独立会话，工作记录即唯一记忆</a:t>
            </a:r>
          </a:p>
        </p:txBody>
      </p:sp>
      <p:sp>
        <p:nvSpPr>
          <p:cNvPr id="17" name="Ellipse 17"/>
          <p:cNvSpPr/>
          <p:nvPr/>
        </p:nvSpPr>
        <p:spPr>
          <a:xfrm>
            <a:off x="4648200" y="2552700"/>
            <a:ext cx="609600" cy="609600"/>
          </a:xfrm>
          <a:prstGeom prst="ellipse">
            <a:avLst/>
          </a:prstGeom>
          <a:solidFill>
            <a:srgbClr val="DE3545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4749208" y="2726055"/>
            <a:ext cx="40758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446395" y="2646045"/>
            <a:ext cx="3373374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已试组合与留用判定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461635" y="3089910"/>
            <a:ext cx="305371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4 个技能全部留用，24 种风格无一重复</a:t>
            </a:r>
          </a:p>
        </p:txBody>
      </p:sp>
      <p:sp>
        <p:nvSpPr>
          <p:cNvPr id="21" name="Ellipse 21"/>
          <p:cNvSpPr/>
          <p:nvPr/>
        </p:nvSpPr>
        <p:spPr>
          <a:xfrm>
            <a:off x="4648200" y="3600450"/>
            <a:ext cx="609600" cy="6096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DE3545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4749208" y="3773805"/>
            <a:ext cx="40758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DE3545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446395" y="3693795"/>
            <a:ext cx="374142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质量闸门：断言与复核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461635" y="4137660"/>
            <a:ext cx="287845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累计 1,203 条断言 · 三风格互异实测</a:t>
            </a:r>
          </a:p>
        </p:txBody>
      </p:sp>
      <p:sp>
        <p:nvSpPr>
          <p:cNvPr id="25" name="Ellipse 25"/>
          <p:cNvSpPr/>
          <p:nvPr/>
        </p:nvSpPr>
        <p:spPr>
          <a:xfrm>
            <a:off x="4648200" y="4648200"/>
            <a:ext cx="609600" cy="609600"/>
          </a:xfrm>
          <a:prstGeom prst="ellipse">
            <a:avLst/>
          </a:prstGeom>
          <a:solidFill>
            <a:srgbClr val="DE3545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4749208" y="4821555"/>
            <a:ext cx="40758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446395" y="4741545"/>
            <a:ext cx="300532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环境约束与下一步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461635" y="5185410"/>
            <a:ext cx="240525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网络限制矩阵 · 45 条环境笔记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521934" y="6363652"/>
            <a:ext cx="5404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99999"/>
                </a:solidFill>
                <a:latin typeface="Segoe UI"/>
                <a:ea typeface="Microsoft YaHei"/>
                <a:cs typeface="Segoe UI"/>
              </a:rPr>
              <a:t>02 / 05</a:t>
            </a:r>
          </a:p>
        </p:txBody>
      </p:sp>
    </p:spTree>
  </p:cSld>
  <p:clrMapOvr>
    <a:masterClrMapping/>
  </p:clrMapOvr>
  <p:transition dur="5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" name="Line 4"/>
          <p:cNvSpPr/>
          <p:nvPr/>
        </p:nvSpPr>
        <p:spPr>
          <a:xfrm>
            <a:off x="0" y="76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E0E0E0"/>
            </a:solidFill>
          </a:ln>
        </p:spPr>
      </p:sp>
      <p:sp>
        <p:nvSpPr>
          <p:cNvPr id="5" name="Freeform 5"/>
          <p:cNvSpPr/>
          <p:nvPr/>
        </p:nvSpPr>
        <p:spPr>
          <a:xfrm>
            <a:off x="11239500" y="0"/>
            <a:ext cx="952500" cy="952500"/>
          </a:xfrm>
          <a:custGeom>
            <a:avLst/>
            <a:gdLst/>
            <a:ahLst/>
            <a:cxnLst/>
            <a:rect l="l" t="t" r="r" b="b"/>
            <a:pathLst>
              <a:path w="952500" h="952500">
                <a:moveTo>
                  <a:pt x="952500" y="0"/>
                </a:moveTo>
                <a:lnTo>
                  <a:pt x="0" y="0"/>
                </a:lnTo>
                <a:lnTo>
                  <a:pt x="952500" y="952500"/>
                </a:lnTo>
                <a:close/>
              </a:path>
            </a:pathLst>
          </a:custGeom>
          <a:solidFill>
            <a:srgbClr val="DE3545"/>
          </a:solidFill>
          <a:ln>
            <a:noFill/>
          </a:ln>
        </p:spPr>
      </p:sp>
      <p:sp>
        <p:nvSpPr>
          <p:cNvPr id="6" name="Freeform 6"/>
          <p:cNvSpPr/>
          <p:nvPr/>
        </p:nvSpPr>
        <p:spPr>
          <a:xfrm>
            <a:off x="10668000" y="0"/>
            <a:ext cx="1524000" cy="762000"/>
          </a:xfrm>
          <a:custGeom>
            <a:avLst/>
            <a:gdLst/>
            <a:ahLst/>
            <a:cxnLst/>
            <a:rect l="l" t="t" r="r" b="b"/>
            <a:pathLst>
              <a:path w="1524000" h="762000">
                <a:moveTo>
                  <a:pt x="571500" y="0"/>
                </a:moveTo>
                <a:lnTo>
                  <a:pt x="0" y="0"/>
                </a:lnTo>
                <a:lnTo>
                  <a:pt x="762000" y="762000"/>
                </a:lnTo>
                <a:lnTo>
                  <a:pt x="1524000" y="762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11811000" y="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81000" y="0"/>
                </a:moveTo>
                <a:lnTo>
                  <a:pt x="0" y="0"/>
                </a:lnTo>
                <a:lnTo>
                  <a:pt x="381000" y="381000"/>
                </a:lnTo>
                <a:close/>
              </a:path>
            </a:pathLst>
          </a:custGeom>
          <a:solidFill>
            <a:srgbClr val="E97983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0"/>
            <a:ext cx="38100" cy="762000"/>
          </a:xfrm>
          <a:prstGeom prst="rect">
            <a:avLst/>
          </a:prstGeom>
          <a:solidFill>
            <a:srgbClr val="DE3545"/>
          </a:solidFill>
          <a:ln>
            <a:noFill/>
          </a:ln>
        </p:spPr>
      </p:sp>
      <p:sp>
        <p:nvSpPr>
          <p:cNvPr id="9" name="Freeform 9"/>
          <p:cNvSpPr/>
          <p:nvPr/>
        </p:nvSpPr>
        <p:spPr>
          <a:xfrm>
            <a:off x="571500" y="285750"/>
            <a:ext cx="133350" cy="190500"/>
          </a:xfrm>
          <a:custGeom>
            <a:avLst/>
            <a:gdLst/>
            <a:ahLst/>
            <a:cxnLst/>
            <a:rect l="l" t="t" r="r" b="b"/>
            <a:pathLst>
              <a:path w="133350" h="190500">
                <a:moveTo>
                  <a:pt x="0" y="0"/>
                </a:moveTo>
                <a:lnTo>
                  <a:pt x="133350" y="95250"/>
                </a:lnTo>
                <a:lnTo>
                  <a:pt x="0" y="190500"/>
                </a:lnTo>
                <a:close/>
              </a:path>
            </a:pathLst>
          </a:custGeom>
          <a:noFill/>
          <a:ln w="19050">
            <a:solidFill>
              <a:srgbClr val="333333"/>
            </a:solidFill>
          </a:ln>
        </p:spPr>
      </p:sp>
      <p:sp>
        <p:nvSpPr>
          <p:cNvPr id="10" name="Freeform 10"/>
          <p:cNvSpPr/>
          <p:nvPr/>
        </p:nvSpPr>
        <p:spPr>
          <a:xfrm>
            <a:off x="742950" y="285750"/>
            <a:ext cx="133350" cy="190500"/>
          </a:xfrm>
          <a:custGeom>
            <a:avLst/>
            <a:gdLst/>
            <a:ahLst/>
            <a:cxnLst/>
            <a:rect l="l" t="t" r="r" b="b"/>
            <a:pathLst>
              <a:path w="133350" h="190500">
                <a:moveTo>
                  <a:pt x="0" y="0"/>
                </a:moveTo>
                <a:lnTo>
                  <a:pt x="133350" y="95250"/>
                </a:lnTo>
                <a:lnTo>
                  <a:pt x="0" y="190500"/>
                </a:lnTo>
                <a:close/>
              </a:path>
            </a:pathLst>
          </a:custGeom>
          <a:solidFill>
            <a:srgbClr val="DE3545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017270" y="236220"/>
            <a:ext cx="3999052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2.1 组合覆盖与质量闸门</a:t>
            </a:r>
          </a:p>
        </p:txBody>
      </p:sp>
      <p:sp>
        <p:nvSpPr>
          <p:cNvPr id="12" name="Rectangle 12"/>
          <p:cNvSpPr/>
          <p:nvPr/>
        </p:nvSpPr>
        <p:spPr>
          <a:xfrm>
            <a:off x="571500" y="1047750"/>
            <a:ext cx="11049000" cy="51435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571500" y="1047750"/>
            <a:ext cx="11049000" cy="38100"/>
          </a:xfrm>
          <a:prstGeom prst="rect">
            <a:avLst/>
          </a:prstGeom>
          <a:solidFill>
            <a:srgbClr val="E97983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840105" y="1283018"/>
            <a:ext cx="582066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八轮全部判为留用：单轮断言由 36 条增至 398 条，风格零重复</a:t>
            </a:r>
          </a:p>
        </p:txBody>
      </p:sp>
      <p:sp>
        <p:nvSpPr>
          <p:cNvPr id="15" name="Rectangle 15"/>
          <p:cNvSpPr/>
          <p:nvPr/>
        </p:nvSpPr>
        <p:spPr>
          <a:xfrm>
            <a:off x="857250" y="1571625"/>
            <a:ext cx="2381250" cy="723900"/>
          </a:xfrm>
          <a:prstGeom prst="rect">
            <a:avLst/>
          </a:prstGeom>
          <a:solidFill>
            <a:srgbClr val="F5F5F7"/>
          </a:solidFill>
          <a:ln w="9525">
            <a:solidFill>
              <a:srgbClr val="E0E0E0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975360" y="1680210"/>
            <a:ext cx="29630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DE3545"/>
                </a:solidFill>
                <a:latin typeface="Arial"/>
                <a:ea typeface="Microsoft YaHei"/>
                <a:cs typeface="Arial"/>
              </a:rPr>
              <a:t>8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18260" y="1842135"/>
            <a:ext cx="9067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轮已试组合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96315" y="2086928"/>
            <a:ext cx="158319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99999"/>
                </a:solidFill>
                <a:latin typeface="Segoe UI"/>
                <a:ea typeface="Microsoft YaHei"/>
                <a:cs typeface="Segoe UI"/>
              </a:rPr>
              <a:t>skill × 场景组合无重复</a:t>
            </a:r>
          </a:p>
        </p:txBody>
      </p:sp>
      <p:sp>
        <p:nvSpPr>
          <p:cNvPr id="19" name="Rectangle 19"/>
          <p:cNvSpPr/>
          <p:nvPr/>
        </p:nvSpPr>
        <p:spPr>
          <a:xfrm>
            <a:off x="3552825" y="1571625"/>
            <a:ext cx="2381250" cy="723900"/>
          </a:xfrm>
          <a:prstGeom prst="rect">
            <a:avLst/>
          </a:prstGeom>
          <a:solidFill>
            <a:srgbClr val="F5F5F7"/>
          </a:solidFill>
          <a:ln w="9525">
            <a:solidFill>
              <a:srgbClr val="E0E0E0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3670935" y="1680210"/>
            <a:ext cx="29630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DE3545"/>
                </a:solidFill>
                <a:latin typeface="Arial"/>
                <a:ea typeface="Microsoft YaHei"/>
                <a:cs typeface="Arial"/>
              </a:rPr>
              <a:t>4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013835" y="1842135"/>
            <a:ext cx="14325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个技能已完成横评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691890" y="2086928"/>
            <a:ext cx="13455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99999"/>
                </a:solidFill>
                <a:latin typeface="Segoe UI"/>
                <a:ea typeface="Microsoft YaHei"/>
                <a:cs typeface="Segoe UI"/>
              </a:rPr>
              <a:t>内置 1 + 本机自装 3</a:t>
            </a:r>
          </a:p>
        </p:txBody>
      </p:sp>
      <p:sp>
        <p:nvSpPr>
          <p:cNvPr id="23" name="Rectangle 23"/>
          <p:cNvSpPr/>
          <p:nvPr/>
        </p:nvSpPr>
        <p:spPr>
          <a:xfrm>
            <a:off x="6248400" y="1571625"/>
            <a:ext cx="2381250" cy="723900"/>
          </a:xfrm>
          <a:prstGeom prst="rect">
            <a:avLst/>
          </a:prstGeom>
          <a:solidFill>
            <a:srgbClr val="F5F5F7"/>
          </a:solidFill>
          <a:ln w="9525">
            <a:solidFill>
              <a:srgbClr val="E0E0E0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6366510" y="1680210"/>
            <a:ext cx="110370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DE3545"/>
                </a:solidFill>
                <a:latin typeface="Arial"/>
                <a:ea typeface="Microsoft YaHei"/>
                <a:cs typeface="Arial"/>
              </a:rPr>
              <a:t>1,203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387465" y="2086928"/>
            <a:ext cx="204325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99999"/>
                </a:solidFill>
                <a:latin typeface="Segoe UI"/>
                <a:ea typeface="Microsoft YaHei"/>
                <a:cs typeface="Segoe UI"/>
              </a:rPr>
              <a:t>条断言（有记录的 6 轮累计）</a:t>
            </a:r>
          </a:p>
        </p:txBody>
      </p:sp>
      <p:sp>
        <p:nvSpPr>
          <p:cNvPr id="26" name="Rectangle 26"/>
          <p:cNvSpPr/>
          <p:nvPr/>
        </p:nvSpPr>
        <p:spPr>
          <a:xfrm>
            <a:off x="8943975" y="1571625"/>
            <a:ext cx="2381250" cy="723900"/>
          </a:xfrm>
          <a:prstGeom prst="rect">
            <a:avLst/>
          </a:prstGeom>
          <a:solidFill>
            <a:srgbClr val="F5F5F7"/>
          </a:solidFill>
          <a:ln w="9525">
            <a:solidFill>
              <a:srgbClr val="E0E0E0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9062085" y="1680210"/>
            <a:ext cx="108300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DE3545"/>
                </a:solidFill>
                <a:latin typeface="Arial"/>
                <a:ea typeface="Microsoft YaHei"/>
                <a:cs typeface="Arial"/>
              </a:rPr>
              <a:t>1.1MB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083040" y="2086928"/>
            <a:ext cx="19972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99999"/>
                </a:solidFill>
                <a:latin typeface="Segoe UI"/>
                <a:ea typeface="Microsoft YaHei"/>
                <a:cs typeface="Segoe UI"/>
              </a:rPr>
              <a:t>单场景产物峰值 / 限额 50MB</a:t>
            </a:r>
          </a:p>
        </p:txBody>
      </p:sp>
      <p:sp>
        <p:nvSpPr>
          <p:cNvPr id="29" name="Rectangle 29"/>
          <p:cNvSpPr/>
          <p:nvPr/>
        </p:nvSpPr>
        <p:spPr>
          <a:xfrm>
            <a:off x="857250" y="2457450"/>
            <a:ext cx="5334000" cy="306705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1066800" y="2581275"/>
            <a:ext cx="141827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每轮断言条数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72515" y="2820352"/>
            <a:ext cx="21659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16:00 起有量化记录 · 单位：条</a:t>
            </a:r>
          </a:p>
        </p:txBody>
      </p:sp>
      <p:sp>
        <p:nvSpPr>
          <p:cNvPr id="32" name="Line 32"/>
          <p:cNvSpPr/>
          <p:nvPr/>
        </p:nvSpPr>
        <p:spPr>
          <a:xfrm>
            <a:off x="1085850" y="5029200"/>
            <a:ext cx="4819650" cy="9525"/>
          </a:xfrm>
          <a:custGeom>
            <a:avLst/>
            <a:gdLst/>
            <a:ahLst/>
            <a:cxnLst/>
            <a:rect l="l" t="t" r="r" b="b"/>
            <a:pathLst>
              <a:path w="4819650" h="9525">
                <a:moveTo>
                  <a:pt x="0" y="0"/>
                </a:moveTo>
                <a:lnTo>
                  <a:pt x="4819650" y="0"/>
                </a:lnTo>
              </a:path>
            </a:pathLst>
          </a:custGeom>
          <a:noFill/>
          <a:ln w="9525">
            <a:solidFill>
              <a:srgbClr val="E0E0E0"/>
            </a:solidFill>
          </a:ln>
        </p:spPr>
      </p:sp>
      <p:sp>
        <p:nvSpPr>
          <p:cNvPr id="33" name="Line 33"/>
          <p:cNvSpPr/>
          <p:nvPr/>
        </p:nvSpPr>
        <p:spPr>
          <a:xfrm>
            <a:off x="1085850" y="4600575"/>
            <a:ext cx="4819650" cy="9525"/>
          </a:xfrm>
          <a:custGeom>
            <a:avLst/>
            <a:gdLst/>
            <a:ahLst/>
            <a:cxnLst/>
            <a:rect l="l" t="t" r="r" b="b"/>
            <a:pathLst>
              <a:path w="4819650" h="9525">
                <a:moveTo>
                  <a:pt x="0" y="0"/>
                </a:moveTo>
                <a:lnTo>
                  <a:pt x="4819650" y="0"/>
                </a:lnTo>
              </a:path>
            </a:pathLst>
          </a:custGeom>
          <a:noFill/>
          <a:ln w="9525">
            <a:solidFill>
              <a:srgbClr val="E0E0E0"/>
            </a:solidFill>
          </a:ln>
        </p:spPr>
      </p:sp>
      <p:sp>
        <p:nvSpPr>
          <p:cNvPr id="34" name="Line 34"/>
          <p:cNvSpPr/>
          <p:nvPr/>
        </p:nvSpPr>
        <p:spPr>
          <a:xfrm>
            <a:off x="1085850" y="4171950"/>
            <a:ext cx="4819650" cy="9525"/>
          </a:xfrm>
          <a:custGeom>
            <a:avLst/>
            <a:gdLst/>
            <a:ahLst/>
            <a:cxnLst/>
            <a:rect l="l" t="t" r="r" b="b"/>
            <a:pathLst>
              <a:path w="4819650" h="9525">
                <a:moveTo>
                  <a:pt x="0" y="0"/>
                </a:moveTo>
                <a:lnTo>
                  <a:pt x="4819650" y="0"/>
                </a:lnTo>
              </a:path>
            </a:pathLst>
          </a:custGeom>
          <a:noFill/>
          <a:ln w="9525">
            <a:solidFill>
              <a:srgbClr val="E0E0E0"/>
            </a:solidFill>
          </a:ln>
        </p:spPr>
      </p:sp>
      <p:sp>
        <p:nvSpPr>
          <p:cNvPr id="35" name="Line 35"/>
          <p:cNvSpPr/>
          <p:nvPr/>
        </p:nvSpPr>
        <p:spPr>
          <a:xfrm>
            <a:off x="1085850" y="3743325"/>
            <a:ext cx="4819650" cy="9525"/>
          </a:xfrm>
          <a:custGeom>
            <a:avLst/>
            <a:gdLst/>
            <a:ahLst/>
            <a:cxnLst/>
            <a:rect l="l" t="t" r="r" b="b"/>
            <a:pathLst>
              <a:path w="4819650" h="9525">
                <a:moveTo>
                  <a:pt x="0" y="0"/>
                </a:moveTo>
                <a:lnTo>
                  <a:pt x="4819650" y="0"/>
                </a:lnTo>
              </a:path>
            </a:pathLst>
          </a:custGeom>
          <a:noFill/>
          <a:ln w="9525">
            <a:solidFill>
              <a:srgbClr val="E0E0E0"/>
            </a:solidFill>
          </a:ln>
        </p:spPr>
      </p:sp>
      <p:sp>
        <p:nvSpPr>
          <p:cNvPr id="36" name="Line 36"/>
          <p:cNvSpPr/>
          <p:nvPr/>
        </p:nvSpPr>
        <p:spPr>
          <a:xfrm>
            <a:off x="1085850" y="3314700"/>
            <a:ext cx="4819650" cy="9525"/>
          </a:xfrm>
          <a:custGeom>
            <a:avLst/>
            <a:gdLst/>
            <a:ahLst/>
            <a:cxnLst/>
            <a:rect l="l" t="t" r="r" b="b"/>
            <a:pathLst>
              <a:path w="4819650" h="9525">
                <a:moveTo>
                  <a:pt x="0" y="0"/>
                </a:moveTo>
                <a:lnTo>
                  <a:pt x="4819650" y="0"/>
                </a:lnTo>
              </a:path>
            </a:pathLst>
          </a:custGeom>
          <a:noFill/>
          <a:ln w="9525">
            <a:solidFill>
              <a:srgbClr val="E0E0E0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931021" y="4953952"/>
            <a:ext cx="1110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0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00672" y="4525328"/>
            <a:ext cx="24136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100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62333" y="4096702"/>
            <a:ext cx="2797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200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62333" y="3668078"/>
            <a:ext cx="2797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300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62333" y="3239452"/>
            <a:ext cx="2797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400</a:t>
            </a:r>
          </a:p>
        </p:txBody>
      </p:sp>
      <p:sp>
        <p:nvSpPr>
          <p:cNvPr id="42" name="Rectangle 42"/>
          <p:cNvSpPr/>
          <p:nvPr/>
        </p:nvSpPr>
        <p:spPr>
          <a:xfrm>
            <a:off x="1143000" y="4876800"/>
            <a:ext cx="552450" cy="152400"/>
          </a:xfrm>
          <a:prstGeom prst="rect">
            <a:avLst/>
          </a:prstGeom>
          <a:solidFill>
            <a:srgbClr val="DE3545"/>
          </a:solidFill>
          <a:ln>
            <a:noFill/>
          </a:ln>
        </p:spPr>
      </p:sp>
      <p:sp>
        <p:nvSpPr>
          <p:cNvPr id="43" name="Rectangle 43"/>
          <p:cNvSpPr/>
          <p:nvPr/>
        </p:nvSpPr>
        <p:spPr>
          <a:xfrm>
            <a:off x="1981200" y="4429125"/>
            <a:ext cx="552450" cy="600075"/>
          </a:xfrm>
          <a:prstGeom prst="rect">
            <a:avLst/>
          </a:prstGeom>
          <a:solidFill>
            <a:srgbClr val="DE3545"/>
          </a:solidFill>
          <a:ln>
            <a:noFill/>
          </a:ln>
        </p:spPr>
      </p:sp>
      <p:sp>
        <p:nvSpPr>
          <p:cNvPr id="44" name="Rectangle 44"/>
          <p:cNvSpPr/>
          <p:nvPr/>
        </p:nvSpPr>
        <p:spPr>
          <a:xfrm>
            <a:off x="2819400" y="3552825"/>
            <a:ext cx="552450" cy="1476375"/>
          </a:xfrm>
          <a:prstGeom prst="rect">
            <a:avLst/>
          </a:prstGeom>
          <a:solidFill>
            <a:srgbClr val="DE3545"/>
          </a:solidFill>
          <a:ln>
            <a:noFill/>
          </a:ln>
        </p:spPr>
      </p:sp>
      <p:sp>
        <p:nvSpPr>
          <p:cNvPr id="45" name="Rectangle 45"/>
          <p:cNvSpPr/>
          <p:nvPr/>
        </p:nvSpPr>
        <p:spPr>
          <a:xfrm>
            <a:off x="3657600" y="3324225"/>
            <a:ext cx="552450" cy="1704975"/>
          </a:xfrm>
          <a:prstGeom prst="rect">
            <a:avLst/>
          </a:prstGeom>
          <a:solidFill>
            <a:srgbClr val="333333"/>
          </a:solidFill>
          <a:ln>
            <a:noFill/>
          </a:ln>
        </p:spPr>
      </p:sp>
      <p:sp>
        <p:nvSpPr>
          <p:cNvPr id="46" name="Rectangle 46"/>
          <p:cNvSpPr/>
          <p:nvPr/>
        </p:nvSpPr>
        <p:spPr>
          <a:xfrm>
            <a:off x="4495800" y="4152900"/>
            <a:ext cx="552450" cy="876300"/>
          </a:xfrm>
          <a:prstGeom prst="rect">
            <a:avLst/>
          </a:prstGeom>
          <a:solidFill>
            <a:srgbClr val="DE3545"/>
          </a:solidFill>
          <a:ln>
            <a:noFill/>
          </a:ln>
        </p:spPr>
      </p:sp>
      <p:sp>
        <p:nvSpPr>
          <p:cNvPr id="47" name="Rectangle 47"/>
          <p:cNvSpPr/>
          <p:nvPr/>
        </p:nvSpPr>
        <p:spPr>
          <a:xfrm>
            <a:off x="5334000" y="4695825"/>
            <a:ext cx="552450" cy="333375"/>
          </a:xfrm>
          <a:prstGeom prst="rect">
            <a:avLst/>
          </a:prstGeom>
          <a:solidFill>
            <a:srgbClr val="DE3545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1317329" y="4687252"/>
            <a:ext cx="203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36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2151503" y="4239578"/>
            <a:ext cx="21184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141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2949448" y="3363278"/>
            <a:ext cx="29235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345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3787648" y="3134678"/>
            <a:ext cx="29235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DE3545"/>
                </a:solidFill>
                <a:latin typeface="Arial"/>
                <a:ea typeface="Microsoft YaHei"/>
                <a:cs typeface="Arial"/>
              </a:rPr>
              <a:t>398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4625848" y="3963352"/>
            <a:ext cx="29235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205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5508329" y="4506278"/>
            <a:ext cx="203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78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214199" y="5106352"/>
            <a:ext cx="41005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16:00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2052399" y="5106352"/>
            <a:ext cx="41005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17:00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2890599" y="5106352"/>
            <a:ext cx="41005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18:00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3728799" y="5106352"/>
            <a:ext cx="41005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19:00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4547830" y="5106352"/>
            <a:ext cx="4483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20:00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5405199" y="5106352"/>
            <a:ext cx="41005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21:00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129665" y="5334952"/>
            <a:ext cx="297103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DE3545"/>
                </a:solidFill>
                <a:latin typeface="Segoe UI"/>
                <a:ea typeface="Microsoft YaHei"/>
                <a:cs typeface="Segoe UI"/>
              </a:rPr>
              <a:t>峰值 398 条：19:00 定价页 · 双技能叠加轮</a:t>
            </a:r>
          </a:p>
        </p:txBody>
      </p:sp>
      <p:sp>
        <p:nvSpPr>
          <p:cNvPr id="61" name="Rectangle 61"/>
          <p:cNvSpPr/>
          <p:nvPr/>
        </p:nvSpPr>
        <p:spPr>
          <a:xfrm>
            <a:off x="6572250" y="2457450"/>
            <a:ext cx="4762500" cy="306705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62" name="TextBox 62"/>
          <p:cNvSpPr txBox="1"/>
          <p:nvPr/>
        </p:nvSpPr>
        <p:spPr>
          <a:xfrm>
            <a:off x="6781800" y="2581275"/>
            <a:ext cx="122274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技能 × 轮次</a:t>
            </a:r>
          </a:p>
        </p:txBody>
      </p:sp>
      <p:sp>
        <p:nvSpPr>
          <p:cNvPr id="63" name="Rectangle 63"/>
          <p:cNvSpPr/>
          <p:nvPr/>
        </p:nvSpPr>
        <p:spPr>
          <a:xfrm>
            <a:off x="6800850" y="2857500"/>
            <a:ext cx="4305300" cy="266700"/>
          </a:xfrm>
          <a:prstGeom prst="rect">
            <a:avLst/>
          </a:prstGeom>
          <a:solidFill>
            <a:srgbClr val="DE3545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6882765" y="2925128"/>
            <a:ext cx="3487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技能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0046875" y="2925128"/>
            <a:ext cx="3487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轮次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0540365" y="2925128"/>
            <a:ext cx="3487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判定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6882765" y="3220402"/>
            <a:ext cx="152185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sites:sites-building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10280354" y="3220402"/>
            <a:ext cx="11523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0540365" y="3220402"/>
            <a:ext cx="3333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留用</a:t>
            </a:r>
          </a:p>
        </p:txBody>
      </p:sp>
      <p:sp>
        <p:nvSpPr>
          <p:cNvPr id="70" name="Line 70"/>
          <p:cNvSpPr/>
          <p:nvPr/>
        </p:nvSpPr>
        <p:spPr>
          <a:xfrm>
            <a:off x="6800850" y="3429000"/>
            <a:ext cx="4305300" cy="9525"/>
          </a:xfrm>
          <a:custGeom>
            <a:avLst/>
            <a:gdLst/>
            <a:ahLst/>
            <a:cxnLst/>
            <a:rect l="l" t="t" r="r" b="b"/>
            <a:pathLst>
              <a:path w="4305300" h="9525">
                <a:moveTo>
                  <a:pt x="0" y="0"/>
                </a:moveTo>
                <a:lnTo>
                  <a:pt x="4305300" y="0"/>
                </a:lnTo>
              </a:path>
            </a:pathLst>
          </a:custGeom>
          <a:noFill/>
          <a:ln w="9525">
            <a:solidFill>
              <a:srgbClr val="E0E0E0"/>
            </a:solidFill>
          </a:ln>
        </p:spPr>
      </p:sp>
      <p:sp>
        <p:nvSpPr>
          <p:cNvPr id="71" name="TextBox 71"/>
          <p:cNvSpPr txBox="1"/>
          <p:nvPr/>
        </p:nvSpPr>
        <p:spPr>
          <a:xfrm>
            <a:off x="6882765" y="3544252"/>
            <a:ext cx="222727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vercel-react-best-practices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10280354" y="3544252"/>
            <a:ext cx="11523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4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10540365" y="3544252"/>
            <a:ext cx="3333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留用</a:t>
            </a:r>
          </a:p>
        </p:txBody>
      </p:sp>
      <p:sp>
        <p:nvSpPr>
          <p:cNvPr id="74" name="Line 74"/>
          <p:cNvSpPr/>
          <p:nvPr/>
        </p:nvSpPr>
        <p:spPr>
          <a:xfrm>
            <a:off x="6800850" y="3752850"/>
            <a:ext cx="4305300" cy="9525"/>
          </a:xfrm>
          <a:custGeom>
            <a:avLst/>
            <a:gdLst/>
            <a:ahLst/>
            <a:cxnLst/>
            <a:rect l="l" t="t" r="r" b="b"/>
            <a:pathLst>
              <a:path w="4305300" h="9525">
                <a:moveTo>
                  <a:pt x="0" y="0"/>
                </a:moveTo>
                <a:lnTo>
                  <a:pt x="4305300" y="0"/>
                </a:lnTo>
              </a:path>
            </a:pathLst>
          </a:custGeom>
          <a:noFill/>
          <a:ln w="9525">
            <a:solidFill>
              <a:srgbClr val="E0E0E0"/>
            </a:solidFill>
          </a:ln>
        </p:spPr>
      </p:sp>
      <p:sp>
        <p:nvSpPr>
          <p:cNvPr id="75" name="TextBox 75"/>
          <p:cNvSpPr txBox="1"/>
          <p:nvPr/>
        </p:nvSpPr>
        <p:spPr>
          <a:xfrm>
            <a:off x="6882765" y="3868102"/>
            <a:ext cx="17058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frontend-development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10320609" y="3868102"/>
            <a:ext cx="7497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10540365" y="3868102"/>
            <a:ext cx="3333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留用</a:t>
            </a:r>
          </a:p>
        </p:txBody>
      </p:sp>
      <p:sp>
        <p:nvSpPr>
          <p:cNvPr id="78" name="Line 78"/>
          <p:cNvSpPr/>
          <p:nvPr/>
        </p:nvSpPr>
        <p:spPr>
          <a:xfrm>
            <a:off x="6800850" y="4076700"/>
            <a:ext cx="4305300" cy="9525"/>
          </a:xfrm>
          <a:custGeom>
            <a:avLst/>
            <a:gdLst/>
            <a:ahLst/>
            <a:cxnLst/>
            <a:rect l="l" t="t" r="r" b="b"/>
            <a:pathLst>
              <a:path w="4305300" h="9525">
                <a:moveTo>
                  <a:pt x="0" y="0"/>
                </a:moveTo>
                <a:lnTo>
                  <a:pt x="4305300" y="0"/>
                </a:lnTo>
              </a:path>
            </a:pathLst>
          </a:custGeom>
          <a:noFill/>
          <a:ln w="9525">
            <a:solidFill>
              <a:srgbClr val="E0E0E0"/>
            </a:solidFill>
          </a:ln>
        </p:spPr>
      </p:sp>
      <p:sp>
        <p:nvSpPr>
          <p:cNvPr id="79" name="TextBox 79"/>
          <p:cNvSpPr txBox="1"/>
          <p:nvPr/>
        </p:nvSpPr>
        <p:spPr>
          <a:xfrm>
            <a:off x="6882765" y="4191952"/>
            <a:ext cx="61707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drafter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10320609" y="4191952"/>
            <a:ext cx="7497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10540365" y="4191952"/>
            <a:ext cx="103112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0964D"/>
                </a:solidFill>
                <a:latin typeface="Segoe UI"/>
                <a:ea typeface="Microsoft YaHei"/>
                <a:cs typeface="Segoe UI"/>
              </a:rPr>
              <a:t>留用·限定场景</a:t>
            </a:r>
          </a:p>
        </p:txBody>
      </p:sp>
      <p:sp>
        <p:nvSpPr>
          <p:cNvPr id="82" name="Line 82"/>
          <p:cNvSpPr/>
          <p:nvPr/>
        </p:nvSpPr>
        <p:spPr>
          <a:xfrm>
            <a:off x="6800850" y="4400550"/>
            <a:ext cx="4305300" cy="9525"/>
          </a:xfrm>
          <a:custGeom>
            <a:avLst/>
            <a:gdLst/>
            <a:ahLst/>
            <a:cxnLst/>
            <a:rect l="l" t="t" r="r" b="b"/>
            <a:pathLst>
              <a:path w="4305300" h="9525">
                <a:moveTo>
                  <a:pt x="0" y="0"/>
                </a:moveTo>
                <a:lnTo>
                  <a:pt x="4305300" y="0"/>
                </a:lnTo>
              </a:path>
            </a:pathLst>
          </a:custGeom>
          <a:noFill/>
          <a:ln w="9525">
            <a:solidFill>
              <a:srgbClr val="E0E0E0"/>
            </a:solidFill>
          </a:ln>
        </p:spPr>
      </p:sp>
      <p:sp>
        <p:nvSpPr>
          <p:cNvPr id="83" name="Rectangle 83"/>
          <p:cNvSpPr/>
          <p:nvPr/>
        </p:nvSpPr>
        <p:spPr>
          <a:xfrm>
            <a:off x="6800850" y="4457700"/>
            <a:ext cx="4305300" cy="304800"/>
          </a:xfrm>
          <a:prstGeom prst="rect">
            <a:avLst/>
          </a:prstGeom>
          <a:noFill/>
          <a:ln w="19050">
            <a:solidFill>
              <a:srgbClr val="DE3545"/>
            </a:solidFill>
          </a:ln>
        </p:spPr>
      </p:sp>
      <p:sp>
        <p:nvSpPr>
          <p:cNvPr id="84" name="TextBox 84"/>
          <p:cNvSpPr txBox="1"/>
          <p:nvPr/>
        </p:nvSpPr>
        <p:spPr>
          <a:xfrm>
            <a:off x="6882765" y="455390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合计轮次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10265797" y="4537710"/>
            <a:ext cx="13169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b="1" dirty="0">
                <a:solidFill>
                  <a:srgbClr val="DE3545"/>
                </a:solidFill>
                <a:latin typeface="Arial"/>
                <a:ea typeface="Microsoft YaHei"/>
                <a:cs typeface="Arial"/>
              </a:rPr>
              <a:t>8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10540365" y="455390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DE3545"/>
                </a:solidFill>
                <a:latin typeface="Segoe UI"/>
                <a:ea typeface="Microsoft YaHei"/>
                <a:cs typeface="Segoe UI"/>
              </a:rPr>
              <a:t>全部留用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6787515" y="4877752"/>
            <a:ext cx="397549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19:00 一轮由 vercel 与 sites-building 叠加完成，故技能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6787515" y="5049202"/>
            <a:ext cx="212759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轮次相加为 9、实际轮次为 8。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6787515" y="5296852"/>
            <a:ext cx="267966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99999"/>
                </a:solidFill>
                <a:latin typeface="Segoe UI"/>
                <a:ea typeface="Microsoft YaHei"/>
                <a:cs typeface="Segoe UI"/>
              </a:rPr>
              <a:t>本轮第 5 个研究对象：ppt-generator</a:t>
            </a:r>
          </a:p>
        </p:txBody>
      </p:sp>
      <p:sp>
        <p:nvSpPr>
          <p:cNvPr id="90" name="Rectangle 90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FAFAFA"/>
          </a:solidFill>
          <a:ln>
            <a:noFill/>
          </a:ln>
        </p:spPr>
      </p:sp>
      <p:sp>
        <p:nvSpPr>
          <p:cNvPr id="91" name="Rectangle 91"/>
          <p:cNvSpPr/>
          <p:nvPr/>
        </p:nvSpPr>
        <p:spPr>
          <a:xfrm>
            <a:off x="0" y="6477000"/>
            <a:ext cx="38100" cy="381000"/>
          </a:xfrm>
          <a:prstGeom prst="rect">
            <a:avLst/>
          </a:prstGeom>
          <a:solidFill>
            <a:srgbClr val="DE3545"/>
          </a:solidFill>
          <a:ln>
            <a:noFill/>
          </a:ln>
        </p:spPr>
      </p:sp>
      <p:sp>
        <p:nvSpPr>
          <p:cNvPr id="92" name="TextBox 92"/>
          <p:cNvSpPr txBox="1"/>
          <p:nvPr/>
        </p:nvSpPr>
        <p:spPr>
          <a:xfrm>
            <a:off x="653415" y="6601778"/>
            <a:ext cx="469625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SKILL LAB · 数据来源 state/state.json @ 2026-09-25 22:00 快照</a:t>
            </a:r>
          </a:p>
        </p:txBody>
      </p:sp>
      <p:sp>
        <p:nvSpPr>
          <p:cNvPr id="93" name="Ellipse 93"/>
          <p:cNvSpPr/>
          <p:nvPr/>
        </p:nvSpPr>
        <p:spPr>
          <a:xfrm>
            <a:off x="11372850" y="6515100"/>
            <a:ext cx="304800" cy="304800"/>
          </a:xfrm>
          <a:prstGeom prst="ellipse">
            <a:avLst/>
          </a:prstGeom>
          <a:solidFill>
            <a:srgbClr val="FDE8E9"/>
          </a:solidFill>
          <a:ln>
            <a:noFill/>
          </a:ln>
        </p:spPr>
      </p:sp>
      <p:sp>
        <p:nvSpPr>
          <p:cNvPr id="94" name="TextBox 94"/>
          <p:cNvSpPr txBox="1"/>
          <p:nvPr/>
        </p:nvSpPr>
        <p:spPr>
          <a:xfrm>
            <a:off x="11408797" y="6595110"/>
            <a:ext cx="23290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</p:spTree>
  </p:cSld>
  <p:clrMapOvr>
    <a:masterClrMapping/>
  </p:clrMapOvr>
  <p:transition dur="5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0" y="0"/>
            <a:ext cx="3619500" cy="3619500"/>
          </a:xfrm>
          <a:custGeom>
            <a:avLst/>
            <a:gdLst/>
            <a:ahLst/>
            <a:cxnLst/>
            <a:rect l="l" t="t" r="r" b="b"/>
            <a:pathLst>
              <a:path w="3619500" h="3619500">
                <a:moveTo>
                  <a:pt x="0" y="0"/>
                </a:moveTo>
                <a:lnTo>
                  <a:pt x="3619500" y="0"/>
                </a:lnTo>
                <a:lnTo>
                  <a:pt x="0" y="3619500"/>
                </a:lnTo>
                <a:close/>
              </a:path>
            </a:pathLst>
          </a:custGeom>
          <a:solidFill>
            <a:srgbClr val="DE3545"/>
          </a:solidFill>
          <a:ln>
            <a:noFill/>
          </a:ln>
        </p:spPr>
      </p:sp>
      <p:sp>
        <p:nvSpPr>
          <p:cNvPr id="4" name="Freeform 4"/>
          <p:cNvSpPr/>
          <p:nvPr/>
        </p:nvSpPr>
        <p:spPr>
          <a:xfrm>
            <a:off x="0" y="0"/>
            <a:ext cx="1714500" cy="1714500"/>
          </a:xfrm>
          <a:custGeom>
            <a:avLst/>
            <a:gdLst/>
            <a:ahLst/>
            <a:cxnLst/>
            <a:rect l="l" t="t" r="r" b="b"/>
            <a:pathLst>
              <a:path w="1714500" h="1714500">
                <a:moveTo>
                  <a:pt x="0" y="0"/>
                </a:moveTo>
                <a:lnTo>
                  <a:pt x="1714500" y="0"/>
                </a:lnTo>
                <a:lnTo>
                  <a:pt x="0" y="1714500"/>
                </a:lnTo>
                <a:close/>
              </a:path>
            </a:pathLst>
          </a:custGeom>
          <a:solidFill>
            <a:srgbClr val="E86A76"/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0" y="3810000"/>
            <a:ext cx="3048000" cy="3048000"/>
          </a:xfrm>
          <a:custGeom>
            <a:avLst/>
            <a:gdLst/>
            <a:ahLst/>
            <a:cxnLst/>
            <a:rect l="l" t="t" r="r" b="b"/>
            <a:pathLst>
              <a:path w="3048000" h="3048000">
                <a:moveTo>
                  <a:pt x="0" y="3048000"/>
                </a:moveTo>
                <a:lnTo>
                  <a:pt x="3048000" y="3048000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</p:sp>
      <p:sp>
        <p:nvSpPr>
          <p:cNvPr id="6" name="Freeform 6"/>
          <p:cNvSpPr/>
          <p:nvPr/>
        </p:nvSpPr>
        <p:spPr>
          <a:xfrm>
            <a:off x="0" y="5715000"/>
            <a:ext cx="1143000" cy="1143000"/>
          </a:xfrm>
          <a:custGeom>
            <a:avLst/>
            <a:gdLst/>
            <a:ahLst/>
            <a:cxnLst/>
            <a:rect l="l" t="t" r="r" b="b"/>
            <a:pathLst>
              <a:path w="1143000" h="1143000">
                <a:moveTo>
                  <a:pt x="0" y="1143000"/>
                </a:moveTo>
                <a:lnTo>
                  <a:pt x="114300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8191500" y="2857500"/>
            <a:ext cx="4000500" cy="4000500"/>
          </a:xfrm>
          <a:custGeom>
            <a:avLst/>
            <a:gdLst/>
            <a:ahLst/>
            <a:cxnLst/>
            <a:rect l="l" t="t" r="r" b="b"/>
            <a:pathLst>
              <a:path w="4000500" h="4000500">
                <a:moveTo>
                  <a:pt x="4000500" y="4000500"/>
                </a:moveTo>
                <a:lnTo>
                  <a:pt x="4000500" y="0"/>
                </a:lnTo>
                <a:lnTo>
                  <a:pt x="0" y="4000500"/>
                </a:lnTo>
                <a:close/>
              </a:path>
            </a:pathLst>
          </a:custGeom>
          <a:solidFill>
            <a:srgbClr val="DE3545"/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10287000" y="4953000"/>
            <a:ext cx="1905000" cy="1905000"/>
          </a:xfrm>
          <a:custGeom>
            <a:avLst/>
            <a:gdLst/>
            <a:ahLst/>
            <a:cxnLst/>
            <a:rect l="l" t="t" r="r" b="b"/>
            <a:pathLst>
              <a:path w="1905000" h="1905000">
                <a:moveTo>
                  <a:pt x="1905000" y="1905000"/>
                </a:moveTo>
                <a:lnTo>
                  <a:pt x="1905000" y="0"/>
                </a:lnTo>
                <a:lnTo>
                  <a:pt x="0" y="1905000"/>
                </a:lnTo>
                <a:close/>
              </a:path>
            </a:pathLst>
          </a:custGeom>
          <a:solidFill>
            <a:srgbClr val="E86A76"/>
          </a:solidFill>
          <a:ln>
            <a:noFill/>
          </a:ln>
        </p:spPr>
      </p:sp>
      <p:sp>
        <p:nvSpPr>
          <p:cNvPr id="9" name="Freeform 9"/>
          <p:cNvSpPr/>
          <p:nvPr/>
        </p:nvSpPr>
        <p:spPr>
          <a:xfrm>
            <a:off x="11430000" y="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762000" y="0"/>
                </a:moveTo>
                <a:lnTo>
                  <a:pt x="0" y="0"/>
                </a:lnTo>
                <a:lnTo>
                  <a:pt x="762000" y="762000"/>
                </a:lnTo>
                <a:close/>
              </a:path>
            </a:pathLst>
          </a:custGeom>
          <a:solidFill>
            <a:srgbClr val="E97983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4371213" y="2655570"/>
            <a:ext cx="3449574" cy="1097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400" b="1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谢谢观看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890135" y="3615690"/>
            <a:ext cx="241173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DE3545"/>
                </a:solidFill>
                <a:latin typeface="Arial"/>
                <a:ea typeface="Microsoft YaHei"/>
                <a:cs typeface="Arial"/>
              </a:rPr>
              <a:t>THANKS FOR REVIEW</a:t>
            </a:r>
          </a:p>
        </p:txBody>
      </p:sp>
      <p:sp>
        <p:nvSpPr>
          <p:cNvPr id="12" name="Line 12"/>
          <p:cNvSpPr/>
          <p:nvPr/>
        </p:nvSpPr>
        <p:spPr>
          <a:xfrm>
            <a:off x="4667250" y="4191000"/>
            <a:ext cx="2857500" cy="9525"/>
          </a:xfrm>
          <a:custGeom>
            <a:avLst/>
            <a:gdLst/>
            <a:ahLst/>
            <a:cxnLst/>
            <a:rect l="l" t="t" r="r" b="b"/>
            <a:pathLst>
              <a:path w="2857500" h="9525">
                <a:moveTo>
                  <a:pt x="0" y="0"/>
                </a:moveTo>
                <a:lnTo>
                  <a:pt x="2857500" y="0"/>
                </a:lnTo>
              </a:path>
            </a:pathLst>
          </a:custGeom>
          <a:noFill/>
          <a:ln w="9525">
            <a:solidFill>
              <a:srgbClr val="CCCCCC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3516535" y="4472940"/>
            <a:ext cx="515893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下一轮：真 Next.js 工程，验 RSC 专属条款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02093" y="4918710"/>
            <a:ext cx="918781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999999"/>
                </a:solidFill>
                <a:latin typeface="Segoe UI"/>
                <a:ea typeface="Microsoft YaHei"/>
                <a:cs typeface="Segoe UI"/>
              </a:rPr>
              <a:t>产物 artifacts/20260925-22-ppt-generator-deck · 复现文档 reports/20260925-22-ppt-generator-deck.md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250311" y="5204460"/>
            <a:ext cx="569137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999999"/>
                </a:solidFill>
                <a:latin typeface="Segoe UI"/>
                <a:ea typeface="Microsoft YaHei"/>
                <a:cs typeface="Segoe UI"/>
              </a:rPr>
              <a:t>仓库 github.com/sunc-Q/frontend-skill @ main · 2026-09-25 22:00</a:t>
            </a:r>
          </a:p>
        </p:txBody>
      </p:sp>
    </p:spTree>
  </p:cSld>
  <p:clrMapOvr>
    <a:masterClrMapping/>
  </p:clrMapOvr>
  <p:transition dur="5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