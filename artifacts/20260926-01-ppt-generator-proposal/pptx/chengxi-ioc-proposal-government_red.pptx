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01A33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8B0000"/>
              </a:gs>
              <a:gs pos="100000">
                <a:srgbClr val="003366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DAA520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524500" y="36957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19050">
            <a:solidFill>
              <a:srgbClr val="DAA52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2737866" y="2468880"/>
            <a:ext cx="671626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澄区智慧运管中心建设项目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58690" y="3158490"/>
            <a:ext cx="26746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DAA520"/>
                </a:solidFill>
                <a:latin typeface="微软雅黑"/>
                <a:ea typeface="Microsoft YaHei"/>
                <a:cs typeface="微软雅黑"/>
              </a:rPr>
              <a:t>技术方案与投资建议书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95850" y="415956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5F7FA"/>
                </a:solidFill>
                <a:latin typeface="微软雅黑"/>
                <a:ea typeface="Microsoft YaHei"/>
                <a:cs typeface="微软雅黑"/>
              </a:rPr>
              <a:t>致：澄区数字化管理办公室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93018" y="4464368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5F7FA"/>
                </a:solidFill>
                <a:latin typeface="微软雅黑"/>
                <a:ea typeface="Microsoft YaHei"/>
                <a:cs typeface="微软雅黑"/>
              </a:rPr>
              <a:t>栖云数字科技有限公司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06647" y="4801552"/>
            <a:ext cx="29787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BD5E1"/>
                </a:solidFill>
                <a:latin typeface="微软雅黑"/>
                <a:ea typeface="Microsoft YaHei"/>
                <a:cs typeface="微软雅黑"/>
              </a:rPr>
              <a:t>2026 年 9 月 · 方案编号 CQ-IOC-2026-017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34430" y="617315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AA520"/>
                </a:solidFill>
                <a:latin typeface="微软雅黑"/>
                <a:ea typeface="Microsoft YaHei"/>
                <a:cs typeface="微软雅黑"/>
              </a:rPr>
              <a:t>机密 · 仅供评审</a:t>
            </a:r>
          </a:p>
        </p:txBody>
      </p:sp>
    </p:spTree>
  </p:cSld>
  <p:clrMapOvr>
    <a:masterClrMapping/>
  </p:clrMapOvr>
  <p:transition dur="5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8B0000"/>
              </a:gs>
              <a:gs pos="100000">
                <a:srgbClr val="003366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57150"/>
            <a:ext cx="114300" cy="676275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59130" y="725805"/>
            <a:ext cx="6974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目录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276350"/>
            <a:ext cx="419100" cy="41910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64238" y="1419225"/>
            <a:ext cx="2336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9190" y="1405890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现状与问题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38477" y="14868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P3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190750"/>
            <a:ext cx="419100" cy="41910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35484" y="2333625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9190" y="23202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总体架构设计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8477" y="24012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P4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05150"/>
            <a:ext cx="419100" cy="41910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35484" y="3248025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9190" y="323469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实施计划与里程碑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38477" y="33156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P5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4019550"/>
            <a:ext cx="419100" cy="41910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35484" y="4162425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39190" y="414909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投资报价与付款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38477" y="42300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P5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4933950"/>
            <a:ext cx="419100" cy="41910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35484" y="5076825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9190" y="506349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服务保障与合作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38477" y="51444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P6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8165" y="65160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20929" y="6516052"/>
            <a:ext cx="19129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栖云数字 · 机密 · 仅供评审</a:t>
            </a:r>
          </a:p>
        </p:txBody>
      </p:sp>
    </p:spTree>
  </p:cSld>
  <p:clrMapOvr>
    <a:masterClrMapping/>
  </p:clrMapOvr>
  <p:transition dur="5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8B0000"/>
              </a:gs>
              <a:gs pos="100000">
                <a:srgbClr val="003366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476250" cy="47625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69450" y="415290"/>
            <a:ext cx="28034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1580" y="401955"/>
            <a:ext cx="16635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现状与问题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1105" y="768668"/>
            <a:ext cx="64816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事件高位增长、响应近考核基线 3 倍，24 个子系统仅 9 个完成平台化接入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762000"/>
            <a:ext cx="2619375" cy="14287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4855" y="95916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日均告警事件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27710" y="1384935"/>
            <a:ext cx="110370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AA520"/>
                </a:solidFill>
                <a:latin typeface="微软雅黑"/>
                <a:ea typeface="Microsoft YaHei"/>
                <a:cs typeface="微软雅黑"/>
              </a:rPr>
              <a:t>2,140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8665" y="1829752"/>
            <a:ext cx="14221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条 · 人工核查占 78%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381375" y="762000"/>
            <a:ext cx="2619375" cy="14287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554730" y="95916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平均事件响应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37585" y="138493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53E3E"/>
                </a:solidFill>
                <a:latin typeface="微软雅黑"/>
                <a:ea typeface="Microsoft YaHei"/>
                <a:cs typeface="微软雅黑"/>
              </a:rPr>
              <a:t>86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58540" y="1829752"/>
            <a:ext cx="17748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分钟 · 考核基线 ≤30 分钟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191250" y="762000"/>
            <a:ext cx="2619375" cy="14287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364605" y="95916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跨部门协同率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47460" y="1384935"/>
            <a:ext cx="52403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AA520"/>
                </a:solidFill>
                <a:latin typeface="微软雅黑"/>
                <a:ea typeface="Microsoft YaHei"/>
                <a:cs typeface="微软雅黑"/>
              </a:rPr>
              <a:t>37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68415" y="1829752"/>
            <a:ext cx="11308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% · 目标值 ≥80%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001125" y="762000"/>
            <a:ext cx="2619375" cy="14287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174480" y="959168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子系统平台化接入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57335" y="1384935"/>
            <a:ext cx="9794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DAA520"/>
                </a:solidFill>
                <a:latin typeface="微软雅黑"/>
                <a:ea typeface="Microsoft YaHei"/>
                <a:cs typeface="微软雅黑"/>
              </a:rPr>
              <a:t>9/24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78290" y="1829752"/>
            <a:ext cx="1583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个（已接入 / 应接入）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2619375"/>
            <a:ext cx="11049000" cy="23812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77240" y="2767965"/>
            <a:ext cx="30821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事件来源年度分布（起）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58771" y="2848928"/>
            <a:ext cx="10464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合计 12,860 起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2392" y="3235642"/>
            <a:ext cx="11088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视频 AI 识别</a:t>
            </a:r>
          </a:p>
        </p:txBody>
      </p:sp>
      <p:sp>
        <p:nvSpPr>
          <p:cNvPr id="29" name="Rectangle 29"/>
          <p:cNvSpPr/>
          <p:nvPr/>
        </p:nvSpPr>
        <p:spPr>
          <a:xfrm>
            <a:off x="2476500" y="3219450"/>
            <a:ext cx="8001000" cy="17145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559415" y="32585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5,830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83100" y="3559492"/>
            <a:ext cx="11581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IoT 传感设备</a:t>
            </a:r>
          </a:p>
        </p:txBody>
      </p:sp>
      <p:sp>
        <p:nvSpPr>
          <p:cNvPr id="32" name="Rectangle 32"/>
          <p:cNvSpPr/>
          <p:nvPr/>
        </p:nvSpPr>
        <p:spPr>
          <a:xfrm>
            <a:off x="2476500" y="3543300"/>
            <a:ext cx="4281488" cy="1714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39902" y="358235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3,120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6783" y="3883342"/>
            <a:ext cx="14144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网格员人工上报</a:t>
            </a:r>
          </a:p>
        </p:txBody>
      </p:sp>
      <p:sp>
        <p:nvSpPr>
          <p:cNvPr id="35" name="Rectangle 35"/>
          <p:cNvSpPr/>
          <p:nvPr/>
        </p:nvSpPr>
        <p:spPr>
          <a:xfrm>
            <a:off x="2476500" y="3867150"/>
            <a:ext cx="2827020" cy="171450"/>
          </a:xfrm>
          <a:prstGeom prst="rect">
            <a:avLst/>
          </a:prstGeom>
          <a:solidFill>
            <a:srgbClr val="DAA52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385435" y="390620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2,060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60551" y="4207192"/>
            <a:ext cx="9806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12345 热线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476500" y="4191000"/>
            <a:ext cx="1824990" cy="171450"/>
          </a:xfrm>
          <a:prstGeom prst="rect">
            <a:avLst/>
          </a:prstGeom>
          <a:solidFill>
            <a:srgbClr val="3182CE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383405" y="423005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1,330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18285" y="453104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其他渠道</a:t>
            </a:r>
          </a:p>
        </p:txBody>
      </p:sp>
      <p:sp>
        <p:nvSpPr>
          <p:cNvPr id="41" name="Rectangle 41"/>
          <p:cNvSpPr/>
          <p:nvPr/>
        </p:nvSpPr>
        <p:spPr>
          <a:xfrm>
            <a:off x="2476500" y="4514850"/>
            <a:ext cx="713422" cy="171450"/>
          </a:xfrm>
          <a:prstGeom prst="rect">
            <a:avLst/>
          </a:prstGeom>
          <a:solidFill>
            <a:srgbClr val="38A169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3271838" y="455390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520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58165" y="65160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03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720929" y="6516052"/>
            <a:ext cx="19129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栖云数字 · 机密 · 仅供评审</a:t>
            </a:r>
          </a:p>
        </p:txBody>
      </p:sp>
    </p:spTree>
  </p:cSld>
  <p:clrMapOvr>
    <a:masterClrMapping/>
  </p:clrMapOvr>
  <p:transition dur="5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8B0000"/>
              </a:gs>
              <a:gs pos="100000">
                <a:srgbClr val="003366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476250" cy="47625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34946" y="415290"/>
            <a:ext cx="3493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1580" y="40195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总体架构设计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1105" y="768668"/>
            <a:ext cx="47071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五层 28 个能力模块：一次接入、集中治理、按需编排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1047750"/>
            <a:ext cx="11049000" cy="95631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047750"/>
            <a:ext cx="1143000" cy="95631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06088" y="139827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应用层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905000" y="1316355"/>
            <a:ext cx="1052512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156936" y="14763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态势总览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109912" y="1316355"/>
            <a:ext cx="1052512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361849" y="14763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事件调度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14825" y="1316355"/>
            <a:ext cx="1052512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66761" y="14763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巡更设施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519738" y="1316355"/>
            <a:ext cx="1052512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771674" y="14763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能耗双碳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724650" y="1316355"/>
            <a:ext cx="1052512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976586" y="14763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应急指挥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929562" y="1316355"/>
            <a:ext cx="1052512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181499" y="14763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考核分析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34475" y="1316355"/>
            <a:ext cx="1052512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386411" y="14763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企业服务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0339388" y="1316355"/>
            <a:ext cx="1052512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591324" y="147637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惠民服务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05852" y="10839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8 模块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2118360"/>
            <a:ext cx="11049000" cy="95631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571500" y="2118360"/>
            <a:ext cx="1143000" cy="95631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06088" y="246888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平台层</a:t>
            </a:r>
          </a:p>
        </p:txBody>
      </p:sp>
      <p:sp>
        <p:nvSpPr>
          <p:cNvPr id="32" name="Rectangle 32"/>
          <p:cNvSpPr/>
          <p:nvPr/>
        </p:nvSpPr>
        <p:spPr>
          <a:xfrm>
            <a:off x="1905000" y="2386965"/>
            <a:ext cx="145415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2300534" y="2530793"/>
            <a:ext cx="6630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AI 算法仓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511550" y="2386965"/>
            <a:ext cx="145415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864912" y="2530793"/>
            <a:ext cx="7474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GIS 一张图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118100" y="2386965"/>
            <a:ext cx="145415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525135" y="253079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物联接入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724650" y="2386965"/>
            <a:ext cx="145415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131685" y="253079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流程引擎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331200" y="2386965"/>
            <a:ext cx="145415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738235" y="253079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数字孪生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937750" y="2386965"/>
            <a:ext cx="145415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0344785" y="253079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开放平台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005852" y="215455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6 模块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71500" y="3188970"/>
            <a:ext cx="11049000" cy="95631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571500" y="3188970"/>
            <a:ext cx="1143000" cy="95631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06088" y="353949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数据层</a:t>
            </a:r>
          </a:p>
        </p:txBody>
      </p:sp>
      <p:sp>
        <p:nvSpPr>
          <p:cNvPr id="48" name="Rectangle 48"/>
          <p:cNvSpPr/>
          <p:nvPr/>
        </p:nvSpPr>
        <p:spPr>
          <a:xfrm>
            <a:off x="1905000" y="3457575"/>
            <a:ext cx="177546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2472690" y="3601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数据汇聚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832860" y="3457575"/>
            <a:ext cx="177546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4400550" y="3601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数据治理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60720" y="3457575"/>
            <a:ext cx="177546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328410" y="3601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数据共享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688580" y="3457575"/>
            <a:ext cx="177546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256270" y="3601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数据安全</a:t>
            </a:r>
          </a:p>
        </p:txBody>
      </p:sp>
      <p:sp>
        <p:nvSpPr>
          <p:cNvPr id="56" name="Rectangle 56"/>
          <p:cNvSpPr/>
          <p:nvPr/>
        </p:nvSpPr>
        <p:spPr>
          <a:xfrm>
            <a:off x="9616440" y="3457575"/>
            <a:ext cx="177546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10184130" y="3601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数据资产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005852" y="322516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5 模块</a:t>
            </a:r>
          </a:p>
        </p:txBody>
      </p:sp>
      <p:sp>
        <p:nvSpPr>
          <p:cNvPr id="59" name="Rectangle 59"/>
          <p:cNvSpPr/>
          <p:nvPr/>
        </p:nvSpPr>
        <p:spPr>
          <a:xfrm>
            <a:off x="571500" y="4259580"/>
            <a:ext cx="11049000" cy="95631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571500" y="4259580"/>
            <a:ext cx="1143000" cy="95631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706088" y="461010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网络层</a:t>
            </a:r>
          </a:p>
        </p:txBody>
      </p:sp>
      <p:sp>
        <p:nvSpPr>
          <p:cNvPr id="62" name="Rectangle 62"/>
          <p:cNvSpPr/>
          <p:nvPr/>
        </p:nvSpPr>
        <p:spPr>
          <a:xfrm>
            <a:off x="1905000" y="4528185"/>
            <a:ext cx="306070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3115310" y="467201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政务外网</a:t>
            </a:r>
          </a:p>
        </p:txBody>
      </p:sp>
      <p:sp>
        <p:nvSpPr>
          <p:cNvPr id="64" name="Rectangle 64"/>
          <p:cNvSpPr/>
          <p:nvPr/>
        </p:nvSpPr>
        <p:spPr>
          <a:xfrm>
            <a:off x="5118100" y="4528185"/>
            <a:ext cx="306070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6374416" y="4672012"/>
            <a:ext cx="5480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5G 切片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331200" y="4528185"/>
            <a:ext cx="306070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9541510" y="467201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物联专网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005852" y="429577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3 模块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5330190"/>
            <a:ext cx="11049000" cy="95631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70" name="Rectangle 70"/>
          <p:cNvSpPr/>
          <p:nvPr/>
        </p:nvSpPr>
        <p:spPr>
          <a:xfrm>
            <a:off x="571500" y="5330190"/>
            <a:ext cx="1143000" cy="95631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706088" y="568071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感知层</a:t>
            </a:r>
          </a:p>
        </p:txBody>
      </p:sp>
      <p:sp>
        <p:nvSpPr>
          <p:cNvPr id="72" name="Rectangle 72"/>
          <p:cNvSpPr/>
          <p:nvPr/>
        </p:nvSpPr>
        <p:spPr>
          <a:xfrm>
            <a:off x="1905000" y="5598795"/>
            <a:ext cx="145415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2312035" y="574262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视频监控</a:t>
            </a:r>
          </a:p>
        </p:txBody>
      </p:sp>
      <p:sp>
        <p:nvSpPr>
          <p:cNvPr id="74" name="Rectangle 74"/>
          <p:cNvSpPr/>
          <p:nvPr/>
        </p:nvSpPr>
        <p:spPr>
          <a:xfrm>
            <a:off x="3511550" y="5598795"/>
            <a:ext cx="145415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3941588" y="5742623"/>
            <a:ext cx="5940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IoT 传感</a:t>
            </a:r>
          </a:p>
        </p:txBody>
      </p:sp>
      <p:sp>
        <p:nvSpPr>
          <p:cNvPr id="76" name="Rectangle 76"/>
          <p:cNvSpPr/>
          <p:nvPr/>
        </p:nvSpPr>
        <p:spPr>
          <a:xfrm>
            <a:off x="5118100" y="5598795"/>
            <a:ext cx="145415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5525135" y="574262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门禁道闸</a:t>
            </a:r>
          </a:p>
        </p:txBody>
      </p:sp>
      <p:sp>
        <p:nvSpPr>
          <p:cNvPr id="78" name="Rectangle 78"/>
          <p:cNvSpPr/>
          <p:nvPr/>
        </p:nvSpPr>
        <p:spPr>
          <a:xfrm>
            <a:off x="6724650" y="5598795"/>
            <a:ext cx="145415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7131685" y="574262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能耗计量</a:t>
            </a:r>
          </a:p>
        </p:txBody>
      </p:sp>
      <p:sp>
        <p:nvSpPr>
          <p:cNvPr id="80" name="Rectangle 80"/>
          <p:cNvSpPr/>
          <p:nvPr/>
        </p:nvSpPr>
        <p:spPr>
          <a:xfrm>
            <a:off x="8331200" y="5598795"/>
            <a:ext cx="145415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8738235" y="574262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设施设备</a:t>
            </a:r>
          </a:p>
        </p:txBody>
      </p:sp>
      <p:sp>
        <p:nvSpPr>
          <p:cNvPr id="82" name="Rectangle 82"/>
          <p:cNvSpPr/>
          <p:nvPr/>
        </p:nvSpPr>
        <p:spPr>
          <a:xfrm>
            <a:off x="9937750" y="5598795"/>
            <a:ext cx="1454150" cy="4191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10344785" y="5742623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应急广播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1005852" y="536638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6 模块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558165" y="65160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04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9720929" y="6516052"/>
            <a:ext cx="19129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栖云数字 · 机密 · 仅供评审</a:t>
            </a:r>
          </a:p>
        </p:txBody>
      </p:sp>
    </p:spTree>
  </p:cSld>
  <p:clrMapOvr>
    <a:masterClrMapping/>
  </p:clrMapOvr>
  <p:transition dur="5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8B0000"/>
              </a:gs>
              <a:gs pos="100000">
                <a:srgbClr val="003366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285750"/>
            <a:ext cx="476250" cy="47625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34946" y="415290"/>
            <a:ext cx="3493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1580" y="401955"/>
            <a:ext cx="29517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实施计划与投资报价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1105" y="768668"/>
            <a:ext cx="52099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三期 12 个月、总投资 ¥608 万，分期付款与里程碑验收绑定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" y="986790"/>
            <a:ext cx="257143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分期甘特（12 个月）</a:t>
            </a:r>
          </a:p>
        </p:txBody>
      </p:sp>
      <p:sp>
        <p:nvSpPr>
          <p:cNvPr id="10" name="Line 10"/>
          <p:cNvSpPr/>
          <p:nvPr/>
        </p:nvSpPr>
        <p:spPr>
          <a:xfrm>
            <a:off x="2857500" y="13144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4E7EB">
                <a:alpha val="70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132661" y="1369695"/>
            <a:ext cx="160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M1</a:t>
            </a:r>
          </a:p>
        </p:txBody>
      </p:sp>
      <p:sp>
        <p:nvSpPr>
          <p:cNvPr id="12" name="Line 12"/>
          <p:cNvSpPr/>
          <p:nvPr/>
        </p:nvSpPr>
        <p:spPr>
          <a:xfrm>
            <a:off x="3568700" y="13144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4E7EB">
                <a:alpha val="70000"/>
              </a:srgbClr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827431" y="136969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M2</a:t>
            </a:r>
          </a:p>
        </p:txBody>
      </p:sp>
      <p:sp>
        <p:nvSpPr>
          <p:cNvPr id="14" name="Line 14"/>
          <p:cNvSpPr/>
          <p:nvPr/>
        </p:nvSpPr>
        <p:spPr>
          <a:xfrm>
            <a:off x="4279900" y="13144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4E7EB">
                <a:alpha val="70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538631" y="136969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M3</a:t>
            </a:r>
          </a:p>
        </p:txBody>
      </p:sp>
      <p:sp>
        <p:nvSpPr>
          <p:cNvPr id="16" name="Line 16"/>
          <p:cNvSpPr/>
          <p:nvPr/>
        </p:nvSpPr>
        <p:spPr>
          <a:xfrm>
            <a:off x="4991100" y="13144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4E7EB">
                <a:alpha val="70000"/>
              </a:srgbClr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249831" y="136969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M4</a:t>
            </a:r>
          </a:p>
        </p:txBody>
      </p:sp>
      <p:sp>
        <p:nvSpPr>
          <p:cNvPr id="18" name="Line 18"/>
          <p:cNvSpPr/>
          <p:nvPr/>
        </p:nvSpPr>
        <p:spPr>
          <a:xfrm>
            <a:off x="5702300" y="13144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4E7EB">
                <a:alpha val="7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961031" y="136969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M5</a:t>
            </a:r>
          </a:p>
        </p:txBody>
      </p:sp>
      <p:sp>
        <p:nvSpPr>
          <p:cNvPr id="20" name="Line 20"/>
          <p:cNvSpPr/>
          <p:nvPr/>
        </p:nvSpPr>
        <p:spPr>
          <a:xfrm>
            <a:off x="6413500" y="13144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4E7EB">
                <a:alpha val="70000"/>
              </a:srgbClr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672231" y="136969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M6</a:t>
            </a:r>
          </a:p>
        </p:txBody>
      </p:sp>
      <p:sp>
        <p:nvSpPr>
          <p:cNvPr id="22" name="Line 22"/>
          <p:cNvSpPr/>
          <p:nvPr/>
        </p:nvSpPr>
        <p:spPr>
          <a:xfrm>
            <a:off x="7124700" y="13144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4E7EB">
                <a:alpha val="70000"/>
              </a:srgbClr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83431" y="136969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M7</a:t>
            </a:r>
          </a:p>
        </p:txBody>
      </p:sp>
      <p:sp>
        <p:nvSpPr>
          <p:cNvPr id="24" name="Line 24"/>
          <p:cNvSpPr/>
          <p:nvPr/>
        </p:nvSpPr>
        <p:spPr>
          <a:xfrm>
            <a:off x="7835900" y="13144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4E7EB">
                <a:alpha val="70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094631" y="136969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M8</a:t>
            </a:r>
          </a:p>
        </p:txBody>
      </p:sp>
      <p:sp>
        <p:nvSpPr>
          <p:cNvPr id="26" name="Line 26"/>
          <p:cNvSpPr/>
          <p:nvPr/>
        </p:nvSpPr>
        <p:spPr>
          <a:xfrm>
            <a:off x="8547100" y="13144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4E7EB">
                <a:alpha val="70000"/>
              </a:srgbClr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805831" y="1369695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M9</a:t>
            </a:r>
          </a:p>
        </p:txBody>
      </p:sp>
      <p:sp>
        <p:nvSpPr>
          <p:cNvPr id="28" name="Line 28"/>
          <p:cNvSpPr/>
          <p:nvPr/>
        </p:nvSpPr>
        <p:spPr>
          <a:xfrm>
            <a:off x="9258300" y="13144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4E7EB">
                <a:alpha val="70000"/>
              </a:srgbClr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497314" y="1369695"/>
            <a:ext cx="2331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M10</a:t>
            </a:r>
          </a:p>
        </p:txBody>
      </p:sp>
      <p:sp>
        <p:nvSpPr>
          <p:cNvPr id="30" name="Line 30"/>
          <p:cNvSpPr/>
          <p:nvPr/>
        </p:nvSpPr>
        <p:spPr>
          <a:xfrm>
            <a:off x="9969500" y="13144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4E7EB">
                <a:alpha val="70000"/>
              </a:srgbClr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224945" y="1369695"/>
            <a:ext cx="2003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M11</a:t>
            </a:r>
          </a:p>
        </p:txBody>
      </p:sp>
      <p:sp>
        <p:nvSpPr>
          <p:cNvPr id="32" name="Line 32"/>
          <p:cNvSpPr/>
          <p:nvPr/>
        </p:nvSpPr>
        <p:spPr>
          <a:xfrm>
            <a:off x="10680700" y="13144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4E7EB">
                <a:alpha val="70000"/>
              </a:srgbClr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919714" y="1369695"/>
            <a:ext cx="2331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M12</a:t>
            </a:r>
          </a:p>
        </p:txBody>
      </p:sp>
      <p:sp>
        <p:nvSpPr>
          <p:cNvPr id="34" name="Line 34"/>
          <p:cNvSpPr/>
          <p:nvPr/>
        </p:nvSpPr>
        <p:spPr>
          <a:xfrm>
            <a:off x="11391900" y="131445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0"/>
                </a:moveTo>
                <a:lnTo>
                  <a:pt x="0" y="1333500"/>
                </a:lnTo>
              </a:path>
            </a:pathLst>
          </a:custGeom>
          <a:noFill/>
          <a:ln w="9525">
            <a:solidFill>
              <a:srgbClr val="E4E7EB">
                <a:alpha val="70000"/>
              </a:srgbClr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54355" y="1578292"/>
            <a:ext cx="14440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一期 · 底座建设</a:t>
            </a:r>
          </a:p>
        </p:txBody>
      </p:sp>
      <p:sp>
        <p:nvSpPr>
          <p:cNvPr id="36" name="Rectangle 36"/>
          <p:cNvSpPr/>
          <p:nvPr/>
        </p:nvSpPr>
        <p:spPr>
          <a:xfrm>
            <a:off x="2857500" y="1562100"/>
            <a:ext cx="2844800" cy="20955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2941320" y="1617345"/>
            <a:ext cx="10086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4 个月 · ¥286 万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54355" y="1940242"/>
            <a:ext cx="14440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二期 · 场景接入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02300" y="1924050"/>
            <a:ext cx="3556000" cy="2095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786120" y="1979295"/>
            <a:ext cx="9758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5 个月 · ¥194 万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4355" y="2302192"/>
            <a:ext cx="20355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A5568"/>
                </a:solidFill>
                <a:latin typeface="微软雅黑"/>
                <a:ea typeface="Microsoft YaHei"/>
                <a:cs typeface="微软雅黑"/>
              </a:rPr>
              <a:t>三期 · 运营保障与移交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258300" y="2286000"/>
            <a:ext cx="2133600" cy="209550"/>
          </a:xfrm>
          <a:prstGeom prst="rect">
            <a:avLst/>
          </a:prstGeom>
          <a:solidFill>
            <a:srgbClr val="DAA520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342120" y="2341245"/>
            <a:ext cx="9758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3 个月 · ¥128 万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48640" y="264414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投资报价（万元）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71500" y="2952750"/>
            <a:ext cx="11049000" cy="40005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710565" y="30965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分期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091815" y="3096578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时间窗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377815" y="30965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工期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520815" y="30965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金额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854315" y="3096578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交付重点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3352800"/>
            <a:ext cx="11049000" cy="4000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10565" y="3496628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一期 · 底座建设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091815" y="3496628"/>
            <a:ext cx="13071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2026.10 - 2027.01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379720" y="351282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4 个月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522720" y="3512820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0000"/>
                </a:solidFill>
                <a:latin typeface="微软雅黑"/>
                <a:ea typeface="Microsoft YaHei"/>
                <a:cs typeface="微软雅黑"/>
              </a:rPr>
              <a:t>286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854315" y="3496628"/>
            <a:ext cx="20662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感知改造 / 数据底座 / 一张图</a:t>
            </a:r>
          </a:p>
        </p:txBody>
      </p:sp>
      <p:sp>
        <p:nvSpPr>
          <p:cNvPr id="57" name="Rectangle 57"/>
          <p:cNvSpPr/>
          <p:nvPr/>
        </p:nvSpPr>
        <p:spPr>
          <a:xfrm>
            <a:off x="571500" y="3752850"/>
            <a:ext cx="11049000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710565" y="3896678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二期 · 场景接入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091815" y="3896678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2027.02 - 2027.06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379720" y="391287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5 个月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522720" y="3912870"/>
            <a:ext cx="2068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0000"/>
                </a:solidFill>
                <a:latin typeface="微软雅黑"/>
                <a:ea typeface="Microsoft YaHei"/>
                <a:cs typeface="微软雅黑"/>
              </a:rPr>
              <a:t>194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854315" y="3896678"/>
            <a:ext cx="18899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八大应用上线 / 跨部门流程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4152900"/>
            <a:ext cx="11049000" cy="4000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10565" y="4296728"/>
            <a:ext cx="15831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三期 · 运营保障与移交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091815" y="4296728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2027.07 - 2027.09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379720" y="431292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3 个月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22720" y="4312920"/>
            <a:ext cx="2068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0000"/>
                </a:solidFill>
                <a:latin typeface="微软雅黑"/>
                <a:ea typeface="Microsoft YaHei"/>
                <a:cs typeface="微软雅黑"/>
              </a:rPr>
              <a:t>128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854315" y="4296728"/>
            <a:ext cx="20662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试运行 / 知识转移 / 考核移交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4552950"/>
            <a:ext cx="11049000" cy="4000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710565" y="46967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合计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518910" y="4680585"/>
            <a:ext cx="3341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608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691688" y="4696778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含部署、定制、首年运维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54355" y="52835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付款节奏</a:t>
            </a:r>
          </a:p>
        </p:txBody>
      </p:sp>
      <p:sp>
        <p:nvSpPr>
          <p:cNvPr id="74" name="Rectangle 74"/>
          <p:cNvSpPr/>
          <p:nvPr/>
        </p:nvSpPr>
        <p:spPr>
          <a:xfrm>
            <a:off x="571500" y="5543550"/>
            <a:ext cx="3246120" cy="24765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655320" y="5617845"/>
            <a:ext cx="6735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预付款 30%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897237" y="5884545"/>
            <a:ext cx="5946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¥182.4 万</a:t>
            </a:r>
          </a:p>
        </p:txBody>
      </p:sp>
      <p:sp>
        <p:nvSpPr>
          <p:cNvPr id="77" name="Rectangle 77"/>
          <p:cNvSpPr/>
          <p:nvPr/>
        </p:nvSpPr>
        <p:spPr>
          <a:xfrm>
            <a:off x="3836670" y="5543550"/>
            <a:ext cx="4328160" cy="2476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3920490" y="5617845"/>
            <a:ext cx="6735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到货款 40%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5686996" y="5884545"/>
            <a:ext cx="6275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¥243.2 万</a:t>
            </a:r>
          </a:p>
        </p:txBody>
      </p:sp>
      <p:sp>
        <p:nvSpPr>
          <p:cNvPr id="80" name="Rectangle 80"/>
          <p:cNvSpPr/>
          <p:nvPr/>
        </p:nvSpPr>
        <p:spPr>
          <a:xfrm>
            <a:off x="8183880" y="5543550"/>
            <a:ext cx="2705100" cy="247650"/>
          </a:xfrm>
          <a:prstGeom prst="rect">
            <a:avLst/>
          </a:prstGeom>
          <a:solidFill>
            <a:srgbClr val="DAA520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8267700" y="5617845"/>
            <a:ext cx="6735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验收款 25%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239107" y="5884545"/>
            <a:ext cx="5946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¥152.0 万</a:t>
            </a:r>
          </a:p>
        </p:txBody>
      </p:sp>
      <p:sp>
        <p:nvSpPr>
          <p:cNvPr id="83" name="Rectangle 83"/>
          <p:cNvSpPr/>
          <p:nvPr/>
        </p:nvSpPr>
        <p:spPr>
          <a:xfrm>
            <a:off x="10908030" y="5543550"/>
            <a:ext cx="541020" cy="247650"/>
          </a:xfrm>
          <a:prstGeom prst="rect">
            <a:avLst/>
          </a:prstGeom>
          <a:solidFill>
            <a:srgbClr val="3182CE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10991850" y="5617845"/>
            <a:ext cx="6012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质保金 5%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0900934" y="5884545"/>
            <a:ext cx="5552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¥30.4 万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58165" y="6154102"/>
            <a:ext cx="63601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驻场团队 13 人：项目经理×1 / 系统架构师×2 / 算法工程师×3 / 实施工程师×5 / 质量与安全×2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58165" y="65160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05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9720929" y="6516052"/>
            <a:ext cx="19129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微软雅黑"/>
                <a:ea typeface="Microsoft YaHei"/>
                <a:cs typeface="微软雅黑"/>
              </a:rPr>
              <a:t>栖云数字 · 机密 · 仅供评审</a:t>
            </a:r>
          </a:p>
        </p:txBody>
      </p:sp>
    </p:spTree>
  </p:cSld>
  <p:clrMapOvr>
    <a:masterClrMapping/>
  </p:clrMapOvr>
  <p:transition dur="5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3366"/>
              </a:gs>
              <a:gs pos="100000">
                <a:srgbClr val="001A33"/>
              </a:gs>
            </a:gsLst>
            <a:lin ang="54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524564" y="1421130"/>
            <a:ext cx="514287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恳请审议 · 期待共建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30188" y="2091690"/>
            <a:ext cx="613162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DAA520"/>
                </a:solidFill>
                <a:latin typeface="微软雅黑"/>
                <a:ea typeface="Microsoft YaHei"/>
                <a:cs typeface="微软雅黑"/>
              </a:rPr>
              <a:t>澄区智慧运管中心建设项目 · 技术方案与投资建议书</a:t>
            </a:r>
          </a:p>
        </p:txBody>
      </p:sp>
      <p:sp>
        <p:nvSpPr>
          <p:cNvPr id="5" name="Rectangle 5"/>
          <p:cNvSpPr/>
          <p:nvPr/>
        </p:nvSpPr>
        <p:spPr>
          <a:xfrm>
            <a:off x="2381250" y="2667000"/>
            <a:ext cx="74295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2533650" y="2819400"/>
            <a:ext cx="381000" cy="38100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607338" y="2914650"/>
            <a:ext cx="2336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82290" y="28727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一次立项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50105" y="2921318"/>
            <a:ext cx="37804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BD5E1"/>
                </a:solidFill>
                <a:latin typeface="微软雅黑"/>
                <a:ea typeface="Microsoft YaHei"/>
                <a:cs typeface="微软雅黑"/>
              </a:rPr>
              <a:t>按三期滚动实施，每期验收后再进入下一期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381250" y="3543300"/>
            <a:ext cx="74295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2533650" y="3695700"/>
            <a:ext cx="381000" cy="38100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578584" y="379095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82290" y="37490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两地试点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50105" y="3797618"/>
            <a:ext cx="37804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BD5E1"/>
                </a:solidFill>
                <a:latin typeface="微软雅黑"/>
                <a:ea typeface="Microsoft YaHei"/>
                <a:cs typeface="微软雅黑"/>
              </a:rPr>
              <a:t>先落地澄区北苑园区与云谷路两个示范片区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381250" y="4419600"/>
            <a:ext cx="7429500" cy="6858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2533650" y="4572000"/>
            <a:ext cx="381000" cy="381000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578584" y="466725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82290" y="46253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三方共管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50105" y="4673918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BD5E1"/>
                </a:solidFill>
                <a:latin typeface="微软雅黑"/>
                <a:ea typeface="Microsoft YaHei"/>
                <a:cs typeface="微软雅黑"/>
              </a:rPr>
              <a:t>管委会、运营公司与栖云数字共建联合工作组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82394" y="6173152"/>
            <a:ext cx="70272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AA520"/>
                </a:solidFill>
                <a:latin typeface="微软雅黑"/>
                <a:ea typeface="Microsoft YaHei"/>
                <a:cs typeface="微软雅黑"/>
              </a:rPr>
              <a:t>栖云数字科技有限公司 · 0571-8688-0000 · proposal@qiyun.example · 澄区云栖路 1 号 · 数字港 B 座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DAA520"/>
          </a:solidFill>
          <a:ln>
            <a:noFill/>
          </a:ln>
        </p:spPr>
      </p:sp>
    </p:spTree>
  </p:cSld>
  <p:clrMapOvr>
    <a:masterClrMapping/>
  </p:clrMapOvr>
  <p:transition 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