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8D7"/>
              </a:gs>
              <a:gs pos="100000">
                <a:srgbClr val="002E5D"/>
              </a:gs>
            </a:gsLst>
            <a:lin ang="5400000" scaled="1"/>
          </a:gra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096000" y="5588000"/>
            <a:ext cx="12192000" cy="1270000"/>
          </a:xfrm>
          <a:custGeom>
            <a:avLst/>
            <a:gdLst/>
            <a:ahLst/>
            <a:cxnLst/>
            <a:rect l="l" t="t" r="r" b="b"/>
            <a:pathLst>
              <a:path w="12192000" h="1270000">
                <a:moveTo>
                  <a:pt x="0" y="1270000"/>
                </a:moveTo>
                <a:cubicBezTo>
                  <a:pt x="2032000" y="254000"/>
                  <a:pt x="4064000" y="0"/>
                  <a:pt x="6096000" y="508000"/>
                </a:cubicBezTo>
                <a:cubicBezTo>
                  <a:pt x="8128000" y="1016000"/>
                  <a:pt x="10160000" y="857250"/>
                  <a:pt x="12192000" y="31750"/>
                </a:cubicBezTo>
                <a:lnTo>
                  <a:pt x="12192000" y="1270000"/>
                </a:lnTo>
                <a:close/>
              </a:path>
            </a:pathLst>
          </a:custGeom>
          <a:solidFill>
            <a:srgbClr val="4CA1E7">
              <a:alpha val="18000"/>
            </a:srgbClr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0" y="609600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762000"/>
                </a:moveTo>
                <a:cubicBezTo>
                  <a:pt x="2032000" y="152400"/>
                  <a:pt x="4064000" y="0"/>
                  <a:pt x="6096000" y="304800"/>
                </a:cubicBezTo>
                <a:cubicBezTo>
                  <a:pt x="8128000" y="609600"/>
                  <a:pt x="10160000" y="514350"/>
                  <a:pt x="12192000" y="19050"/>
                </a:cubicBezTo>
                <a:lnTo>
                  <a:pt x="12192000" y="762000"/>
                </a:lnTo>
                <a:close/>
              </a:path>
            </a:pathLst>
          </a:custGeom>
          <a:solidFill>
            <a:srgbClr val="002E5D">
              <a:alpha val="55000"/>
            </a:srgbClr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10096500" y="1122045"/>
            <a:ext cx="1143000" cy="994410"/>
          </a:xfrm>
          <a:custGeom>
            <a:avLst/>
            <a:gdLst/>
            <a:ahLst/>
            <a:cxnLst/>
            <a:rect l="l" t="t" r="r" b="b"/>
            <a:pathLst>
              <a:path w="1143000" h="994410">
                <a:moveTo>
                  <a:pt x="1143000" y="497205"/>
                </a:moveTo>
                <a:lnTo>
                  <a:pt x="857250" y="0"/>
                </a:lnTo>
                <a:lnTo>
                  <a:pt x="285750" y="0"/>
                </a:lnTo>
                <a:lnTo>
                  <a:pt x="0" y="497205"/>
                </a:lnTo>
                <a:lnTo>
                  <a:pt x="285750" y="994410"/>
                </a:lnTo>
                <a:lnTo>
                  <a:pt x="857250" y="994410"/>
                </a:lnTo>
                <a:close/>
              </a:path>
            </a:pathLst>
          </a:custGeom>
          <a:noFill/>
          <a:ln w="19050">
            <a:solidFill>
              <a:srgbClr val="A0C4E3">
                <a:alpha val="50000"/>
              </a:srgbClr>
            </a:solidFill>
          </a:ln>
        </p:spPr>
      </p:sp>
      <p:sp>
        <p:nvSpPr>
          <p:cNvPr id="6" name="Polygon 6"/>
          <p:cNvSpPr/>
          <p:nvPr/>
        </p:nvSpPr>
        <p:spPr>
          <a:xfrm>
            <a:off x="9791700" y="857250"/>
            <a:ext cx="1752600" cy="1524000"/>
          </a:xfrm>
          <a:custGeom>
            <a:avLst/>
            <a:gdLst/>
            <a:ahLst/>
            <a:cxnLst/>
            <a:rect l="l" t="t" r="r" b="b"/>
            <a:pathLst>
              <a:path w="1752600" h="1524000">
                <a:moveTo>
                  <a:pt x="1752600" y="762000"/>
                </a:moveTo>
                <a:lnTo>
                  <a:pt x="1314450" y="0"/>
                </a:lnTo>
                <a:lnTo>
                  <a:pt x="438150" y="0"/>
                </a:lnTo>
                <a:lnTo>
                  <a:pt x="0" y="762000"/>
                </a:lnTo>
                <a:lnTo>
                  <a:pt x="438150" y="1524000"/>
                </a:lnTo>
                <a:lnTo>
                  <a:pt x="1314450" y="1524000"/>
                </a:lnTo>
                <a:close/>
              </a:path>
            </a:pathLst>
          </a:custGeom>
          <a:noFill/>
          <a:ln w="19050">
            <a:solidFill>
              <a:srgbClr val="A0C4E3">
                <a:alpha val="28000"/>
              </a:srgbClr>
            </a:solidFill>
          </a:ln>
        </p:spPr>
      </p:sp>
      <p:sp>
        <p:nvSpPr>
          <p:cNvPr id="7" name="Polygon 7"/>
          <p:cNvSpPr/>
          <p:nvPr/>
        </p:nvSpPr>
        <p:spPr>
          <a:xfrm>
            <a:off x="9372600" y="2165985"/>
            <a:ext cx="495300" cy="430530"/>
          </a:xfrm>
          <a:custGeom>
            <a:avLst/>
            <a:gdLst/>
            <a:ahLst/>
            <a:cxnLst/>
            <a:rect l="l" t="t" r="r" b="b"/>
            <a:pathLst>
              <a:path w="495300" h="430530">
                <a:moveTo>
                  <a:pt x="495300" y="215265"/>
                </a:moveTo>
                <a:lnTo>
                  <a:pt x="371475" y="0"/>
                </a:lnTo>
                <a:lnTo>
                  <a:pt x="123825" y="0"/>
                </a:lnTo>
                <a:lnTo>
                  <a:pt x="0" y="215265"/>
                </a:lnTo>
                <a:lnTo>
                  <a:pt x="123825" y="430530"/>
                </a:lnTo>
                <a:lnTo>
                  <a:pt x="371475" y="430530"/>
                </a:lnTo>
                <a:close/>
              </a:path>
            </a:pathLst>
          </a:custGeom>
          <a:noFill/>
          <a:ln w="19050">
            <a:solidFill>
              <a:srgbClr val="A0C4E3">
                <a:alpha val="4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01040" y="2339340"/>
            <a:ext cx="895502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澄区智慧运管中心建设项目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143250"/>
            <a:ext cx="3695700" cy="438150"/>
          </a:xfrm>
          <a:prstGeom prst="rect">
            <a:avLst/>
          </a:prstGeom>
          <a:solidFill>
            <a:srgbClr val="4CA1E7">
              <a:alpha val="92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9640" y="3253740"/>
            <a:ext cx="28060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2E5D"/>
                </a:solidFill>
                <a:latin typeface="Segoe UI"/>
                <a:ea typeface="Microsoft YaHei"/>
                <a:cs typeface="Segoe UI"/>
              </a:rPr>
              <a:t>技术方案与投资建议书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760" y="41757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0C4E3"/>
                </a:solidFill>
                <a:latin typeface="Segoe UI"/>
                <a:ea typeface="Microsoft YaHei"/>
                <a:cs typeface="Segoe UI"/>
              </a:rPr>
              <a:t>致：澄区数字化管理办公室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4442460"/>
            <a:ext cx="53583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0C4E3"/>
                </a:solidFill>
                <a:latin typeface="Segoe UI"/>
                <a:ea typeface="Microsoft YaHei"/>
                <a:cs typeface="Segoe UI"/>
              </a:rPr>
              <a:t>栖云数字科技有限公司 · 2026 年 9 月 · 方案编号 CQ-IOC-2026-017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617315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 val="85000"/>
                  </a:srgbClr>
                </a:solidFill>
                <a:latin typeface="Segoe UI"/>
                <a:ea typeface="Microsoft YaHei"/>
                <a:cs typeface="Segoe UI"/>
              </a:rPr>
              <a:t>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95250" cy="38100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90550" y="571500"/>
            <a:ext cx="3409950" cy="9525"/>
          </a:xfrm>
          <a:custGeom>
            <a:avLst/>
            <a:gdLst/>
            <a:ahLst/>
            <a:cxnLst/>
            <a:rect l="l" t="t" r="r" b="b"/>
            <a:pathLst>
              <a:path w="3409950" h="9525">
                <a:moveTo>
                  <a:pt x="0" y="0"/>
                </a:moveTo>
                <a:lnTo>
                  <a:pt x="3409950" y="0"/>
                </a:lnTo>
              </a:path>
            </a:pathLst>
          </a:custGeom>
          <a:noFill/>
          <a:ln w="9525">
            <a:solidFill>
              <a:srgbClr val="A0C4E3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gradFill>
            <a:gsLst>
              <a:gs pos="0">
                <a:srgbClr val="002E5D"/>
              </a:gs>
              <a:gs pos="100000">
                <a:srgbClr val="0078D7"/>
              </a:gs>
            </a:gsLst>
            <a:lin ang="540000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37210" y="2756535"/>
            <a:ext cx="8966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目录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8165" y="3277552"/>
            <a:ext cx="7320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C4E3"/>
                </a:solidFill>
                <a:latin typeface="Segoe UI"/>
                <a:ea typeface="Microsoft YaHei"/>
                <a:cs typeface="Segoe UI"/>
              </a:rPr>
              <a:t>CONTENTS</a:t>
            </a:r>
          </a:p>
        </p:txBody>
      </p:sp>
      <p:sp>
        <p:nvSpPr>
          <p:cNvPr id="8" name="Line 8"/>
          <p:cNvSpPr/>
          <p:nvPr/>
        </p:nvSpPr>
        <p:spPr>
          <a:xfrm>
            <a:off x="571500" y="3714750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28575">
            <a:solidFill>
              <a:srgbClr val="4CA1E7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4000500" y="1457325"/>
            <a:ext cx="114300" cy="11430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244340" y="140589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现状与问题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47977" y="14868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P3</a:t>
            </a:r>
          </a:p>
        </p:txBody>
      </p:sp>
      <p:sp>
        <p:nvSpPr>
          <p:cNvPr id="12" name="Line 12"/>
          <p:cNvSpPr/>
          <p:nvPr/>
        </p:nvSpPr>
        <p:spPr>
          <a:xfrm>
            <a:off x="4000500" y="1981200"/>
            <a:ext cx="7429500" cy="9525"/>
          </a:xfrm>
          <a:custGeom>
            <a:avLst/>
            <a:gdLst/>
            <a:ahLst/>
            <a:cxnLst/>
            <a:rect l="l" t="t" r="r" b="b"/>
            <a:pathLst>
              <a:path w="7429500" h="9525">
                <a:moveTo>
                  <a:pt x="0" y="0"/>
                </a:moveTo>
                <a:lnTo>
                  <a:pt x="7429500" y="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000500" y="2371725"/>
            <a:ext cx="114300" cy="11430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244340" y="23202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总体架构设计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47977" y="24012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P4</a:t>
            </a:r>
          </a:p>
        </p:txBody>
      </p:sp>
      <p:sp>
        <p:nvSpPr>
          <p:cNvPr id="16" name="Line 16"/>
          <p:cNvSpPr/>
          <p:nvPr/>
        </p:nvSpPr>
        <p:spPr>
          <a:xfrm>
            <a:off x="4000500" y="2895600"/>
            <a:ext cx="7429500" cy="9525"/>
          </a:xfrm>
          <a:custGeom>
            <a:avLst/>
            <a:gdLst/>
            <a:ahLst/>
            <a:cxnLst/>
            <a:rect l="l" t="t" r="r" b="b"/>
            <a:pathLst>
              <a:path w="7429500" h="9525">
                <a:moveTo>
                  <a:pt x="0" y="0"/>
                </a:moveTo>
                <a:lnTo>
                  <a:pt x="7429500" y="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000500" y="3286125"/>
            <a:ext cx="114300" cy="11430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244340" y="323469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实施计划与里程碑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47977" y="33156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P5</a:t>
            </a:r>
          </a:p>
        </p:txBody>
      </p:sp>
      <p:sp>
        <p:nvSpPr>
          <p:cNvPr id="20" name="Line 20"/>
          <p:cNvSpPr/>
          <p:nvPr/>
        </p:nvSpPr>
        <p:spPr>
          <a:xfrm>
            <a:off x="4000500" y="3810000"/>
            <a:ext cx="7429500" cy="9525"/>
          </a:xfrm>
          <a:custGeom>
            <a:avLst/>
            <a:gdLst/>
            <a:ahLst/>
            <a:cxnLst/>
            <a:rect l="l" t="t" r="r" b="b"/>
            <a:pathLst>
              <a:path w="7429500" h="9525">
                <a:moveTo>
                  <a:pt x="0" y="0"/>
                </a:moveTo>
                <a:lnTo>
                  <a:pt x="7429500" y="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000500" y="4200525"/>
            <a:ext cx="114300" cy="11430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244340" y="41490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投资报价与付款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47977" y="42300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P5</a:t>
            </a:r>
          </a:p>
        </p:txBody>
      </p:sp>
      <p:sp>
        <p:nvSpPr>
          <p:cNvPr id="24" name="Line 24"/>
          <p:cNvSpPr/>
          <p:nvPr/>
        </p:nvSpPr>
        <p:spPr>
          <a:xfrm>
            <a:off x="4000500" y="4724400"/>
            <a:ext cx="7429500" cy="9525"/>
          </a:xfrm>
          <a:custGeom>
            <a:avLst/>
            <a:gdLst/>
            <a:ahLst/>
            <a:cxnLst/>
            <a:rect l="l" t="t" r="r" b="b"/>
            <a:pathLst>
              <a:path w="7429500" h="9525">
                <a:moveTo>
                  <a:pt x="0" y="0"/>
                </a:moveTo>
                <a:lnTo>
                  <a:pt x="7429500" y="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4000500" y="5114925"/>
            <a:ext cx="114300" cy="11430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244340" y="50634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服务保障与合作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47977" y="51444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P6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8665" y="65160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30429" y="6516052"/>
            <a:ext cx="19129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栖云数字 · 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95250" cy="38100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90550" y="571500"/>
            <a:ext cx="3409950" cy="9525"/>
          </a:xfrm>
          <a:custGeom>
            <a:avLst/>
            <a:gdLst/>
            <a:ahLst/>
            <a:cxnLst/>
            <a:rect l="l" t="t" r="r" b="b"/>
            <a:pathLst>
              <a:path w="3409950" h="9525">
                <a:moveTo>
                  <a:pt x="0" y="0"/>
                </a:moveTo>
                <a:lnTo>
                  <a:pt x="3409950" y="0"/>
                </a:lnTo>
              </a:path>
            </a:pathLst>
          </a:custGeom>
          <a:noFill/>
          <a:ln w="9525">
            <a:solidFill>
              <a:srgbClr val="A0C4E3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71500" y="1333500"/>
            <a:ext cx="11049000" cy="4762500"/>
          </a:xfrm>
          <a:prstGeom prst="rect">
            <a:avLst/>
          </a:prstGeom>
          <a:noFill/>
          <a:ln w="19050">
            <a:solidFill>
              <a:srgbClr val="A0C4E3"/>
            </a:solidFill>
            <a:prstDash val="dash"/>
          </a:ln>
        </p:spPr>
      </p:sp>
      <p:sp>
        <p:nvSpPr>
          <p:cNvPr id="6" name="TextBox 6"/>
          <p:cNvSpPr txBox="1"/>
          <p:nvPr/>
        </p:nvSpPr>
        <p:spPr>
          <a:xfrm>
            <a:off x="556260" y="58483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现状与问题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5310" y="1013460"/>
            <a:ext cx="57614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事件高位增长、响应近考核基线 3 倍，24 个子系统仅 9 个完成平台化接入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428750"/>
            <a:ext cx="2524125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A0C4E3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33450" y="160972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日均告警事件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8210" y="2051685"/>
            <a:ext cx="110370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78D7"/>
                </a:solidFill>
                <a:latin typeface="Segoe UI"/>
                <a:ea typeface="Microsoft YaHei"/>
                <a:cs typeface="Segoe UI"/>
              </a:rPr>
              <a:t>2,140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9165" y="2496502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条 · 人工核查占 78%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476625" y="1428750"/>
            <a:ext cx="2524125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A0C4E3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648075" y="160972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平均事件响应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32835" y="20516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60012"/>
                </a:solidFill>
                <a:latin typeface="Segoe UI"/>
                <a:ea typeface="Microsoft YaHei"/>
                <a:cs typeface="Segoe UI"/>
              </a:rPr>
              <a:t>86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53790" y="2496502"/>
            <a:ext cx="17748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分钟 · 考核基线 ≤30 分钟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91250" y="1428750"/>
            <a:ext cx="2524125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A0C4E3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362700" y="160972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跨部门协同率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47460" y="20516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78D7"/>
                </a:solidFill>
                <a:latin typeface="Segoe UI"/>
                <a:ea typeface="Microsoft YaHei"/>
                <a:cs typeface="Segoe UI"/>
              </a:rPr>
              <a:t>37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68415" y="2496502"/>
            <a:ext cx="11308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% · 目标值 ≥80%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905875" y="1428750"/>
            <a:ext cx="2524125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A0C4E3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77325" y="160972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子系统平台化接入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62085" y="2051685"/>
            <a:ext cx="9794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78D7"/>
                </a:solidFill>
                <a:latin typeface="Segoe UI"/>
                <a:ea typeface="Microsoft YaHei"/>
                <a:cs typeface="Segoe UI"/>
              </a:rPr>
              <a:t>9/24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83040" y="2496502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个（已接入 / 应接入）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3286125"/>
            <a:ext cx="10668000" cy="2381250"/>
          </a:xfrm>
          <a:prstGeom prst="rect">
            <a:avLst/>
          </a:prstGeom>
          <a:solidFill>
            <a:srgbClr val="FFFFFF"/>
          </a:solidFill>
          <a:ln w="19050">
            <a:solidFill>
              <a:srgbClr val="A0C4E3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67740" y="3434715"/>
            <a:ext cx="30821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事件来源年度分布（起）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68271" y="3515678"/>
            <a:ext cx="10464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合计 12,860 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44193" y="3918585"/>
            <a:ext cx="9856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视频 AI 识别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667000" y="3886200"/>
            <a:ext cx="7620000" cy="1714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368915" y="392525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5,830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00378" y="4242435"/>
            <a:ext cx="10294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IoT 传感设备</a:t>
            </a:r>
          </a:p>
        </p:txBody>
      </p:sp>
      <p:sp>
        <p:nvSpPr>
          <p:cNvPr id="31" name="Rectangle 31"/>
          <p:cNvSpPr/>
          <p:nvPr/>
        </p:nvSpPr>
        <p:spPr>
          <a:xfrm>
            <a:off x="2667000" y="4210050"/>
            <a:ext cx="4077652" cy="171450"/>
          </a:xfrm>
          <a:prstGeom prst="rect">
            <a:avLst/>
          </a:prstGeom>
          <a:solidFill>
            <a:srgbClr val="002E5D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826568" y="42491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3,120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72540" y="4566285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网格员人工上报</a:t>
            </a:r>
          </a:p>
        </p:txBody>
      </p:sp>
      <p:sp>
        <p:nvSpPr>
          <p:cNvPr id="34" name="Rectangle 34"/>
          <p:cNvSpPr/>
          <p:nvPr/>
        </p:nvSpPr>
        <p:spPr>
          <a:xfrm>
            <a:off x="2667000" y="4533900"/>
            <a:ext cx="2692718" cy="17145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441633" y="457295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2,060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58112" y="4890135"/>
            <a:ext cx="8717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12345 热线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2667000" y="4857750"/>
            <a:ext cx="1738312" cy="171450"/>
          </a:xfrm>
          <a:prstGeom prst="rect">
            <a:avLst/>
          </a:prstGeom>
          <a:solidFill>
            <a:srgbClr val="A0C4E3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487228" y="48968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1,330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98320" y="521398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其他渠道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667000" y="5181600"/>
            <a:ext cx="680085" cy="17145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3429000" y="522065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520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48665" y="65160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530429" y="6516052"/>
            <a:ext cx="19129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栖云数字 · 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95250" cy="38100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90550" y="571500"/>
            <a:ext cx="3409950" cy="9525"/>
          </a:xfrm>
          <a:custGeom>
            <a:avLst/>
            <a:gdLst/>
            <a:ahLst/>
            <a:cxnLst/>
            <a:rect l="l" t="t" r="r" b="b"/>
            <a:pathLst>
              <a:path w="3409950" h="9525">
                <a:moveTo>
                  <a:pt x="0" y="0"/>
                </a:moveTo>
                <a:lnTo>
                  <a:pt x="3409950" y="0"/>
                </a:lnTo>
              </a:path>
            </a:pathLst>
          </a:custGeom>
          <a:noFill/>
          <a:ln w="9525">
            <a:solidFill>
              <a:srgbClr val="A0C4E3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71500" y="1333500"/>
            <a:ext cx="11049000" cy="4762500"/>
          </a:xfrm>
          <a:prstGeom prst="rect">
            <a:avLst/>
          </a:prstGeom>
          <a:noFill/>
          <a:ln w="19050">
            <a:solidFill>
              <a:srgbClr val="A0C4E3"/>
            </a:solidFill>
            <a:prstDash val="dash"/>
          </a:ln>
        </p:spPr>
      </p:sp>
      <p:sp>
        <p:nvSpPr>
          <p:cNvPr id="6" name="TextBox 6"/>
          <p:cNvSpPr txBox="1"/>
          <p:nvPr/>
        </p:nvSpPr>
        <p:spPr>
          <a:xfrm>
            <a:off x="556260" y="58483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总体架构设计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5310" y="1013460"/>
            <a:ext cx="41841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五层 28 个能力模块：一次接入、集中治理、按需编排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714500"/>
            <a:ext cx="10668000" cy="765810"/>
          </a:xfrm>
          <a:prstGeom prst="rect">
            <a:avLst/>
          </a:prstGeom>
          <a:solidFill>
            <a:srgbClr val="FFFFFF"/>
          </a:solidFill>
          <a:ln w="19050">
            <a:solidFill>
              <a:srgbClr val="A0C4E3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714500"/>
            <a:ext cx="1143000" cy="76581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96588" y="196977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应用层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095500" y="1887855"/>
            <a:ext cx="1004888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323624" y="20478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态势总览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252788" y="1887855"/>
            <a:ext cx="1004888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480911" y="20478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事件调度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410075" y="1887855"/>
            <a:ext cx="1004888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638199" y="20478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巡更设施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567362" y="1887855"/>
            <a:ext cx="1004888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795486" y="20478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能耗双碳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724650" y="1887855"/>
            <a:ext cx="1004888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952774" y="20478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应急指挥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881938" y="1887855"/>
            <a:ext cx="1004888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110061" y="20478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考核分析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039225" y="1887855"/>
            <a:ext cx="1004888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267349" y="20478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企业服务</a:t>
            </a:r>
          </a:p>
        </p:txBody>
      </p:sp>
      <p:sp>
        <p:nvSpPr>
          <p:cNvPr id="25" name="Rectangle 25"/>
          <p:cNvSpPr/>
          <p:nvPr/>
        </p:nvSpPr>
        <p:spPr>
          <a:xfrm>
            <a:off x="10196512" y="1887855"/>
            <a:ext cx="1004888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424636" y="20478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惠民服务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15352" y="1750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8 模块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2594610"/>
            <a:ext cx="10668000" cy="765810"/>
          </a:xfrm>
          <a:prstGeom prst="rect">
            <a:avLst/>
          </a:prstGeom>
          <a:solidFill>
            <a:srgbClr val="FFFFFF"/>
          </a:solidFill>
          <a:ln w="19050">
            <a:solidFill>
              <a:srgbClr val="A0C4E3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2594610"/>
            <a:ext cx="1143000" cy="765810"/>
          </a:xfrm>
          <a:prstGeom prst="rect">
            <a:avLst/>
          </a:prstGeom>
          <a:solidFill>
            <a:srgbClr val="002E5D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96588" y="284988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平台层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2095500" y="2767965"/>
            <a:ext cx="139065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459284" y="2911792"/>
            <a:ext cx="6630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AI 算法仓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3638550" y="2767965"/>
            <a:ext cx="139065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960162" y="2911792"/>
            <a:ext cx="7474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GIS 一张图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181600" y="2767965"/>
            <a:ext cx="139065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556885" y="291179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物联接入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724650" y="2767965"/>
            <a:ext cx="139065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099935" y="291179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流程引擎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267700" y="2767965"/>
            <a:ext cx="139065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642985" y="291179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数字孪生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810750" y="2767965"/>
            <a:ext cx="139065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186035" y="291179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开放平台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815352" y="263080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6 模块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" y="3474720"/>
            <a:ext cx="10668000" cy="765810"/>
          </a:xfrm>
          <a:prstGeom prst="rect">
            <a:avLst/>
          </a:prstGeom>
          <a:solidFill>
            <a:srgbClr val="FFFFFF"/>
          </a:solidFill>
          <a:ln w="19050">
            <a:solidFill>
              <a:srgbClr val="A0C4E3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762000" y="3474720"/>
            <a:ext cx="1143000" cy="76581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96588" y="37299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数据层</a:t>
            </a:r>
          </a:p>
        </p:txBody>
      </p:sp>
      <p:sp>
        <p:nvSpPr>
          <p:cNvPr id="47" name="Rectangle 47"/>
          <p:cNvSpPr/>
          <p:nvPr/>
        </p:nvSpPr>
        <p:spPr>
          <a:xfrm>
            <a:off x="2095500" y="3648075"/>
            <a:ext cx="169926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625090" y="37919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数据汇聚</a:t>
            </a:r>
          </a:p>
        </p:txBody>
      </p:sp>
      <p:sp>
        <p:nvSpPr>
          <p:cNvPr id="49" name="Rectangle 49"/>
          <p:cNvSpPr/>
          <p:nvPr/>
        </p:nvSpPr>
        <p:spPr>
          <a:xfrm>
            <a:off x="3947160" y="3648075"/>
            <a:ext cx="169926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4476750" y="37919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数据治理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98820" y="3648075"/>
            <a:ext cx="169926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28410" y="37919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数据共享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650480" y="3648075"/>
            <a:ext cx="169926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180070" y="37919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数据安全</a:t>
            </a:r>
          </a:p>
        </p:txBody>
      </p:sp>
      <p:sp>
        <p:nvSpPr>
          <p:cNvPr id="55" name="Rectangle 55"/>
          <p:cNvSpPr/>
          <p:nvPr/>
        </p:nvSpPr>
        <p:spPr>
          <a:xfrm>
            <a:off x="9502140" y="3648075"/>
            <a:ext cx="169926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0031730" y="37919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数据资产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815352" y="351091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5 模块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62000" y="4354830"/>
            <a:ext cx="10668000" cy="765810"/>
          </a:xfrm>
          <a:prstGeom prst="rect">
            <a:avLst/>
          </a:prstGeom>
          <a:solidFill>
            <a:srgbClr val="FFFFFF"/>
          </a:solidFill>
          <a:ln w="19050">
            <a:solidFill>
              <a:srgbClr val="A0C4E3"/>
            </a:solidFill>
          </a:ln>
        </p:spPr>
      </p:sp>
      <p:sp>
        <p:nvSpPr>
          <p:cNvPr id="59" name="Rectangle 59"/>
          <p:cNvSpPr/>
          <p:nvPr/>
        </p:nvSpPr>
        <p:spPr>
          <a:xfrm>
            <a:off x="762000" y="4354830"/>
            <a:ext cx="1143000" cy="765810"/>
          </a:xfrm>
          <a:prstGeom prst="rect">
            <a:avLst/>
          </a:prstGeom>
          <a:solidFill>
            <a:srgbClr val="002E5D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6588" y="461010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网络层</a:t>
            </a:r>
          </a:p>
        </p:txBody>
      </p:sp>
      <p:sp>
        <p:nvSpPr>
          <p:cNvPr id="61" name="Rectangle 61"/>
          <p:cNvSpPr/>
          <p:nvPr/>
        </p:nvSpPr>
        <p:spPr>
          <a:xfrm>
            <a:off x="2095500" y="4528185"/>
            <a:ext cx="293370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3242310" y="467201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政务外网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181600" y="4528185"/>
            <a:ext cx="293370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374416" y="4672012"/>
            <a:ext cx="5480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5G 切片</a:t>
            </a:r>
          </a:p>
        </p:txBody>
      </p:sp>
      <p:sp>
        <p:nvSpPr>
          <p:cNvPr id="65" name="Rectangle 65"/>
          <p:cNvSpPr/>
          <p:nvPr/>
        </p:nvSpPr>
        <p:spPr>
          <a:xfrm>
            <a:off x="8267700" y="4528185"/>
            <a:ext cx="293370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9414510" y="467201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物联专网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815352" y="439102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3 模块</a:t>
            </a:r>
          </a:p>
        </p:txBody>
      </p:sp>
      <p:sp>
        <p:nvSpPr>
          <p:cNvPr id="68" name="Rectangle 68"/>
          <p:cNvSpPr/>
          <p:nvPr/>
        </p:nvSpPr>
        <p:spPr>
          <a:xfrm>
            <a:off x="762000" y="5234940"/>
            <a:ext cx="10668000" cy="765810"/>
          </a:xfrm>
          <a:prstGeom prst="rect">
            <a:avLst/>
          </a:prstGeom>
          <a:solidFill>
            <a:srgbClr val="FFFFFF"/>
          </a:solidFill>
          <a:ln w="19050">
            <a:solidFill>
              <a:srgbClr val="A0C4E3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762000" y="5234940"/>
            <a:ext cx="1143000" cy="76581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896588" y="549021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感知层</a:t>
            </a:r>
          </a:p>
        </p:txBody>
      </p:sp>
      <p:sp>
        <p:nvSpPr>
          <p:cNvPr id="71" name="Rectangle 71"/>
          <p:cNvSpPr/>
          <p:nvPr/>
        </p:nvSpPr>
        <p:spPr>
          <a:xfrm>
            <a:off x="2095500" y="5408295"/>
            <a:ext cx="139065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2470785" y="55521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视频监控</a:t>
            </a:r>
          </a:p>
        </p:txBody>
      </p:sp>
      <p:sp>
        <p:nvSpPr>
          <p:cNvPr id="73" name="Rectangle 73"/>
          <p:cNvSpPr/>
          <p:nvPr/>
        </p:nvSpPr>
        <p:spPr>
          <a:xfrm>
            <a:off x="3638550" y="5408295"/>
            <a:ext cx="139065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4036838" y="5552123"/>
            <a:ext cx="5940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IoT 传感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181600" y="5408295"/>
            <a:ext cx="139065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5556885" y="55521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门禁道闸</a:t>
            </a:r>
          </a:p>
        </p:txBody>
      </p:sp>
      <p:sp>
        <p:nvSpPr>
          <p:cNvPr id="77" name="Rectangle 77"/>
          <p:cNvSpPr/>
          <p:nvPr/>
        </p:nvSpPr>
        <p:spPr>
          <a:xfrm>
            <a:off x="6724650" y="5408295"/>
            <a:ext cx="139065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7099935" y="55521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能耗计量</a:t>
            </a:r>
          </a:p>
        </p:txBody>
      </p:sp>
      <p:sp>
        <p:nvSpPr>
          <p:cNvPr id="79" name="Rectangle 79"/>
          <p:cNvSpPr/>
          <p:nvPr/>
        </p:nvSpPr>
        <p:spPr>
          <a:xfrm>
            <a:off x="8267700" y="5408295"/>
            <a:ext cx="139065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8642985" y="55521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设施设备</a:t>
            </a:r>
          </a:p>
        </p:txBody>
      </p:sp>
      <p:sp>
        <p:nvSpPr>
          <p:cNvPr id="81" name="Rectangle 81"/>
          <p:cNvSpPr/>
          <p:nvPr/>
        </p:nvSpPr>
        <p:spPr>
          <a:xfrm>
            <a:off x="9810750" y="5408295"/>
            <a:ext cx="1390650" cy="4191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10186035" y="55521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应急广播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815352" y="527113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6 模块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48665" y="65160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04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530429" y="6516052"/>
            <a:ext cx="19129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栖云数字 · 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95250" cy="38100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90550" y="571500"/>
            <a:ext cx="3409950" cy="9525"/>
          </a:xfrm>
          <a:custGeom>
            <a:avLst/>
            <a:gdLst/>
            <a:ahLst/>
            <a:cxnLst/>
            <a:rect l="l" t="t" r="r" b="b"/>
            <a:pathLst>
              <a:path w="3409950" h="9525">
                <a:moveTo>
                  <a:pt x="0" y="0"/>
                </a:moveTo>
                <a:lnTo>
                  <a:pt x="3409950" y="0"/>
                </a:lnTo>
              </a:path>
            </a:pathLst>
          </a:custGeom>
          <a:noFill/>
          <a:ln w="9525">
            <a:solidFill>
              <a:srgbClr val="A0C4E3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71500" y="1333500"/>
            <a:ext cx="11049000" cy="4762500"/>
          </a:xfrm>
          <a:prstGeom prst="rect">
            <a:avLst/>
          </a:prstGeom>
          <a:noFill/>
          <a:ln w="19050">
            <a:solidFill>
              <a:srgbClr val="A0C4E3"/>
            </a:solidFill>
            <a:prstDash val="dash"/>
          </a:ln>
        </p:spPr>
      </p:sp>
      <p:sp>
        <p:nvSpPr>
          <p:cNvPr id="6" name="TextBox 6"/>
          <p:cNvSpPr txBox="1"/>
          <p:nvPr/>
        </p:nvSpPr>
        <p:spPr>
          <a:xfrm>
            <a:off x="556260" y="58483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实施计划与投资报价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5310" y="1013460"/>
            <a:ext cx="46310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三期 12 个月、总投资 ¥608 万，分期付款与里程碑验收绑定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9140" y="1653540"/>
            <a:ext cx="257143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分期甘特（12 个月）</a:t>
            </a:r>
          </a:p>
        </p:txBody>
      </p:sp>
      <p:sp>
        <p:nvSpPr>
          <p:cNvPr id="9" name="Line 9"/>
          <p:cNvSpPr/>
          <p:nvPr/>
        </p:nvSpPr>
        <p:spPr>
          <a:xfrm>
            <a:off x="3048000" y="19812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A0C4E3">
                <a:alpha val="70000"/>
              </a:srgbClr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307286" y="2036445"/>
            <a:ext cx="160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M1</a:t>
            </a:r>
          </a:p>
        </p:txBody>
      </p:sp>
      <p:sp>
        <p:nvSpPr>
          <p:cNvPr id="11" name="Line 11"/>
          <p:cNvSpPr/>
          <p:nvPr/>
        </p:nvSpPr>
        <p:spPr>
          <a:xfrm>
            <a:off x="3727450" y="19812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A0C4E3">
                <a:alpha val="7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970306" y="203644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M2</a:t>
            </a:r>
          </a:p>
        </p:txBody>
      </p:sp>
      <p:sp>
        <p:nvSpPr>
          <p:cNvPr id="13" name="Line 13"/>
          <p:cNvSpPr/>
          <p:nvPr/>
        </p:nvSpPr>
        <p:spPr>
          <a:xfrm>
            <a:off x="4406900" y="19812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A0C4E3">
                <a:alpha val="7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649756" y="203644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M3</a:t>
            </a:r>
          </a:p>
        </p:txBody>
      </p:sp>
      <p:sp>
        <p:nvSpPr>
          <p:cNvPr id="15" name="Line 15"/>
          <p:cNvSpPr/>
          <p:nvPr/>
        </p:nvSpPr>
        <p:spPr>
          <a:xfrm>
            <a:off x="5086350" y="19812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A0C4E3">
                <a:alpha val="7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329206" y="203644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M4</a:t>
            </a:r>
          </a:p>
        </p:txBody>
      </p:sp>
      <p:sp>
        <p:nvSpPr>
          <p:cNvPr id="17" name="Line 17"/>
          <p:cNvSpPr/>
          <p:nvPr/>
        </p:nvSpPr>
        <p:spPr>
          <a:xfrm>
            <a:off x="5765800" y="19812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A0C4E3">
                <a:alpha val="70000"/>
              </a:srgbClr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008656" y="203644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M5</a:t>
            </a:r>
          </a:p>
        </p:txBody>
      </p:sp>
      <p:sp>
        <p:nvSpPr>
          <p:cNvPr id="19" name="Line 19"/>
          <p:cNvSpPr/>
          <p:nvPr/>
        </p:nvSpPr>
        <p:spPr>
          <a:xfrm>
            <a:off x="6445250" y="19812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A0C4E3">
                <a:alpha val="7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688106" y="203644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M6</a:t>
            </a:r>
          </a:p>
        </p:txBody>
      </p:sp>
      <p:sp>
        <p:nvSpPr>
          <p:cNvPr id="21" name="Line 21"/>
          <p:cNvSpPr/>
          <p:nvPr/>
        </p:nvSpPr>
        <p:spPr>
          <a:xfrm>
            <a:off x="7124700" y="19812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A0C4E3">
                <a:alpha val="7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367556" y="203644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M7</a:t>
            </a:r>
          </a:p>
        </p:txBody>
      </p:sp>
      <p:sp>
        <p:nvSpPr>
          <p:cNvPr id="23" name="Line 23"/>
          <p:cNvSpPr/>
          <p:nvPr/>
        </p:nvSpPr>
        <p:spPr>
          <a:xfrm>
            <a:off x="7804150" y="19812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A0C4E3">
                <a:alpha val="7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047006" y="203644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M8</a:t>
            </a:r>
          </a:p>
        </p:txBody>
      </p:sp>
      <p:sp>
        <p:nvSpPr>
          <p:cNvPr id="25" name="Line 25"/>
          <p:cNvSpPr/>
          <p:nvPr/>
        </p:nvSpPr>
        <p:spPr>
          <a:xfrm>
            <a:off x="8483600" y="19812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A0C4E3">
                <a:alpha val="70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726456" y="203644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M9</a:t>
            </a:r>
          </a:p>
        </p:txBody>
      </p:sp>
      <p:sp>
        <p:nvSpPr>
          <p:cNvPr id="27" name="Line 27"/>
          <p:cNvSpPr/>
          <p:nvPr/>
        </p:nvSpPr>
        <p:spPr>
          <a:xfrm>
            <a:off x="9163050" y="19812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A0C4E3">
                <a:alpha val="70000"/>
              </a:srgbClr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386189" y="2036445"/>
            <a:ext cx="233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M10</a:t>
            </a:r>
          </a:p>
        </p:txBody>
      </p:sp>
      <p:sp>
        <p:nvSpPr>
          <p:cNvPr id="29" name="Line 29"/>
          <p:cNvSpPr/>
          <p:nvPr/>
        </p:nvSpPr>
        <p:spPr>
          <a:xfrm>
            <a:off x="9842500" y="19812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A0C4E3">
                <a:alpha val="70000"/>
              </a:srgbClr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082070" y="2036445"/>
            <a:ext cx="2003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M11</a:t>
            </a:r>
          </a:p>
        </p:txBody>
      </p:sp>
      <p:sp>
        <p:nvSpPr>
          <p:cNvPr id="31" name="Line 31"/>
          <p:cNvSpPr/>
          <p:nvPr/>
        </p:nvSpPr>
        <p:spPr>
          <a:xfrm>
            <a:off x="10521950" y="19812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A0C4E3">
                <a:alpha val="70000"/>
              </a:srgbClr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0745089" y="2036445"/>
            <a:ext cx="233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M12</a:t>
            </a:r>
          </a:p>
        </p:txBody>
      </p:sp>
      <p:sp>
        <p:nvSpPr>
          <p:cNvPr id="33" name="Line 33"/>
          <p:cNvSpPr/>
          <p:nvPr/>
        </p:nvSpPr>
        <p:spPr>
          <a:xfrm>
            <a:off x="11201400" y="19812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A0C4E3">
                <a:alpha val="70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48665" y="2277428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一期 · 底座建设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048000" y="2228850"/>
            <a:ext cx="2717800" cy="2095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131820" y="2284095"/>
            <a:ext cx="10086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4 个月 · ¥286 万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8665" y="2639378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二期 · 场景接入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65800" y="2590800"/>
            <a:ext cx="3397250" cy="209550"/>
          </a:xfrm>
          <a:prstGeom prst="rect">
            <a:avLst/>
          </a:prstGeom>
          <a:solidFill>
            <a:srgbClr val="002E5D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849620" y="2646045"/>
            <a:ext cx="9758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5 个月 · ¥194 万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8665" y="3001328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三期 · 运营保障与移交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163050" y="2952750"/>
            <a:ext cx="2038350" cy="20955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246870" y="3007995"/>
            <a:ext cx="9758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 个月 · ¥128 万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39140" y="313944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投资报价（万元）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" y="3448050"/>
            <a:ext cx="10668000" cy="400050"/>
          </a:xfrm>
          <a:prstGeom prst="rect">
            <a:avLst/>
          </a:prstGeom>
          <a:solidFill>
            <a:srgbClr val="002E5D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1065" y="35918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分期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82315" y="359187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时间窗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568315" y="35918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工期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711315" y="35918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金额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044815" y="359187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交付重点</a:t>
            </a:r>
          </a:p>
        </p:txBody>
      </p:sp>
      <p:sp>
        <p:nvSpPr>
          <p:cNvPr id="50" name="Rectangle 50"/>
          <p:cNvSpPr/>
          <p:nvPr/>
        </p:nvSpPr>
        <p:spPr>
          <a:xfrm>
            <a:off x="762000" y="3848100"/>
            <a:ext cx="10668000" cy="40005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901065" y="3991928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一期 · 底座建设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282315" y="3991928"/>
            <a:ext cx="13071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2026.10 - 2027.01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570220" y="400812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4 个月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713220" y="4008120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78D7"/>
                </a:solidFill>
                <a:latin typeface="Segoe UI"/>
                <a:ea typeface="Microsoft YaHei"/>
                <a:cs typeface="Segoe UI"/>
              </a:rPr>
              <a:t>286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044815" y="3991928"/>
            <a:ext cx="20662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感知改造 / 数据底座 / 一张图</a:t>
            </a:r>
          </a:p>
        </p:txBody>
      </p:sp>
      <p:sp>
        <p:nvSpPr>
          <p:cNvPr id="56" name="Rectangle 56"/>
          <p:cNvSpPr/>
          <p:nvPr/>
        </p:nvSpPr>
        <p:spPr>
          <a:xfrm>
            <a:off x="762000" y="4248150"/>
            <a:ext cx="106680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901065" y="4391978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二期 · 场景接入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282315" y="4391978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2027.02 - 2027.06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570220" y="440817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5 个月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713220" y="4408170"/>
            <a:ext cx="2068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78D7"/>
                </a:solidFill>
                <a:latin typeface="Segoe UI"/>
                <a:ea typeface="Microsoft YaHei"/>
                <a:cs typeface="Segoe UI"/>
              </a:rPr>
              <a:t>194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044815" y="4391978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八大应用上线 / 跨部门流程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62000" y="4648200"/>
            <a:ext cx="10668000" cy="40005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901065" y="4792028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三期 · 运营保障与移交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282315" y="4792028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2027.07 - 2027.09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570220" y="480822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3 个月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713220" y="4808220"/>
            <a:ext cx="2068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78D7"/>
                </a:solidFill>
                <a:latin typeface="Segoe UI"/>
                <a:ea typeface="Microsoft YaHei"/>
                <a:cs typeface="Segoe UI"/>
              </a:rPr>
              <a:t>128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044815" y="4792028"/>
            <a:ext cx="20662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试运行 / 知识转移 / 考核移交</a:t>
            </a:r>
          </a:p>
        </p:txBody>
      </p:sp>
      <p:sp>
        <p:nvSpPr>
          <p:cNvPr id="68" name="Rectangle 68"/>
          <p:cNvSpPr/>
          <p:nvPr/>
        </p:nvSpPr>
        <p:spPr>
          <a:xfrm>
            <a:off x="762000" y="5048250"/>
            <a:ext cx="10668000" cy="400050"/>
          </a:xfrm>
          <a:prstGeom prst="rect">
            <a:avLst/>
          </a:prstGeom>
          <a:solidFill>
            <a:srgbClr val="002E5D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901065" y="51920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合计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709410" y="5175885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608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501188" y="519207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含部署、定制、首年运维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42950" y="49815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付款节奏</a:t>
            </a:r>
          </a:p>
        </p:txBody>
      </p:sp>
      <p:sp>
        <p:nvSpPr>
          <p:cNvPr id="73" name="Rectangle 73"/>
          <p:cNvSpPr/>
          <p:nvPr/>
        </p:nvSpPr>
        <p:spPr>
          <a:xfrm>
            <a:off x="762000" y="5257800"/>
            <a:ext cx="3131820" cy="2476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845820" y="5332095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预付款 30%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030587" y="5598795"/>
            <a:ext cx="5946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¥182.4 万</a:t>
            </a:r>
          </a:p>
        </p:txBody>
      </p:sp>
      <p:sp>
        <p:nvSpPr>
          <p:cNvPr id="76" name="Rectangle 76"/>
          <p:cNvSpPr/>
          <p:nvPr/>
        </p:nvSpPr>
        <p:spPr>
          <a:xfrm>
            <a:off x="3912870" y="5257800"/>
            <a:ext cx="4175760" cy="247650"/>
          </a:xfrm>
          <a:prstGeom prst="rect">
            <a:avLst/>
          </a:prstGeom>
          <a:solidFill>
            <a:srgbClr val="002E5D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3996690" y="5332095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到货款 40%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686996" y="5598795"/>
            <a:ext cx="6275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¥243.2 万</a:t>
            </a:r>
          </a:p>
        </p:txBody>
      </p:sp>
      <p:sp>
        <p:nvSpPr>
          <p:cNvPr id="79" name="Rectangle 79"/>
          <p:cNvSpPr/>
          <p:nvPr/>
        </p:nvSpPr>
        <p:spPr>
          <a:xfrm>
            <a:off x="8107680" y="5257800"/>
            <a:ext cx="2609850" cy="24765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8191500" y="5332095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验收款 25%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115282" y="5598795"/>
            <a:ext cx="5946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¥152.0 万</a:t>
            </a:r>
          </a:p>
        </p:txBody>
      </p:sp>
      <p:sp>
        <p:nvSpPr>
          <p:cNvPr id="82" name="Rectangle 82"/>
          <p:cNvSpPr/>
          <p:nvPr/>
        </p:nvSpPr>
        <p:spPr>
          <a:xfrm>
            <a:off x="10736580" y="5257800"/>
            <a:ext cx="521970" cy="247650"/>
          </a:xfrm>
          <a:prstGeom prst="rect">
            <a:avLst/>
          </a:prstGeom>
          <a:solidFill>
            <a:srgbClr val="A0C4E3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10820400" y="5332095"/>
            <a:ext cx="6012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质保金 5%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0719959" y="5598795"/>
            <a:ext cx="5552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¥30.4 万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48665" y="5868352"/>
            <a:ext cx="63601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驻场团队 13 人：项目经理×1 / 系统架构师×2 / 算法工程师×3 / 实施工程师×5 / 质量与安全×2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48665" y="65160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05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9530429" y="6516052"/>
            <a:ext cx="19129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栖云数字 · 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8D7"/>
              </a:gs>
              <a:gs pos="100000">
                <a:srgbClr val="002E5D"/>
              </a:gs>
            </a:gsLst>
            <a:lin ang="54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095992" y="1356360"/>
            <a:ext cx="600001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恳请审议 · 期待共建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30188" y="2091690"/>
            <a:ext cx="613162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4CA1E7"/>
                </a:solidFill>
                <a:latin typeface="Segoe UI"/>
                <a:ea typeface="Microsoft YaHei"/>
                <a:cs typeface="Segoe UI"/>
              </a:rPr>
              <a:t>澄区智慧运管中心建设项目 · 技术方案与投资建议书</a:t>
            </a:r>
          </a:p>
        </p:txBody>
      </p:sp>
      <p:sp>
        <p:nvSpPr>
          <p:cNvPr id="5" name="Rectangle 5"/>
          <p:cNvSpPr/>
          <p:nvPr/>
        </p:nvSpPr>
        <p:spPr>
          <a:xfrm>
            <a:off x="2381250" y="2667000"/>
            <a:ext cx="74295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2533650" y="2895600"/>
            <a:ext cx="114300" cy="11430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739390" y="28917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一次立项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1510" y="2956560"/>
            <a:ext cx="33604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0C4E3"/>
                </a:solidFill>
                <a:latin typeface="Segoe UI"/>
                <a:ea typeface="Microsoft YaHei"/>
                <a:cs typeface="Segoe UI"/>
              </a:rPr>
              <a:t>按三期滚动实施，每期验收后再进入下一期</a:t>
            </a:r>
          </a:p>
        </p:txBody>
      </p:sp>
      <p:sp>
        <p:nvSpPr>
          <p:cNvPr id="9" name="Rectangle 9"/>
          <p:cNvSpPr/>
          <p:nvPr/>
        </p:nvSpPr>
        <p:spPr>
          <a:xfrm>
            <a:off x="2381250" y="3543300"/>
            <a:ext cx="74295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2533650" y="3771900"/>
            <a:ext cx="114300" cy="11430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739390" y="37680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两地试点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61510" y="3832860"/>
            <a:ext cx="33604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0C4E3"/>
                </a:solidFill>
                <a:latin typeface="Segoe UI"/>
                <a:ea typeface="Microsoft YaHei"/>
                <a:cs typeface="Segoe UI"/>
              </a:rPr>
              <a:t>先落地澄区北苑园区与云谷路两个示范片区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381250" y="4419600"/>
            <a:ext cx="74295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2533650" y="4648200"/>
            <a:ext cx="114300" cy="11430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739390" y="46443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三方共管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61510" y="470916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0C4E3"/>
                </a:solidFill>
                <a:latin typeface="Segoe UI"/>
                <a:ea typeface="Microsoft YaHei"/>
                <a:cs typeface="Segoe UI"/>
              </a:rPr>
              <a:t>管委会、运营公司与栖云数字共建联合工作组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82394" y="6173152"/>
            <a:ext cx="70272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CA1E7"/>
                </a:solidFill>
                <a:latin typeface="Segoe UI"/>
                <a:ea typeface="Microsoft YaHei"/>
                <a:cs typeface="Segoe UI"/>
              </a:rPr>
              <a:t>栖云数字科技有限公司 · 0571-8688-0000 · proposal@qiyun.example · 澄区云栖路 1 号 · 数字港 B 座</a:t>
            </a:r>
          </a:p>
        </p:txBody>
      </p:sp>
      <p:sp>
        <p:nvSpPr>
          <p:cNvPr id="18" name="Freeform 18"/>
          <p:cNvSpPr/>
          <p:nvPr/>
        </p:nvSpPr>
        <p:spPr>
          <a:xfrm>
            <a:off x="0" y="6254750"/>
            <a:ext cx="12192000" cy="635000"/>
          </a:xfrm>
          <a:custGeom>
            <a:avLst/>
            <a:gdLst/>
            <a:ahLst/>
            <a:cxnLst/>
            <a:rect l="l" t="t" r="r" b="b"/>
            <a:pathLst>
              <a:path w="12192000" h="635000">
                <a:moveTo>
                  <a:pt x="0" y="412750"/>
                </a:moveTo>
                <a:cubicBezTo>
                  <a:pt x="2032000" y="31750"/>
                  <a:pt x="4064000" y="0"/>
                  <a:pt x="6096000" y="317500"/>
                </a:cubicBezTo>
                <a:cubicBezTo>
                  <a:pt x="8128000" y="635000"/>
                  <a:pt x="10160000" y="539750"/>
                  <a:pt x="12192000" y="31750"/>
                </a:cubicBezTo>
                <a:lnTo>
                  <a:pt x="12192000" y="603250"/>
                </a:lnTo>
                <a:lnTo>
                  <a:pt x="0" y="603250"/>
                </a:lnTo>
                <a:close/>
              </a:path>
            </a:pathLst>
          </a:custGeom>
          <a:solidFill>
            <a:srgbClr val="0078D7">
              <a:alpha val="35000"/>
            </a:srgbClr>
          </a:solidFill>
          <a:ln>
            <a:noFill/>
          </a:ln>
        </p:spPr>
      </p:sp>
    </p:spTree>
  </p:cSld>
  <p:clrMapOvr>
    <a:masterClrMapping/>
  </p:clrMapOvr>
  <p:transition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