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571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39FF14">
                <a:alpha val="1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39FF14">
                <a:alpha val="10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39FF14">
                <a:alpha val="10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39FF14">
                <a:alpha val="1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39FF14">
                <a:alpha val="10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0" y="6286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39FF14">
                <a:alpha val="10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571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39FF14">
                <a:alpha val="10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11620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39FF14">
                <a:alpha val="10000"/>
              </a:srgb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285750"/>
            <a:ext cx="11430000" cy="76200"/>
          </a:xfrm>
          <a:prstGeom prst="rect">
            <a:avLst/>
          </a:prstGeom>
          <a:solidFill>
            <a:srgbClr val="39FF14">
              <a:alpha val="8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400050"/>
            <a:ext cx="11430000" cy="38100"/>
          </a:xfrm>
          <a:prstGeom prst="rect">
            <a:avLst/>
          </a:prstGeom>
          <a:solidFill>
            <a:srgbClr val="39FF14">
              <a:alpha val="4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" y="571500"/>
            <a:ext cx="152400" cy="1524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571500"/>
            <a:ext cx="152400" cy="152400"/>
          </a:xfrm>
          <a:prstGeom prst="rect">
            <a:avLst/>
          </a:prstGeom>
          <a:solidFill>
            <a:srgbClr val="39FF14">
              <a:alpha val="6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762000" y="571500"/>
            <a:ext cx="152400" cy="152400"/>
          </a:xfrm>
          <a:prstGeom prst="rect">
            <a:avLst/>
          </a:prstGeom>
          <a:solidFill>
            <a:srgbClr val="39FF14">
              <a:alpha val="3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1277600" y="571500"/>
            <a:ext cx="152400" cy="152400"/>
          </a:xfrm>
          <a:prstGeom prst="rect">
            <a:avLst/>
          </a:prstGeom>
          <a:solidFill>
            <a:srgbClr val="FF2E97">
              <a:alpha val="3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1468100" y="571500"/>
            <a:ext cx="152400" cy="152400"/>
          </a:xfrm>
          <a:prstGeom prst="rect">
            <a:avLst/>
          </a:prstGeom>
          <a:solidFill>
            <a:srgbClr val="FF2E97">
              <a:alpha val="6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1658600" y="571500"/>
            <a:ext cx="152400" cy="152400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476750" y="1238250"/>
            <a:ext cx="3238500" cy="1428750"/>
          </a:xfrm>
          <a:prstGeom prst="rect">
            <a:avLst/>
          </a:prstGeom>
          <a:solidFill>
            <a:srgbClr val="161B22"/>
          </a:solidFill>
          <a:ln w="28575">
            <a:solidFill>
              <a:srgbClr val="30363D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476750" y="1238250"/>
            <a:ext cx="3238500" cy="247650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591050" y="1314450"/>
            <a:ext cx="95250" cy="95250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743450" y="1314450"/>
            <a:ext cx="95250" cy="95250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895850" y="1314450"/>
            <a:ext cx="9525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613910" y="1699260"/>
            <a:ext cx="54197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$ cron */30 * * * *</a:t>
            </a:r>
            <a:r>
              <a:rPr lang="zh-CN" sz="1200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find 1 skill</a:t>
            </a:r>
            <a:r>
              <a:rPr lang="zh-CN" sz="1200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build 1 artifact</a:t>
            </a:r>
            <a:r>
              <a:rPr lang="zh-CN" sz="1200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push skill-showcase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58050" y="2438400"/>
            <a:ext cx="114300" cy="1714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773786" y="3179445"/>
            <a:ext cx="4644428" cy="792480"/>
          </a:xfrm>
          <a:prstGeom prst="rect">
            <a:avLst/>
          </a:prstGeom>
          <a:noFill/>
          <a:ln>
            <a:noFill/>
          </a:ln>
          <a:effectLst>
            <a:glow rad="7620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SKILL SHOWCASE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88322" y="3936682"/>
            <a:ext cx="721535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每 30 分钟验证一个有趣技能 —— 第五轮：把台账变成可编辑 PPT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12956" y="4331018"/>
            <a:ext cx="75660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ppt-generator · SVG → 原生 DrawingML · 8 套版式 / 36 张图表模板 / 像素复古主题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676650" y="4914900"/>
            <a:ext cx="1428750" cy="438150"/>
          </a:xfrm>
          <a:prstGeom prst="rect">
            <a:avLst/>
          </a:prstGeom>
          <a:solidFill>
            <a:srgbClr val="161B22"/>
          </a:solidFill>
          <a:ln w="28575">
            <a:solidFill>
              <a:srgbClr val="39FF14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018978" y="5054918"/>
            <a:ext cx="7440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RUNS 05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200650" y="4914900"/>
            <a:ext cx="1428750" cy="438150"/>
          </a:xfrm>
          <a:prstGeom prst="rect">
            <a:avLst/>
          </a:prstGeom>
          <a:solidFill>
            <a:srgbClr val="161B22"/>
          </a:solidFill>
          <a:ln w="28575">
            <a:solidFill>
              <a:srgbClr val="00D4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459182" y="5054918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SKILLS 05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724650" y="4914900"/>
            <a:ext cx="1428750" cy="438150"/>
          </a:xfrm>
          <a:prstGeom prst="rect">
            <a:avLst/>
          </a:prstGeom>
          <a:solidFill>
            <a:srgbClr val="161B22"/>
          </a:solidFill>
          <a:ln w="28575">
            <a:solidFill>
              <a:srgbClr val="FF2E97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983182" y="5054918"/>
            <a:ext cx="911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2E97"/>
                </a:solidFill>
                <a:latin typeface="Consolas"/>
                <a:ea typeface="Microsoft YaHei"/>
                <a:cs typeface="Consolas"/>
              </a:rPr>
              <a:t>KEEP 100%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63916" y="5819775"/>
            <a:ext cx="2864168" cy="30480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700"/>
                </a:solidFill>
                <a:latin typeface="Consolas"/>
                <a:ea typeface="Microsoft YaHei"/>
                <a:cs typeface="Consolas"/>
              </a:rPr>
              <a:t>▼ PRESS START TO DEPLOY ▼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81000" y="6286500"/>
            <a:ext cx="11430000" cy="38100"/>
          </a:xfrm>
          <a:prstGeom prst="rect">
            <a:avLst/>
          </a:prstGeom>
          <a:solidFill>
            <a:srgbClr val="39FF14">
              <a:alpha val="40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81000" y="6362700"/>
            <a:ext cx="11430000" cy="76200"/>
          </a:xfrm>
          <a:prstGeom prst="rect">
            <a:avLst/>
          </a:prstGeom>
          <a:solidFill>
            <a:srgbClr val="39FF14">
              <a:alpha val="80000"/>
            </a:srgbClr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571500" y="6572250"/>
            <a:ext cx="11049000" cy="76200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571500" y="6572250"/>
            <a:ext cx="11049000" cy="76200"/>
          </a:xfrm>
          <a:prstGeom prst="rect">
            <a:avLst/>
          </a:prstGeom>
          <a:solidFill>
            <a:srgbClr val="39FF14">
              <a:alpha val="85000"/>
            </a:srgbClr>
          </a:solidFill>
          <a:ln>
            <a:noFill/>
          </a:ln>
        </p:spPr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9FF14">
              <a:alpha val="8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19050"/>
          </a:xfrm>
          <a:prstGeom prst="rect">
            <a:avLst/>
          </a:prstGeom>
          <a:solidFill>
            <a:srgbClr val="39FF14">
              <a:alpha val="4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432435"/>
            <a:ext cx="2076731" cy="54864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📍 本轮路线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4355" y="863918"/>
            <a:ext cx="57225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TABLE OF CONTENTS · 5 ROUNDS OF THE UNATTENDED SKILL LAB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200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30363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524000"/>
            <a:ext cx="5143500" cy="1066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524000"/>
            <a:ext cx="76200" cy="1066800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5345" y="1726882"/>
            <a:ext cx="28632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6EDF3"/>
                </a:solidFill>
                <a:latin typeface="Consolas"/>
                <a:ea typeface="Microsoft YaHei"/>
                <a:cs typeface="Consolas"/>
              </a:rPr>
              <a:t>01 一条无人值守的流水线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9155" y="2045018"/>
            <a:ext cx="55845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它每 30 分钟醒来一次：找技能 → 过安全闸门 → 出产物 → 写台账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76300" y="2324100"/>
            <a:ext cx="1238250" cy="209550"/>
          </a:xfrm>
          <a:prstGeom prst="rect">
            <a:avLst/>
          </a:prstGeom>
          <a:solidFill>
            <a:srgbClr val="FF2E97">
              <a:alpha val="18000"/>
            </a:srgbClr>
          </a:solidFill>
          <a:ln w="19050">
            <a:solidFill>
              <a:srgbClr val="FF2E9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075706" y="2363152"/>
            <a:ext cx="8394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2E97"/>
                </a:solidFill>
                <a:latin typeface="Consolas"/>
                <a:ea typeface="Microsoft YaHei"/>
                <a:cs typeface="Consolas"/>
              </a:rPr>
              <a:t>MUST KNOW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905500" y="1524000"/>
            <a:ext cx="5143500" cy="1066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905500" y="1524000"/>
            <a:ext cx="76200" cy="1066800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189345" y="1726882"/>
            <a:ext cx="24204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6EDF3"/>
                </a:solidFill>
                <a:latin typeface="Consolas"/>
                <a:ea typeface="Microsoft YaHei"/>
                <a:cs typeface="Consolas"/>
              </a:rPr>
              <a:t>02 前四轮跑掉了什么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93155" y="2045018"/>
            <a:ext cx="59788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工程图纸 / 终端看板 / 生成艺术 / 全文检索库 —— 四种产物四类结论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10300" y="2324100"/>
            <a:ext cx="1428750" cy="209550"/>
          </a:xfrm>
          <a:prstGeom prst="rect">
            <a:avLst/>
          </a:prstGeom>
          <a:solidFill>
            <a:srgbClr val="FFD700">
              <a:alpha val="18000"/>
            </a:srgbClr>
          </a:solidFill>
          <a:ln w="19050">
            <a:solidFill>
              <a:srgbClr val="FFD7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401443" y="2363152"/>
            <a:ext cx="10464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D700"/>
                </a:solidFill>
                <a:latin typeface="Consolas"/>
                <a:ea typeface="Microsoft YaHei"/>
                <a:cs typeface="Consolas"/>
              </a:rPr>
              <a:t>RECOMMENDED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57500"/>
            <a:ext cx="5143500" cy="1066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71500" y="2857500"/>
            <a:ext cx="76200" cy="106680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55345" y="3060382"/>
            <a:ext cx="26734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6EDF3"/>
                </a:solidFill>
                <a:latin typeface="Consolas"/>
                <a:ea typeface="Microsoft YaHei"/>
                <a:cs typeface="Consolas"/>
              </a:rPr>
              <a:t>03 单轮耗时与产物体积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9155" y="3378518"/>
            <a:ext cx="56141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四条真实计时：420s / 600s / 1140s / 780s，中位数落在预算内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76300" y="3657600"/>
            <a:ext cx="1143000" cy="209550"/>
          </a:xfrm>
          <a:prstGeom prst="rect">
            <a:avLst/>
          </a:prstGeom>
          <a:solidFill>
            <a:srgbClr val="00D4FF">
              <a:alpha val="18000"/>
            </a:srgbClr>
          </a:solidFill>
          <a:ln w="19050">
            <a:solidFill>
              <a:srgbClr val="00D4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265777" y="36966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DATA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905500" y="2857500"/>
            <a:ext cx="5143500" cy="1066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905500" y="2857500"/>
            <a:ext cx="76200" cy="10668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189345" y="3060382"/>
            <a:ext cx="34072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6EDF3"/>
                </a:solidFill>
                <a:latin typeface="Consolas"/>
                <a:ea typeface="Microsoft YaHei"/>
                <a:cs typeface="Consolas"/>
              </a:rPr>
              <a:t>04 第五轮：SVG 变可编辑 PPT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193155" y="3378518"/>
            <a:ext cx="47367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像素复古主题 + 原生 DrawingML 形状，双击即可改字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10300" y="3657600"/>
            <a:ext cx="1143000" cy="209550"/>
          </a:xfrm>
          <a:prstGeom prst="rect">
            <a:avLst/>
          </a:prstGeom>
          <a:solidFill>
            <a:srgbClr val="39FF14">
              <a:alpha val="18000"/>
            </a:srgbClr>
          </a:solidFill>
          <a:ln w="19050">
            <a:solidFill>
              <a:srgbClr val="39FF14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419588" y="3696652"/>
            <a:ext cx="7244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OPTIONAL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4191000"/>
            <a:ext cx="1047750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9FF14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81050" y="4429125"/>
            <a:ext cx="35104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▸ 去重契约（所有轮次共用的记忆）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2955" y="4731068"/>
            <a:ext cx="105728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state.json 的 tried 里出现过的技能一律不再选；skills_seen 标了 blocked / needs_user_confirm 的来源不再探测。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2955" y="4997768"/>
            <a:ext cx="96757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本轮开工读到 tried = drafter · ascii-project-dashboard · algorithmic-art · SQLite-Database-Expert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581650"/>
            <a:ext cx="10477500" cy="5715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82955" y="5797868"/>
            <a:ext cx="8591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SOURCE 1 Qoder 官方扩展市场 · SOURCE 2 git@github.com SSH clone · SOURCE 3 本机已装技能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18139" y="63093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02 / 05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6496050"/>
            <a:ext cx="11049000" cy="57150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6496050"/>
            <a:ext cx="4419600" cy="57150"/>
          </a:xfrm>
          <a:prstGeom prst="rect">
            <a:avLst/>
          </a:prstGeom>
          <a:solidFill>
            <a:srgbClr val="39FF14">
              <a:alpha val="80000"/>
            </a:srgbClr>
          </a:solidFill>
          <a:ln>
            <a:noFill/>
          </a:ln>
        </p:spPr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9FF14">
              <a:alpha val="8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19050"/>
          </a:xfrm>
          <a:prstGeom prst="rect">
            <a:avLst/>
          </a:prstGeom>
          <a:solidFill>
            <a:srgbClr val="39FF14">
              <a:alpha val="4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432435"/>
            <a:ext cx="4975093" cy="54864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⏱ 只有生成艺术那一轮超时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4355" y="863918"/>
            <a:ext cx="82660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WALL-CLOCK SECONDS PER ROUND · BUDGET = 900s (15 MIN) · SOURCE: state.json runs[]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200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30363D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171450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19050">
            <a:solidFill>
              <a:srgbClr val="30363D"/>
            </a:solidFill>
          </a:ln>
        </p:spPr>
      </p:sp>
      <p:sp>
        <p:nvSpPr>
          <p:cNvPr id="9" name="Line 9"/>
          <p:cNvSpPr/>
          <p:nvPr/>
        </p:nvSpPr>
        <p:spPr>
          <a:xfrm>
            <a:off x="1428750" y="4762500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19050">
            <a:solidFill>
              <a:srgbClr val="30363D"/>
            </a:solidFill>
          </a:ln>
        </p:spPr>
      </p:sp>
      <p:sp>
        <p:nvSpPr>
          <p:cNvPr id="10" name="Line 10"/>
          <p:cNvSpPr/>
          <p:nvPr/>
        </p:nvSpPr>
        <p:spPr>
          <a:xfrm>
            <a:off x="1428750" y="4000500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30363D">
                <a:alpha val="50000"/>
              </a:srgbClr>
            </a:solidFill>
            <a:prstDash val="dash"/>
          </a:ln>
        </p:spPr>
      </p:sp>
      <p:sp>
        <p:nvSpPr>
          <p:cNvPr id="11" name="Line 11"/>
          <p:cNvSpPr/>
          <p:nvPr/>
        </p:nvSpPr>
        <p:spPr>
          <a:xfrm>
            <a:off x="1428750" y="3238500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30363D">
                <a:alpha val="50000"/>
              </a:srgbClr>
            </a:solidFill>
            <a:prstDash val="dash"/>
          </a:ln>
        </p:spPr>
      </p:sp>
      <p:sp>
        <p:nvSpPr>
          <p:cNvPr id="12" name="Line 12"/>
          <p:cNvSpPr/>
          <p:nvPr/>
        </p:nvSpPr>
        <p:spPr>
          <a:xfrm>
            <a:off x="1428750" y="2476500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30363D">
                <a:alpha val="50000"/>
              </a:srgbClr>
            </a:solidFill>
            <a:prstDash val="dash"/>
          </a:ln>
        </p:spPr>
      </p:sp>
      <p:sp>
        <p:nvSpPr>
          <p:cNvPr id="13" name="Line 13"/>
          <p:cNvSpPr/>
          <p:nvPr/>
        </p:nvSpPr>
        <p:spPr>
          <a:xfrm>
            <a:off x="1428750" y="1714500"/>
            <a:ext cx="9620250" cy="9525"/>
          </a:xfrm>
          <a:custGeom>
            <a:avLst/>
            <a:gdLst/>
            <a:ahLst/>
            <a:cxnLst/>
            <a:rect l="l" t="t" r="r" b="b"/>
            <a:pathLst>
              <a:path w="9620250" h="9525">
                <a:moveTo>
                  <a:pt x="0" y="0"/>
                </a:moveTo>
                <a:lnTo>
                  <a:pt x="9620250" y="0"/>
                </a:lnTo>
              </a:path>
            </a:pathLst>
          </a:custGeom>
          <a:noFill/>
          <a:ln w="9525">
            <a:solidFill>
              <a:srgbClr val="30363D">
                <a:alpha val="50000"/>
              </a:srgbClr>
            </a:solidFill>
            <a:prstDash val="dash"/>
          </a:ln>
        </p:spPr>
      </p:sp>
      <p:sp>
        <p:nvSpPr>
          <p:cNvPr id="14" name="TextBox 14"/>
          <p:cNvSpPr txBox="1"/>
          <p:nvPr/>
        </p:nvSpPr>
        <p:spPr>
          <a:xfrm>
            <a:off x="1235821" y="469677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7133" y="393477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300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7133" y="317277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600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7133" y="241077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900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1128" y="1648778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1200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428750" y="2495550"/>
            <a:ext cx="9620250" cy="28575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820656" y="2289810"/>
            <a:ext cx="11959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F2E97"/>
                </a:solidFill>
                <a:latin typeface="Consolas"/>
                <a:ea typeface="Microsoft YaHei"/>
                <a:cs typeface="Consolas"/>
              </a:rPr>
              <a:t>BUDGET 900s ▲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019300" y="3664268"/>
            <a:ext cx="1238250" cy="1098232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2019300" y="3664268"/>
            <a:ext cx="1238250" cy="95250"/>
          </a:xfrm>
          <a:prstGeom prst="rect">
            <a:avLst/>
          </a:prstGeom>
          <a:solidFill>
            <a:srgbClr val="E6EDF3">
              <a:alpha val="35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408719" y="3346132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420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63771" y="4910614"/>
            <a:ext cx="74930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drafter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11359" y="5153978"/>
            <a:ext cx="10541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工程图纸 HTML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305300" y="3449002"/>
            <a:ext cx="1238250" cy="1313498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305300" y="3449002"/>
            <a:ext cx="1238250" cy="95250"/>
          </a:xfrm>
          <a:prstGeom prst="rect">
            <a:avLst/>
          </a:prstGeom>
          <a:solidFill>
            <a:srgbClr val="E6EDF3">
              <a:alpha val="35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694719" y="3127058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600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86654" y="4910614"/>
            <a:ext cx="14755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ascii-dashboard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85858" y="5153978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终端 ASCII 看板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591300" y="1905000"/>
            <a:ext cx="1238250" cy="2857500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6591300" y="1905000"/>
            <a:ext cx="1238250" cy="95250"/>
          </a:xfrm>
          <a:prstGeom prst="rect">
            <a:avLst/>
          </a:prstGeom>
          <a:solidFill>
            <a:srgbClr val="E6EDF3">
              <a:alpha val="35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974393" y="1584008"/>
            <a:ext cx="4720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D700"/>
                </a:solidFill>
                <a:latin typeface="Consolas"/>
                <a:ea typeface="Microsoft YaHei"/>
                <a:cs typeface="Consolas"/>
              </a:rPr>
              <a:t>1140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667500" y="2057400"/>
            <a:ext cx="1085850" cy="228600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58310" y="2115502"/>
            <a:ext cx="9042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D1117"/>
                </a:solidFill>
                <a:latin typeface="Consolas"/>
                <a:ea typeface="Microsoft YaHei"/>
                <a:cs typeface="Consolas"/>
              </a:rPr>
              <a:t>+240s OVER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77310" y="4910614"/>
            <a:ext cx="14662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algorithmic-art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99657" y="5153978"/>
            <a:ext cx="1621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p5 生成艺术（含内联）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877300" y="2807018"/>
            <a:ext cx="1238250" cy="1955482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877300" y="2807018"/>
            <a:ext cx="1238250" cy="95250"/>
          </a:xfrm>
          <a:prstGeom prst="rect">
            <a:avLst/>
          </a:prstGeom>
          <a:solidFill>
            <a:srgbClr val="E6EDF3">
              <a:alpha val="35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266719" y="2488882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2E97"/>
                </a:solidFill>
                <a:latin typeface="Consolas"/>
                <a:ea typeface="Microsoft YaHei"/>
                <a:cs typeface="Consolas"/>
              </a:rPr>
              <a:t>780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861072" y="4910614"/>
            <a:ext cx="127070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sqlite-expert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911852" y="5153978"/>
            <a:ext cx="11691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FTS5 检索库 .db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428750" y="5600700"/>
            <a:ext cx="9620250" cy="704850"/>
          </a:xfrm>
          <a:prstGeom prst="rect">
            <a:avLst/>
          </a:prstGeom>
          <a:solidFill>
            <a:srgbClr val="161B22"/>
          </a:solidFill>
          <a:ln w="19050">
            <a:solidFill>
              <a:srgbClr val="39FF14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639252" y="5732621"/>
            <a:ext cx="767424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▸ INSIGHT：均值 735s，四分之三的轮次在预算内；唯一超标那轮把时间花在了哪？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41158" y="6015514"/>
            <a:ext cx="80488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CDN 被 TLS 重置 → 改走 npm 镜像取 p5.min.js 并内联；像素直方图两轮判死区，才把构图调正。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018139" y="648081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03 / 05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9FF14">
              <a:alpha val="8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12192000" cy="19050"/>
          </a:xfrm>
          <a:prstGeom prst="rect">
            <a:avLst/>
          </a:prstGeom>
          <a:solidFill>
            <a:srgbClr val="39FF14">
              <a:alpha val="4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432435"/>
            <a:ext cx="5389145" cy="54864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🎯 四种产物，四条不同的发现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4355" y="863918"/>
            <a:ext cx="60873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ARTIFACT × SOURCE × VERDICT · 每一行都是真实落盘文件，双击可开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200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30363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11049000" cy="40005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46760" y="1556385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#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6808" y="154828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产物类型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74808" y="1548289"/>
            <a:ext cx="10393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技能 / 来源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22808" y="1548289"/>
            <a:ext cx="23786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本轮被证伪或证实的那一条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1828800"/>
            <a:ext cx="11049000" cy="89535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1828800"/>
            <a:ext cx="76200" cy="8953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81050" y="2009775"/>
            <a:ext cx="2243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4902" y="2017871"/>
            <a:ext cx="21174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单文件 HTML 工程图纸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6808" y="2300764"/>
            <a:ext cx="263006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15KB · 零 JS 零外链 · 双击可开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73855" y="2025968"/>
            <a:ext cx="7933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DF3"/>
                </a:solidFill>
                <a:latin typeface="Consolas"/>
                <a:ea typeface="Microsoft YaHei"/>
                <a:cs typeface="Consolas"/>
              </a:rPr>
              <a:t>drafter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75760" y="2308860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来源①Qoder 官方市场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22808" y="2034064"/>
            <a:ext cx="34307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D700"/>
                </a:solidFill>
                <a:latin typeface="Segoe UI"/>
                <a:ea typeface="Microsoft YaHei"/>
                <a:cs typeface="Segoe UI"/>
              </a:rPr>
              <a:t>它自己的示例 CSS 违反它自己的对齐规则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24712" y="2316956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repeat(6,1fr) 被 min-content 顶住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724150"/>
            <a:ext cx="11049000" cy="89535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2724150"/>
            <a:ext cx="76200" cy="89535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81050" y="2905125"/>
            <a:ext cx="2790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4902" y="2913221"/>
            <a:ext cx="149304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纯文本终端看板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6808" y="3196114"/>
            <a:ext cx="32073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52 行 2.8KB · 可进 git diff · 10 PASS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73855" y="2921318"/>
            <a:ext cx="23805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DF3"/>
                </a:solidFill>
                <a:latin typeface="Consolas"/>
                <a:ea typeface="Microsoft YaHei"/>
                <a:cs typeface="Consolas"/>
              </a:rPr>
              <a:t>ascii-project-dashboard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75760" y="3204210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来源①Qoder 官方市场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22808" y="2929414"/>
            <a:ext cx="33749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2E97"/>
                </a:solidFill>
                <a:latin typeface="Segoe UI"/>
                <a:ea typeface="Microsoft YaHei"/>
                <a:cs typeface="Segoe UI"/>
              </a:rPr>
              <a:t>「10 chars = 10 chars」在中文下直接崩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23760" y="3204210"/>
            <a:ext cx="36495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须自算显示宽度：CJK/emoji=2 列，FE0F=0 列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619500"/>
            <a:ext cx="11049000" cy="89535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3619500"/>
            <a:ext cx="76200" cy="895350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81050" y="3800475"/>
            <a:ext cx="2790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D700"/>
                </a:solidFill>
                <a:latin typeface="Consolas"/>
                <a:ea typeface="Microsoft YaHei"/>
                <a:cs typeface="Consolas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4902" y="3808571"/>
            <a:ext cx="149304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可交互生成艺术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6808" y="4091464"/>
            <a:ext cx="310491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998KB 自包含 · 31 项断言 · 滑杆调参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73855" y="3816668"/>
            <a:ext cx="15524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DF3"/>
                </a:solidFill>
                <a:latin typeface="Consolas"/>
                <a:ea typeface="Microsoft YaHei"/>
                <a:cs typeface="Consolas"/>
              </a:rPr>
              <a:t>algorithmic-art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75760" y="4099560"/>
            <a:ext cx="26068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来源②git@github.com SSH clone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222808" y="3824764"/>
            <a:ext cx="41663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「same seed ALWAYS identical」被像素哈希验穿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223760" y="409956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本实验室唯一带可证伪硬承诺的生成艺术技能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514850"/>
            <a:ext cx="11049000" cy="89535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571500" y="4514850"/>
            <a:ext cx="76200" cy="895350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81050" y="4695825"/>
            <a:ext cx="2790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2E97"/>
                </a:solidFill>
                <a:latin typeface="Consolas"/>
                <a:ea typeface="Microsoft YaHei"/>
                <a:cs typeface="Consolas"/>
              </a:rPr>
              <a:t>04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4902" y="4703921"/>
            <a:ext cx="191969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SQLite FTS5 检索库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6808" y="4986814"/>
            <a:ext cx="29093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299KB .db + 检索 CLI · 14/14 PASS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173855" y="4712018"/>
            <a:ext cx="24101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6EDF3"/>
                </a:solidFill>
                <a:latin typeface="Consolas"/>
                <a:ea typeface="Microsoft YaHei"/>
                <a:cs typeface="Consolas"/>
              </a:rPr>
              <a:t>SQLite-Database-Expert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175760" y="4994910"/>
            <a:ext cx="25805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来源③本机已装（零安装零联网）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222808" y="4720114"/>
            <a:ext cx="264868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D700"/>
                </a:solidFill>
                <a:latin typeface="Segoe UI"/>
                <a:ea typeface="Microsoft YaHei"/>
                <a:cs typeface="Segoe UI"/>
              </a:rPr>
              <a:t>默认 unicode61 对中文静默漏检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223760" y="4994910"/>
            <a:ext cx="43155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'安全闸门' LIKE=4 / MATCH=3；trigram 又要求 ≥3 字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71500" y="5600700"/>
            <a:ext cx="11049000" cy="70485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82002" y="5732621"/>
            <a:ext cx="395928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▸ 共性缺陷：规范指得到、实现层不在包里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83908" y="6015514"/>
            <a:ext cx="100041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第 2 轮缺它点名的 muscle script，第 4 轮缺它要求必读的 references/ 两文件 —— 无人值守时必须自带复现脚本兜底。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018139" y="648081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04 / 05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39FF14">
                <a:alpha val="1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39FF14">
                <a:alpha val="10000"/>
              </a:srgbClr>
            </a:solidFill>
          </a:ln>
        </p:spPr>
      </p:sp>
      <p:sp>
        <p:nvSpPr>
          <p:cNvPr id="5" name="Rectangle 5"/>
          <p:cNvSpPr/>
          <p:nvPr/>
        </p:nvSpPr>
        <p:spPr>
          <a:xfrm>
            <a:off x="381000" y="285750"/>
            <a:ext cx="11430000" cy="76200"/>
          </a:xfrm>
          <a:prstGeom prst="rect">
            <a:avLst/>
          </a:prstGeom>
          <a:solidFill>
            <a:srgbClr val="39FF14">
              <a:alpha val="8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81000" y="400050"/>
            <a:ext cx="11430000" cy="38100"/>
          </a:xfrm>
          <a:prstGeom prst="rect">
            <a:avLst/>
          </a:prstGeom>
          <a:solidFill>
            <a:srgbClr val="39FF14">
              <a:alpha val="4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62535" y="1445895"/>
            <a:ext cx="3866931" cy="792480"/>
          </a:xfrm>
          <a:prstGeom prst="rect">
            <a:avLst/>
          </a:prstGeom>
          <a:noFill/>
          <a:ln>
            <a:noFill/>
          </a:ln>
          <a:effectLst>
            <a:glow rad="7620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💾 GAME SAVED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50367" y="2126932"/>
            <a:ext cx="729126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第五轮的产物就是这份文件本身 —— SVG 已被转成原生可编辑形状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724150"/>
            <a:ext cx="3505200" cy="1714500"/>
          </a:xfrm>
          <a:prstGeom prst="rect">
            <a:avLst/>
          </a:prstGeom>
          <a:solidFill>
            <a:srgbClr val="161B22"/>
          </a:solidFill>
          <a:ln w="28575">
            <a:solidFill>
              <a:srgbClr val="39FF1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657302" y="2926080"/>
            <a:ext cx="133359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5 / 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9457" y="3522821"/>
            <a:ext cx="190928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轮次判定为「留用」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6780" y="385191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前四轮均给出可复现断言，无一空转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19150" y="4191000"/>
            <a:ext cx="38100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257300" y="4191000"/>
            <a:ext cx="38100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1695450" y="4191000"/>
            <a:ext cx="38100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133600" y="4191000"/>
            <a:ext cx="38100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2571750" y="4191000"/>
            <a:ext cx="381000" cy="95250"/>
          </a:xfrm>
          <a:prstGeom prst="rect">
            <a:avLst/>
          </a:prstGeom>
          <a:solidFill>
            <a:srgbClr val="39FF14">
              <a:alpha val="4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343400" y="2724150"/>
            <a:ext cx="3505200" cy="1714500"/>
          </a:xfrm>
          <a:prstGeom prst="rect">
            <a:avLst/>
          </a:prstGeom>
          <a:solidFill>
            <a:srgbClr val="161B22"/>
          </a:solidFill>
          <a:ln w="28575">
            <a:solidFill>
              <a:srgbClr val="00D4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898461" y="2926080"/>
            <a:ext cx="39507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17627" y="3522821"/>
            <a:ext cx="235674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付费凭据 / 外部 API 调用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40530" y="385191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内容不外发：海报类技能正因会 POST 而被排除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0" y="4191000"/>
            <a:ext cx="1905000" cy="9525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143500" y="4191000"/>
            <a:ext cx="1905000" cy="95250"/>
          </a:xfrm>
          <a:prstGeom prst="rect">
            <a:avLst/>
          </a:prstGeom>
          <a:solidFill>
            <a:srgbClr val="00D4FF">
              <a:alpha val="85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115300" y="2724150"/>
            <a:ext cx="3505200" cy="1714500"/>
          </a:xfrm>
          <a:prstGeom prst="rect">
            <a:avLst/>
          </a:prstGeom>
          <a:solidFill>
            <a:srgbClr val="161B22"/>
          </a:solidFill>
          <a:ln w="28575">
            <a:solidFill>
              <a:srgbClr val="FF2E9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670361" y="2926080"/>
            <a:ext cx="39507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2E97"/>
                </a:solidFill>
                <a:latin typeface="Consolas"/>
                <a:ea typeface="Microsoft YaHei"/>
                <a:cs typeface="Consolas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09196" y="3522821"/>
            <a:ext cx="21174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种互不相同的产物类型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94904" y="3851910"/>
            <a:ext cx="3745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HTML 图纸 / ASCII / 生成艺术 / .db / 办公文档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877300" y="4191000"/>
            <a:ext cx="28575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9220200" y="4191000"/>
            <a:ext cx="285750" cy="9525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9563100" y="4191000"/>
            <a:ext cx="285750" cy="95250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9906000" y="4191000"/>
            <a:ext cx="285750" cy="95250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10248900" y="4191000"/>
            <a:ext cx="285750" cy="95250"/>
          </a:xfrm>
          <a:prstGeom prst="rect">
            <a:avLst/>
          </a:prstGeom>
          <a:solidFill>
            <a:srgbClr val="E6EDF3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4724400"/>
            <a:ext cx="11049000" cy="85725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82002" y="4894421"/>
            <a:ext cx="1076484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D700"/>
                </a:solidFill>
                <a:latin typeface="Consolas"/>
                <a:ea typeface="Microsoft YaHei"/>
                <a:cs typeface="Consolas"/>
              </a:rPr>
              <a:t>▸ NEXT：webapp-testing（已 clone 未试）· sec-audit-cn（本机已装）· golang-testing（go 1.27.1 在路径上）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3908" y="5196364"/>
            <a:ext cx="96596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已排除：需要 PIL / openpyxl 的路线（pip3 包装脚本缺 realpath，只能用 python3 -m pip --target 装进 LAB 内）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260896" y="5934075"/>
            <a:ext cx="1670209" cy="30480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CONTINUE? Y / N</a:t>
            </a:r>
          </a:p>
        </p:txBody>
      </p:sp>
      <p:sp>
        <p:nvSpPr>
          <p:cNvPr id="37" name="Rectangle 37"/>
          <p:cNvSpPr/>
          <p:nvPr/>
        </p:nvSpPr>
        <p:spPr>
          <a:xfrm>
            <a:off x="381000" y="6362700"/>
            <a:ext cx="11430000" cy="38100"/>
          </a:xfrm>
          <a:prstGeom prst="rect">
            <a:avLst/>
          </a:prstGeom>
          <a:solidFill>
            <a:srgbClr val="39FF14">
              <a:alpha val="40000"/>
            </a:srgbClr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81000" y="6438900"/>
            <a:ext cx="11430000" cy="76200"/>
          </a:xfrm>
          <a:prstGeom prst="rect">
            <a:avLst/>
          </a:prstGeom>
          <a:solidFill>
            <a:srgbClr val="39FF14">
              <a:alpha val="80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1018139" y="60807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949E"/>
                </a:solidFill>
                <a:latin typeface="Consolas"/>
                <a:ea typeface="Microsoft YaHei"/>
                <a:cs typeface="Consolas"/>
              </a:rPr>
              <a:t>05 / 05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