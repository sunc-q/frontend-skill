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6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005587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2381250"/>
            <a:ext cx="76200" cy="2286000"/>
          </a:xfrm>
          <a:prstGeom prst="rect">
            <a:avLst/>
          </a:prstGeom>
          <a:solidFill>
            <a:srgbClr val="005587"/>
          </a:solidFill>
          <a:ln>
            <a:noFill/>
          </a:ln>
        </p:spPr>
      </p:sp>
      <p:sp>
        <p:nvSpPr>
          <p:cNvPr id="5" name="Polygon 5"/>
          <p:cNvSpPr/>
          <p:nvPr/>
        </p:nvSpPr>
        <p:spPr>
          <a:xfrm>
            <a:off x="9906000" y="1143000"/>
            <a:ext cx="2286000" cy="2286000"/>
          </a:xfrm>
          <a:custGeom>
            <a:avLst/>
            <a:gdLst/>
            <a:ahLst/>
            <a:cxnLst/>
            <a:rect l="l" t="t" r="r" b="b"/>
            <a:pathLst>
              <a:path w="2286000" h="2286000">
                <a:moveTo>
                  <a:pt x="0" y="0"/>
                </a:moveTo>
                <a:lnTo>
                  <a:pt x="2286000" y="0"/>
                </a:lnTo>
                <a:lnTo>
                  <a:pt x="2286000" y="2286000"/>
                </a:lnTo>
                <a:close/>
              </a:path>
            </a:pathLst>
          </a:custGeom>
          <a:solidFill>
            <a:srgbClr val="005587">
              <a:alpha val="5000"/>
            </a:srgbClr>
          </a:solidFill>
          <a:ln>
            <a:noFill/>
          </a:ln>
        </p:spPr>
      </p:sp>
      <p:sp>
        <p:nvSpPr>
          <p:cNvPr id="6" name="Polygon 6"/>
          <p:cNvSpPr/>
          <p:nvPr/>
        </p:nvSpPr>
        <p:spPr>
          <a:xfrm>
            <a:off x="9144000" y="4000500"/>
            <a:ext cx="2476500" cy="2286000"/>
          </a:xfrm>
          <a:custGeom>
            <a:avLst/>
            <a:gdLst/>
            <a:ahLst/>
            <a:cxnLst/>
            <a:rect l="l" t="t" r="r" b="b"/>
            <a:pathLst>
              <a:path w="2476500" h="2286000">
                <a:moveTo>
                  <a:pt x="0" y="1333500"/>
                </a:moveTo>
                <a:lnTo>
                  <a:pt x="2476500" y="0"/>
                </a:lnTo>
                <a:lnTo>
                  <a:pt x="2476500" y="2286000"/>
                </a:lnTo>
                <a:close/>
              </a:path>
            </a:pathLst>
          </a:custGeom>
          <a:solidFill>
            <a:srgbClr val="005587">
              <a:alpha val="8000"/>
            </a:srgbClr>
          </a:solidFill>
          <a:ln>
            <a:noFill/>
          </a:ln>
        </p:spPr>
      </p:sp>
      <p:sp>
        <p:nvSpPr>
          <p:cNvPr id="7" name="Line 7"/>
          <p:cNvSpPr/>
          <p:nvPr/>
        </p:nvSpPr>
        <p:spPr>
          <a:xfrm>
            <a:off x="10287000" y="4762500"/>
            <a:ext cx="1333500" cy="9525"/>
          </a:xfrm>
          <a:custGeom>
            <a:avLst/>
            <a:gdLst/>
            <a:ahLst/>
            <a:cxnLst/>
            <a:rect l="l" t="t" r="r" b="b"/>
            <a:pathLst>
              <a:path w="1333500" h="9525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/>
          <a:ln w="19050">
            <a:solidFill>
              <a:srgbClr val="004D5C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864870" y="2626995"/>
            <a:ext cx="7275957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澄区智慧运管中心建设项目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93445" y="3365182"/>
            <a:ext cx="245173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5D6D7E"/>
                </a:solidFill>
                <a:latin typeface="Arial"/>
                <a:ea typeface="Microsoft YaHei"/>
                <a:cs typeface="Arial"/>
              </a:rPr>
              <a:t>技术方案与投资建议书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58165" y="5601652"/>
            <a:ext cx="18669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致：澄区数字化管理办公室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58165" y="5849302"/>
            <a:ext cx="26029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栖云数字科技有限公司 · 2026 年 9 月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60070" y="6113145"/>
            <a:ext cx="16593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方案编号 CQ-IOC-2026-017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669238" y="6494145"/>
            <a:ext cx="9626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E74C3C"/>
                </a:solidFill>
                <a:latin typeface="Arial"/>
                <a:ea typeface="Microsoft YaHei"/>
                <a:cs typeface="Arial"/>
              </a:rPr>
              <a:t>机密 · 仅供评审</a:t>
            </a:r>
          </a:p>
        </p:txBody>
      </p:sp>
    </p:spTree>
  </p:cSld>
  <p:clrMapOvr>
    <a:masterClrMapping/>
  </p:clrMapOvr>
  <p:transition dur="5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00558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622935"/>
            <a:ext cx="273921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Agenda · 目录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110490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38100">
            <a:solidFill>
              <a:srgbClr val="F5A623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537210" y="1346835"/>
            <a:ext cx="42052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5587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17295" y="1460182"/>
            <a:ext cx="130706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现状与问题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464480" y="154114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P3</a:t>
            </a:r>
          </a:p>
        </p:txBody>
      </p:sp>
      <p:sp>
        <p:nvSpPr>
          <p:cNvPr id="9" name="Line 9"/>
          <p:cNvSpPr/>
          <p:nvPr/>
        </p:nvSpPr>
        <p:spPr>
          <a:xfrm>
            <a:off x="571500" y="19431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ECF0F1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537210" y="2261235"/>
            <a:ext cx="52403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5587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17295" y="2374582"/>
            <a:ext cx="15601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总体架构设计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464480" y="245554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P4</a:t>
            </a:r>
          </a:p>
        </p:txBody>
      </p:sp>
      <p:sp>
        <p:nvSpPr>
          <p:cNvPr id="13" name="Line 13"/>
          <p:cNvSpPr/>
          <p:nvPr/>
        </p:nvSpPr>
        <p:spPr>
          <a:xfrm>
            <a:off x="571500" y="28575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ECF0F1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537210" y="3175635"/>
            <a:ext cx="52403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5587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17295" y="3288982"/>
            <a:ext cx="206616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实施计划与里程碑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64480" y="336994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P5</a:t>
            </a:r>
          </a:p>
        </p:txBody>
      </p:sp>
      <p:sp>
        <p:nvSpPr>
          <p:cNvPr id="17" name="Line 17"/>
          <p:cNvSpPr/>
          <p:nvPr/>
        </p:nvSpPr>
        <p:spPr>
          <a:xfrm>
            <a:off x="571500" y="37719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ECF0F1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37210" y="4090035"/>
            <a:ext cx="52403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5587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17295" y="4203382"/>
            <a:ext cx="181313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投资报价与付款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464480" y="428434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P5</a:t>
            </a:r>
          </a:p>
        </p:txBody>
      </p:sp>
      <p:sp>
        <p:nvSpPr>
          <p:cNvPr id="21" name="Line 21"/>
          <p:cNvSpPr/>
          <p:nvPr/>
        </p:nvSpPr>
        <p:spPr>
          <a:xfrm>
            <a:off x="571500" y="46863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ECF0F1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537210" y="5004435"/>
            <a:ext cx="52403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5587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17295" y="5117782"/>
            <a:ext cx="181313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服务保障与合作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464480" y="519874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P6</a:t>
            </a:r>
          </a:p>
        </p:txBody>
      </p:sp>
      <p:sp>
        <p:nvSpPr>
          <p:cNvPr id="25" name="Line 25"/>
          <p:cNvSpPr/>
          <p:nvPr/>
        </p:nvSpPr>
        <p:spPr>
          <a:xfrm>
            <a:off x="571500" y="56007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ECF0F1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560070" y="653224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992296" y="6532245"/>
            <a:ext cx="163963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栖云数字 · 机密 · 仅供评审</a:t>
            </a:r>
          </a:p>
        </p:txBody>
      </p:sp>
    </p:spTree>
  </p:cSld>
  <p:clrMapOvr>
    <a:masterClrMapping/>
  </p:clrMapOvr>
  <p:transition dur="5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00558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337185"/>
            <a:ext cx="213883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现状与问题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0545" y="736282"/>
            <a:ext cx="792203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5D6D7E"/>
                </a:solidFill>
                <a:latin typeface="Arial"/>
                <a:ea typeface="Microsoft YaHei"/>
                <a:cs typeface="Arial"/>
              </a:rPr>
              <a:t>事件高位增长、响应近考核基线 3 倍，24 个子系统仅 9 个完成平台化接入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952500"/>
            <a:ext cx="2619375" cy="1428750"/>
          </a:xfrm>
          <a:prstGeom prst="rect">
            <a:avLst/>
          </a:prstGeom>
          <a:solidFill>
            <a:srgbClr val="FFFFFF"/>
          </a:solidFill>
          <a:ln w="19050">
            <a:solidFill>
              <a:srgbClr val="ECF0F1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744855" y="1149668"/>
            <a:ext cx="12172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D6D7E"/>
                </a:solidFill>
                <a:latin typeface="Arial"/>
                <a:ea typeface="Microsoft YaHei"/>
                <a:cs typeface="Arial"/>
              </a:rPr>
              <a:t>日均告警事件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20090" y="1510665"/>
            <a:ext cx="1348978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F5A623"/>
                </a:solidFill>
                <a:latin typeface="Arial"/>
                <a:ea typeface="Microsoft YaHei"/>
                <a:cs typeface="Arial"/>
              </a:rPr>
              <a:t>2,140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50570" y="2036445"/>
            <a:ext cx="121900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条 · 人工核查占 78%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381375" y="952500"/>
            <a:ext cx="2619375" cy="1428750"/>
          </a:xfrm>
          <a:prstGeom prst="rect">
            <a:avLst/>
          </a:prstGeom>
          <a:solidFill>
            <a:srgbClr val="FFFFFF"/>
          </a:solidFill>
          <a:ln w="19050">
            <a:solidFill>
              <a:srgbClr val="ECF0F1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3554730" y="1149668"/>
            <a:ext cx="12172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D6D7E"/>
                </a:solidFill>
                <a:latin typeface="Arial"/>
                <a:ea typeface="Microsoft YaHei"/>
                <a:cs typeface="Arial"/>
              </a:rPr>
              <a:t>平均事件响应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529965" y="1510665"/>
            <a:ext cx="640490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E74C3C"/>
                </a:solidFill>
                <a:latin typeface="Arial"/>
                <a:ea typeface="Microsoft YaHei"/>
                <a:cs typeface="Arial"/>
              </a:rPr>
              <a:t>86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560445" y="2036445"/>
            <a:ext cx="152133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分钟 · 考核基线 ≤30 分钟</a:t>
            </a:r>
          </a:p>
        </p:txBody>
      </p:sp>
      <p:sp>
        <p:nvSpPr>
          <p:cNvPr id="14" name="Rectangle 14"/>
          <p:cNvSpPr/>
          <p:nvPr/>
        </p:nvSpPr>
        <p:spPr>
          <a:xfrm>
            <a:off x="6191250" y="952500"/>
            <a:ext cx="2619375" cy="1428750"/>
          </a:xfrm>
          <a:prstGeom prst="rect">
            <a:avLst/>
          </a:prstGeom>
          <a:solidFill>
            <a:srgbClr val="FFFFFF"/>
          </a:solidFill>
          <a:ln w="19050">
            <a:solidFill>
              <a:srgbClr val="ECF0F1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6364605" y="1149668"/>
            <a:ext cx="12172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D6D7E"/>
                </a:solidFill>
                <a:latin typeface="Arial"/>
                <a:ea typeface="Microsoft YaHei"/>
                <a:cs typeface="Arial"/>
              </a:rPr>
              <a:t>跨部门协同率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339840" y="1510665"/>
            <a:ext cx="640490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F5A623"/>
                </a:solidFill>
                <a:latin typeface="Arial"/>
                <a:ea typeface="Microsoft YaHei"/>
                <a:cs typeface="Arial"/>
              </a:rPr>
              <a:t>37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370320" y="2036445"/>
            <a:ext cx="96926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% · 目标值 ≥80%</a:t>
            </a:r>
          </a:p>
        </p:txBody>
      </p:sp>
      <p:sp>
        <p:nvSpPr>
          <p:cNvPr id="18" name="Rectangle 18"/>
          <p:cNvSpPr/>
          <p:nvPr/>
        </p:nvSpPr>
        <p:spPr>
          <a:xfrm>
            <a:off x="9001125" y="952500"/>
            <a:ext cx="2619375" cy="1428750"/>
          </a:xfrm>
          <a:prstGeom prst="rect">
            <a:avLst/>
          </a:prstGeom>
          <a:solidFill>
            <a:srgbClr val="FFFFFF"/>
          </a:solidFill>
          <a:ln w="19050">
            <a:solidFill>
              <a:srgbClr val="ECF0F1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9174480" y="1149668"/>
            <a:ext cx="161163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D6D7E"/>
                </a:solidFill>
                <a:latin typeface="Arial"/>
                <a:ea typeface="Microsoft YaHei"/>
                <a:cs typeface="Arial"/>
              </a:rPr>
              <a:t>子系统平台化接入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149715" y="1510665"/>
            <a:ext cx="1197159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F5A623"/>
                </a:solidFill>
                <a:latin typeface="Arial"/>
                <a:ea typeface="Microsoft YaHei"/>
                <a:cs typeface="Arial"/>
              </a:rPr>
              <a:t>9/24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180195" y="2036445"/>
            <a:ext cx="135702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个（已接入 / 应接入）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71500" y="2809875"/>
            <a:ext cx="11049000" cy="2381250"/>
          </a:xfrm>
          <a:prstGeom prst="rect">
            <a:avLst/>
          </a:prstGeom>
          <a:solidFill>
            <a:srgbClr val="FFFFFF"/>
          </a:solidFill>
          <a:ln w="19050">
            <a:solidFill>
              <a:srgbClr val="ECF0F1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779145" y="2974658"/>
            <a:ext cx="282525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事件来源年度分布（起）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506361" y="3055620"/>
            <a:ext cx="89696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合计 12,860 起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74994" y="3458528"/>
            <a:ext cx="86244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5D6D7E"/>
                </a:solidFill>
                <a:latin typeface="Arial"/>
                <a:ea typeface="Microsoft YaHei"/>
                <a:cs typeface="Arial"/>
              </a:rPr>
              <a:t>视频 AI 识别</a:t>
            </a:r>
          </a:p>
        </p:txBody>
      </p:sp>
      <p:sp>
        <p:nvSpPr>
          <p:cNvPr id="26" name="Rectangle 26"/>
          <p:cNvSpPr/>
          <p:nvPr/>
        </p:nvSpPr>
        <p:spPr>
          <a:xfrm>
            <a:off x="2476500" y="3409950"/>
            <a:ext cx="8001000" cy="171450"/>
          </a:xfrm>
          <a:prstGeom prst="rect">
            <a:avLst/>
          </a:prstGeom>
          <a:solidFill>
            <a:srgbClr val="005587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10561320" y="3465195"/>
            <a:ext cx="38433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5,830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436656" y="3782378"/>
            <a:ext cx="90077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5D6D7E"/>
                </a:solidFill>
                <a:latin typeface="Arial"/>
                <a:ea typeface="Microsoft YaHei"/>
                <a:cs typeface="Arial"/>
              </a:rPr>
              <a:t>IoT 传感设备</a:t>
            </a:r>
          </a:p>
        </p:txBody>
      </p:sp>
      <p:sp>
        <p:nvSpPr>
          <p:cNvPr id="29" name="Rectangle 29"/>
          <p:cNvSpPr/>
          <p:nvPr/>
        </p:nvSpPr>
        <p:spPr>
          <a:xfrm>
            <a:off x="2476500" y="3733800"/>
            <a:ext cx="4281488" cy="171450"/>
          </a:xfrm>
          <a:prstGeom prst="rect">
            <a:avLst/>
          </a:prstGeom>
          <a:solidFill>
            <a:srgbClr val="0076A8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841808" y="3789045"/>
            <a:ext cx="3514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3,120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37298" y="4106228"/>
            <a:ext cx="11001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5D6D7E"/>
                </a:solidFill>
                <a:latin typeface="Arial"/>
                <a:ea typeface="Microsoft YaHei"/>
                <a:cs typeface="Arial"/>
              </a:rPr>
              <a:t>网格员人工上报</a:t>
            </a:r>
          </a:p>
        </p:txBody>
      </p:sp>
      <p:sp>
        <p:nvSpPr>
          <p:cNvPr id="32" name="Rectangle 32"/>
          <p:cNvSpPr/>
          <p:nvPr/>
        </p:nvSpPr>
        <p:spPr>
          <a:xfrm>
            <a:off x="2476500" y="4057650"/>
            <a:ext cx="2827020" cy="171450"/>
          </a:xfrm>
          <a:prstGeom prst="rect">
            <a:avLst/>
          </a:prstGeom>
          <a:solidFill>
            <a:srgbClr val="4A90A4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5387340" y="4112895"/>
            <a:ext cx="38433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2,060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574673" y="4430078"/>
            <a:ext cx="7627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5D6D7E"/>
                </a:solidFill>
                <a:latin typeface="Arial"/>
                <a:ea typeface="Microsoft YaHei"/>
                <a:cs typeface="Arial"/>
              </a:rPr>
              <a:t>12345 热线</a:t>
            </a:r>
          </a:p>
        </p:txBody>
      </p:sp>
      <p:sp>
        <p:nvSpPr>
          <p:cNvPr id="35" name="Rectangle 35"/>
          <p:cNvSpPr/>
          <p:nvPr/>
        </p:nvSpPr>
        <p:spPr>
          <a:xfrm>
            <a:off x="2476500" y="4381500"/>
            <a:ext cx="1824990" cy="171450"/>
          </a:xfrm>
          <a:prstGeom prst="rect">
            <a:avLst/>
          </a:prstGeom>
          <a:solidFill>
            <a:srgbClr val="F5A623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4385310" y="4436745"/>
            <a:ext cx="3514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1,330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697355" y="4753928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5D6D7E"/>
                </a:solidFill>
                <a:latin typeface="Arial"/>
                <a:ea typeface="Microsoft YaHei"/>
                <a:cs typeface="Arial"/>
              </a:rPr>
              <a:t>其他渠道</a:t>
            </a:r>
          </a:p>
        </p:txBody>
      </p:sp>
      <p:sp>
        <p:nvSpPr>
          <p:cNvPr id="38" name="Rectangle 38"/>
          <p:cNvSpPr/>
          <p:nvPr/>
        </p:nvSpPr>
        <p:spPr>
          <a:xfrm>
            <a:off x="2476500" y="4705350"/>
            <a:ext cx="713422" cy="171450"/>
          </a:xfrm>
          <a:prstGeom prst="rect">
            <a:avLst/>
          </a:prstGeom>
          <a:solidFill>
            <a:srgbClr val="E74C3C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3273742" y="4760595"/>
            <a:ext cx="23974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520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60070" y="653224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992296" y="6532245"/>
            <a:ext cx="163963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栖云数字 · 机密 · 仅供评审</a:t>
            </a:r>
          </a:p>
        </p:txBody>
      </p:sp>
    </p:spTree>
  </p:cSld>
  <p:clrMapOvr>
    <a:masterClrMapping/>
  </p:clrMapOvr>
  <p:transition dur="5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00558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337185"/>
            <a:ext cx="255289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总体架构设计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0545" y="736282"/>
            <a:ext cx="575319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5D6D7E"/>
                </a:solidFill>
                <a:latin typeface="Arial"/>
                <a:ea typeface="Microsoft YaHei"/>
                <a:cs typeface="Arial"/>
              </a:rPr>
              <a:t>五层 28 个能力模块：一次接入、集中治理、按需编排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238250"/>
            <a:ext cx="11049000" cy="880110"/>
          </a:xfrm>
          <a:prstGeom prst="rect">
            <a:avLst/>
          </a:prstGeom>
          <a:solidFill>
            <a:srgbClr val="FFFFFF"/>
          </a:solidFill>
          <a:ln w="19050">
            <a:solidFill>
              <a:srgbClr val="ECF0F1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71500" y="1238250"/>
            <a:ext cx="1143000" cy="880110"/>
          </a:xfrm>
          <a:prstGeom prst="rect">
            <a:avLst/>
          </a:prstGeom>
          <a:solidFill>
            <a:srgbClr val="005587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42498" y="1566862"/>
            <a:ext cx="8010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应用层</a:t>
            </a:r>
          </a:p>
        </p:txBody>
      </p:sp>
      <p:sp>
        <p:nvSpPr>
          <p:cNvPr id="9" name="Rectangle 9"/>
          <p:cNvSpPr/>
          <p:nvPr/>
        </p:nvSpPr>
        <p:spPr>
          <a:xfrm>
            <a:off x="1905000" y="1468755"/>
            <a:ext cx="1052512" cy="419100"/>
          </a:xfrm>
          <a:prstGeom prst="rect">
            <a:avLst/>
          </a:prstGeom>
          <a:solidFill>
            <a:srgbClr val="ECF0F1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2156936" y="1628775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态势总览</a:t>
            </a:r>
          </a:p>
        </p:txBody>
      </p:sp>
      <p:sp>
        <p:nvSpPr>
          <p:cNvPr id="11" name="Rectangle 11"/>
          <p:cNvSpPr/>
          <p:nvPr/>
        </p:nvSpPr>
        <p:spPr>
          <a:xfrm>
            <a:off x="3109912" y="1468755"/>
            <a:ext cx="1052512" cy="419100"/>
          </a:xfrm>
          <a:prstGeom prst="rect">
            <a:avLst/>
          </a:prstGeom>
          <a:solidFill>
            <a:srgbClr val="ECF0F1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3361849" y="1628775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事件调度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314825" y="1468755"/>
            <a:ext cx="1052512" cy="419100"/>
          </a:xfrm>
          <a:prstGeom prst="rect">
            <a:avLst/>
          </a:prstGeom>
          <a:solidFill>
            <a:srgbClr val="ECF0F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566761" y="1628775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巡更设施</a:t>
            </a:r>
          </a:p>
        </p:txBody>
      </p:sp>
      <p:sp>
        <p:nvSpPr>
          <p:cNvPr id="15" name="Rectangle 15"/>
          <p:cNvSpPr/>
          <p:nvPr/>
        </p:nvSpPr>
        <p:spPr>
          <a:xfrm>
            <a:off x="5519738" y="1468755"/>
            <a:ext cx="1052512" cy="419100"/>
          </a:xfrm>
          <a:prstGeom prst="rect">
            <a:avLst/>
          </a:prstGeom>
          <a:solidFill>
            <a:srgbClr val="ECF0F1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5771674" y="1628775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能耗双碳</a:t>
            </a:r>
          </a:p>
        </p:txBody>
      </p:sp>
      <p:sp>
        <p:nvSpPr>
          <p:cNvPr id="17" name="Rectangle 17"/>
          <p:cNvSpPr/>
          <p:nvPr/>
        </p:nvSpPr>
        <p:spPr>
          <a:xfrm>
            <a:off x="6724650" y="1468755"/>
            <a:ext cx="1052512" cy="419100"/>
          </a:xfrm>
          <a:prstGeom prst="rect">
            <a:avLst/>
          </a:prstGeom>
          <a:solidFill>
            <a:srgbClr val="ECF0F1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6976586" y="1628775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应急指挥</a:t>
            </a:r>
          </a:p>
        </p:txBody>
      </p:sp>
      <p:sp>
        <p:nvSpPr>
          <p:cNvPr id="19" name="Rectangle 19"/>
          <p:cNvSpPr/>
          <p:nvPr/>
        </p:nvSpPr>
        <p:spPr>
          <a:xfrm>
            <a:off x="7929562" y="1468755"/>
            <a:ext cx="1052512" cy="419100"/>
          </a:xfrm>
          <a:prstGeom prst="rect">
            <a:avLst/>
          </a:prstGeom>
          <a:solidFill>
            <a:srgbClr val="ECF0F1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8181499" y="1628775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考核分析</a:t>
            </a:r>
          </a:p>
        </p:txBody>
      </p:sp>
      <p:sp>
        <p:nvSpPr>
          <p:cNvPr id="21" name="Rectangle 21"/>
          <p:cNvSpPr/>
          <p:nvPr/>
        </p:nvSpPr>
        <p:spPr>
          <a:xfrm>
            <a:off x="9134475" y="1468755"/>
            <a:ext cx="1052512" cy="419100"/>
          </a:xfrm>
          <a:prstGeom prst="rect">
            <a:avLst/>
          </a:prstGeom>
          <a:solidFill>
            <a:srgbClr val="ECF0F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9386411" y="1628775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企业服务</a:t>
            </a:r>
          </a:p>
        </p:txBody>
      </p:sp>
      <p:sp>
        <p:nvSpPr>
          <p:cNvPr id="23" name="Rectangle 23"/>
          <p:cNvSpPr/>
          <p:nvPr/>
        </p:nvSpPr>
        <p:spPr>
          <a:xfrm>
            <a:off x="10339388" y="1468755"/>
            <a:ext cx="1052512" cy="419100"/>
          </a:xfrm>
          <a:prstGeom prst="rect">
            <a:avLst/>
          </a:prstGeom>
          <a:solidFill>
            <a:srgbClr val="ECF0F1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10591324" y="1628775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惠民服务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005852" y="1274445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8 模块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71500" y="2232660"/>
            <a:ext cx="11049000" cy="880110"/>
          </a:xfrm>
          <a:prstGeom prst="rect">
            <a:avLst/>
          </a:prstGeom>
          <a:solidFill>
            <a:srgbClr val="FFFFFF"/>
          </a:solidFill>
          <a:ln w="19050">
            <a:solidFill>
              <a:srgbClr val="ECF0F1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571500" y="2232660"/>
            <a:ext cx="1143000" cy="880110"/>
          </a:xfrm>
          <a:prstGeom prst="rect">
            <a:avLst/>
          </a:prstGeom>
          <a:solidFill>
            <a:srgbClr val="004D5C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742498" y="2561273"/>
            <a:ext cx="8010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平台层</a:t>
            </a:r>
          </a:p>
        </p:txBody>
      </p:sp>
      <p:sp>
        <p:nvSpPr>
          <p:cNvPr id="29" name="Rectangle 29"/>
          <p:cNvSpPr/>
          <p:nvPr/>
        </p:nvSpPr>
        <p:spPr>
          <a:xfrm>
            <a:off x="1905000" y="2463165"/>
            <a:ext cx="1454150" cy="419100"/>
          </a:xfrm>
          <a:prstGeom prst="rect">
            <a:avLst/>
          </a:prstGeom>
          <a:solidFill>
            <a:srgbClr val="ECF0F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2300534" y="2606993"/>
            <a:ext cx="66308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AI 算法仓</a:t>
            </a:r>
          </a:p>
        </p:txBody>
      </p:sp>
      <p:sp>
        <p:nvSpPr>
          <p:cNvPr id="31" name="Rectangle 31"/>
          <p:cNvSpPr/>
          <p:nvPr/>
        </p:nvSpPr>
        <p:spPr>
          <a:xfrm>
            <a:off x="3511550" y="2463165"/>
            <a:ext cx="1454150" cy="419100"/>
          </a:xfrm>
          <a:prstGeom prst="rect">
            <a:avLst/>
          </a:prstGeom>
          <a:solidFill>
            <a:srgbClr val="ECF0F1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3864912" y="2606993"/>
            <a:ext cx="7474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GIS 一张图</a:t>
            </a:r>
          </a:p>
        </p:txBody>
      </p:sp>
      <p:sp>
        <p:nvSpPr>
          <p:cNvPr id="33" name="Rectangle 33"/>
          <p:cNvSpPr/>
          <p:nvPr/>
        </p:nvSpPr>
        <p:spPr>
          <a:xfrm>
            <a:off x="5118100" y="2463165"/>
            <a:ext cx="1454150" cy="419100"/>
          </a:xfrm>
          <a:prstGeom prst="rect">
            <a:avLst/>
          </a:prstGeom>
          <a:solidFill>
            <a:srgbClr val="ECF0F1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5525135" y="2606993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物联接入</a:t>
            </a:r>
          </a:p>
        </p:txBody>
      </p:sp>
      <p:sp>
        <p:nvSpPr>
          <p:cNvPr id="35" name="Rectangle 35"/>
          <p:cNvSpPr/>
          <p:nvPr/>
        </p:nvSpPr>
        <p:spPr>
          <a:xfrm>
            <a:off x="6724650" y="2463165"/>
            <a:ext cx="1454150" cy="419100"/>
          </a:xfrm>
          <a:prstGeom prst="rect">
            <a:avLst/>
          </a:prstGeom>
          <a:solidFill>
            <a:srgbClr val="ECF0F1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7131685" y="2606993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流程引擎</a:t>
            </a:r>
          </a:p>
        </p:txBody>
      </p:sp>
      <p:sp>
        <p:nvSpPr>
          <p:cNvPr id="37" name="Rectangle 37"/>
          <p:cNvSpPr/>
          <p:nvPr/>
        </p:nvSpPr>
        <p:spPr>
          <a:xfrm>
            <a:off x="8331200" y="2463165"/>
            <a:ext cx="1454150" cy="419100"/>
          </a:xfrm>
          <a:prstGeom prst="rect">
            <a:avLst/>
          </a:prstGeom>
          <a:solidFill>
            <a:srgbClr val="ECF0F1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8738235" y="2606993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数字孪生</a:t>
            </a:r>
          </a:p>
        </p:txBody>
      </p:sp>
      <p:sp>
        <p:nvSpPr>
          <p:cNvPr id="39" name="Rectangle 39"/>
          <p:cNvSpPr/>
          <p:nvPr/>
        </p:nvSpPr>
        <p:spPr>
          <a:xfrm>
            <a:off x="9937750" y="2463165"/>
            <a:ext cx="1454150" cy="419100"/>
          </a:xfrm>
          <a:prstGeom prst="rect">
            <a:avLst/>
          </a:prstGeom>
          <a:solidFill>
            <a:srgbClr val="ECF0F1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10344785" y="2606993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开放平台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005852" y="2268855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6 模块</a:t>
            </a:r>
          </a:p>
        </p:txBody>
      </p:sp>
      <p:sp>
        <p:nvSpPr>
          <p:cNvPr id="42" name="Rectangle 42"/>
          <p:cNvSpPr/>
          <p:nvPr/>
        </p:nvSpPr>
        <p:spPr>
          <a:xfrm>
            <a:off x="571500" y="3227070"/>
            <a:ext cx="11049000" cy="880110"/>
          </a:xfrm>
          <a:prstGeom prst="rect">
            <a:avLst/>
          </a:prstGeom>
          <a:solidFill>
            <a:srgbClr val="FFFFFF"/>
          </a:solidFill>
          <a:ln w="19050">
            <a:solidFill>
              <a:srgbClr val="ECF0F1"/>
            </a:solidFill>
          </a:ln>
        </p:spPr>
      </p:sp>
      <p:sp>
        <p:nvSpPr>
          <p:cNvPr id="43" name="Rectangle 43"/>
          <p:cNvSpPr/>
          <p:nvPr/>
        </p:nvSpPr>
        <p:spPr>
          <a:xfrm>
            <a:off x="571500" y="3227070"/>
            <a:ext cx="1143000" cy="880110"/>
          </a:xfrm>
          <a:prstGeom prst="rect">
            <a:avLst/>
          </a:prstGeom>
          <a:solidFill>
            <a:srgbClr val="005587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742498" y="3555682"/>
            <a:ext cx="8010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数据层</a:t>
            </a:r>
          </a:p>
        </p:txBody>
      </p:sp>
      <p:sp>
        <p:nvSpPr>
          <p:cNvPr id="45" name="Rectangle 45"/>
          <p:cNvSpPr/>
          <p:nvPr/>
        </p:nvSpPr>
        <p:spPr>
          <a:xfrm>
            <a:off x="1905000" y="3457575"/>
            <a:ext cx="1775460" cy="419100"/>
          </a:xfrm>
          <a:prstGeom prst="rect">
            <a:avLst/>
          </a:prstGeom>
          <a:solidFill>
            <a:srgbClr val="ECF0F1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2472690" y="360140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数据汇聚</a:t>
            </a:r>
          </a:p>
        </p:txBody>
      </p:sp>
      <p:sp>
        <p:nvSpPr>
          <p:cNvPr id="47" name="Rectangle 47"/>
          <p:cNvSpPr/>
          <p:nvPr/>
        </p:nvSpPr>
        <p:spPr>
          <a:xfrm>
            <a:off x="3832860" y="3457575"/>
            <a:ext cx="1775460" cy="419100"/>
          </a:xfrm>
          <a:prstGeom prst="rect">
            <a:avLst/>
          </a:prstGeom>
          <a:solidFill>
            <a:srgbClr val="ECF0F1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4400550" y="360140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数据治理</a:t>
            </a:r>
          </a:p>
        </p:txBody>
      </p:sp>
      <p:sp>
        <p:nvSpPr>
          <p:cNvPr id="49" name="Rectangle 49"/>
          <p:cNvSpPr/>
          <p:nvPr/>
        </p:nvSpPr>
        <p:spPr>
          <a:xfrm>
            <a:off x="5760720" y="3457575"/>
            <a:ext cx="1775460" cy="419100"/>
          </a:xfrm>
          <a:prstGeom prst="rect">
            <a:avLst/>
          </a:prstGeom>
          <a:solidFill>
            <a:srgbClr val="ECF0F1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6328410" y="360140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数据共享</a:t>
            </a:r>
          </a:p>
        </p:txBody>
      </p:sp>
      <p:sp>
        <p:nvSpPr>
          <p:cNvPr id="51" name="Rectangle 51"/>
          <p:cNvSpPr/>
          <p:nvPr/>
        </p:nvSpPr>
        <p:spPr>
          <a:xfrm>
            <a:off x="7688580" y="3457575"/>
            <a:ext cx="1775460" cy="419100"/>
          </a:xfrm>
          <a:prstGeom prst="rect">
            <a:avLst/>
          </a:prstGeom>
          <a:solidFill>
            <a:srgbClr val="ECF0F1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8256270" y="360140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数据安全</a:t>
            </a:r>
          </a:p>
        </p:txBody>
      </p:sp>
      <p:sp>
        <p:nvSpPr>
          <p:cNvPr id="53" name="Rectangle 53"/>
          <p:cNvSpPr/>
          <p:nvPr/>
        </p:nvSpPr>
        <p:spPr>
          <a:xfrm>
            <a:off x="9616440" y="3457575"/>
            <a:ext cx="1775460" cy="419100"/>
          </a:xfrm>
          <a:prstGeom prst="rect">
            <a:avLst/>
          </a:prstGeom>
          <a:solidFill>
            <a:srgbClr val="ECF0F1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10184130" y="360140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数据资产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1005852" y="3263265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5 模块</a:t>
            </a:r>
          </a:p>
        </p:txBody>
      </p:sp>
      <p:sp>
        <p:nvSpPr>
          <p:cNvPr id="56" name="Rectangle 56"/>
          <p:cNvSpPr/>
          <p:nvPr/>
        </p:nvSpPr>
        <p:spPr>
          <a:xfrm>
            <a:off x="571500" y="4221480"/>
            <a:ext cx="11049000" cy="880110"/>
          </a:xfrm>
          <a:prstGeom prst="rect">
            <a:avLst/>
          </a:prstGeom>
          <a:solidFill>
            <a:srgbClr val="FFFFFF"/>
          </a:solidFill>
          <a:ln w="19050">
            <a:solidFill>
              <a:srgbClr val="ECF0F1"/>
            </a:solidFill>
          </a:ln>
        </p:spPr>
      </p:sp>
      <p:sp>
        <p:nvSpPr>
          <p:cNvPr id="57" name="Rectangle 57"/>
          <p:cNvSpPr/>
          <p:nvPr/>
        </p:nvSpPr>
        <p:spPr>
          <a:xfrm>
            <a:off x="571500" y="4221480"/>
            <a:ext cx="1143000" cy="880110"/>
          </a:xfrm>
          <a:prstGeom prst="rect">
            <a:avLst/>
          </a:prstGeom>
          <a:solidFill>
            <a:srgbClr val="004D5C"/>
          </a:solidFill>
          <a:ln>
            <a:noFill/>
          </a:ln>
        </p:spPr>
      </p:sp>
      <p:sp>
        <p:nvSpPr>
          <p:cNvPr id="58" name="TextBox 58"/>
          <p:cNvSpPr txBox="1"/>
          <p:nvPr/>
        </p:nvSpPr>
        <p:spPr>
          <a:xfrm>
            <a:off x="742498" y="4550092"/>
            <a:ext cx="8010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网络层</a:t>
            </a:r>
          </a:p>
        </p:txBody>
      </p:sp>
      <p:sp>
        <p:nvSpPr>
          <p:cNvPr id="59" name="Rectangle 59"/>
          <p:cNvSpPr/>
          <p:nvPr/>
        </p:nvSpPr>
        <p:spPr>
          <a:xfrm>
            <a:off x="1905000" y="4451985"/>
            <a:ext cx="3060700" cy="419100"/>
          </a:xfrm>
          <a:prstGeom prst="rect">
            <a:avLst/>
          </a:prstGeom>
          <a:solidFill>
            <a:srgbClr val="ECF0F1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3115310" y="459581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政务外网</a:t>
            </a:r>
          </a:p>
        </p:txBody>
      </p:sp>
      <p:sp>
        <p:nvSpPr>
          <p:cNvPr id="61" name="Rectangle 61"/>
          <p:cNvSpPr/>
          <p:nvPr/>
        </p:nvSpPr>
        <p:spPr>
          <a:xfrm>
            <a:off x="5118100" y="4451985"/>
            <a:ext cx="3060700" cy="419100"/>
          </a:xfrm>
          <a:prstGeom prst="rect">
            <a:avLst/>
          </a:prstGeom>
          <a:solidFill>
            <a:srgbClr val="ECF0F1"/>
          </a:solidFill>
          <a:ln>
            <a:noFill/>
          </a:ln>
        </p:spPr>
      </p:sp>
      <p:sp>
        <p:nvSpPr>
          <p:cNvPr id="62" name="TextBox 62"/>
          <p:cNvSpPr txBox="1"/>
          <p:nvPr/>
        </p:nvSpPr>
        <p:spPr>
          <a:xfrm>
            <a:off x="6374416" y="4595812"/>
            <a:ext cx="54806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5G 切片</a:t>
            </a:r>
          </a:p>
        </p:txBody>
      </p:sp>
      <p:sp>
        <p:nvSpPr>
          <p:cNvPr id="63" name="Rectangle 63"/>
          <p:cNvSpPr/>
          <p:nvPr/>
        </p:nvSpPr>
        <p:spPr>
          <a:xfrm>
            <a:off x="8331200" y="4451985"/>
            <a:ext cx="3060700" cy="419100"/>
          </a:xfrm>
          <a:prstGeom prst="rect">
            <a:avLst/>
          </a:prstGeom>
          <a:solidFill>
            <a:srgbClr val="ECF0F1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9541510" y="459581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物联专网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1005852" y="4257675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3 模块</a:t>
            </a:r>
          </a:p>
        </p:txBody>
      </p:sp>
      <p:sp>
        <p:nvSpPr>
          <p:cNvPr id="66" name="Rectangle 66"/>
          <p:cNvSpPr/>
          <p:nvPr/>
        </p:nvSpPr>
        <p:spPr>
          <a:xfrm>
            <a:off x="571500" y="5215890"/>
            <a:ext cx="11049000" cy="880110"/>
          </a:xfrm>
          <a:prstGeom prst="rect">
            <a:avLst/>
          </a:prstGeom>
          <a:solidFill>
            <a:srgbClr val="FFFFFF"/>
          </a:solidFill>
          <a:ln w="19050">
            <a:solidFill>
              <a:srgbClr val="ECF0F1"/>
            </a:solidFill>
          </a:ln>
        </p:spPr>
      </p:sp>
      <p:sp>
        <p:nvSpPr>
          <p:cNvPr id="67" name="Rectangle 67"/>
          <p:cNvSpPr/>
          <p:nvPr/>
        </p:nvSpPr>
        <p:spPr>
          <a:xfrm>
            <a:off x="571500" y="5215890"/>
            <a:ext cx="1143000" cy="880110"/>
          </a:xfrm>
          <a:prstGeom prst="rect">
            <a:avLst/>
          </a:prstGeom>
          <a:solidFill>
            <a:srgbClr val="005587"/>
          </a:solidFill>
          <a:ln>
            <a:noFill/>
          </a:ln>
        </p:spPr>
      </p:sp>
      <p:sp>
        <p:nvSpPr>
          <p:cNvPr id="68" name="TextBox 68"/>
          <p:cNvSpPr txBox="1"/>
          <p:nvPr/>
        </p:nvSpPr>
        <p:spPr>
          <a:xfrm>
            <a:off x="742498" y="5544502"/>
            <a:ext cx="8010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感知层</a:t>
            </a:r>
          </a:p>
        </p:txBody>
      </p:sp>
      <p:sp>
        <p:nvSpPr>
          <p:cNvPr id="69" name="Rectangle 69"/>
          <p:cNvSpPr/>
          <p:nvPr/>
        </p:nvSpPr>
        <p:spPr>
          <a:xfrm>
            <a:off x="1905000" y="5446395"/>
            <a:ext cx="1454150" cy="419100"/>
          </a:xfrm>
          <a:prstGeom prst="rect">
            <a:avLst/>
          </a:prstGeom>
          <a:solidFill>
            <a:srgbClr val="ECF0F1"/>
          </a:solidFill>
          <a:ln>
            <a:noFill/>
          </a:ln>
        </p:spPr>
      </p:sp>
      <p:sp>
        <p:nvSpPr>
          <p:cNvPr id="70" name="TextBox 70"/>
          <p:cNvSpPr txBox="1"/>
          <p:nvPr/>
        </p:nvSpPr>
        <p:spPr>
          <a:xfrm>
            <a:off x="2312035" y="5590223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视频监控</a:t>
            </a:r>
          </a:p>
        </p:txBody>
      </p:sp>
      <p:sp>
        <p:nvSpPr>
          <p:cNvPr id="71" name="Rectangle 71"/>
          <p:cNvSpPr/>
          <p:nvPr/>
        </p:nvSpPr>
        <p:spPr>
          <a:xfrm>
            <a:off x="3511550" y="5446395"/>
            <a:ext cx="1454150" cy="419100"/>
          </a:xfrm>
          <a:prstGeom prst="rect">
            <a:avLst/>
          </a:prstGeom>
          <a:solidFill>
            <a:srgbClr val="ECF0F1"/>
          </a:solidFill>
          <a:ln>
            <a:noFill/>
          </a:ln>
        </p:spPr>
      </p:sp>
      <p:sp>
        <p:nvSpPr>
          <p:cNvPr id="72" name="TextBox 72"/>
          <p:cNvSpPr txBox="1"/>
          <p:nvPr/>
        </p:nvSpPr>
        <p:spPr>
          <a:xfrm>
            <a:off x="3941588" y="5590223"/>
            <a:ext cx="59407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IoT 传感</a:t>
            </a:r>
          </a:p>
        </p:txBody>
      </p:sp>
      <p:sp>
        <p:nvSpPr>
          <p:cNvPr id="73" name="Rectangle 73"/>
          <p:cNvSpPr/>
          <p:nvPr/>
        </p:nvSpPr>
        <p:spPr>
          <a:xfrm>
            <a:off x="5118100" y="5446395"/>
            <a:ext cx="1454150" cy="419100"/>
          </a:xfrm>
          <a:prstGeom prst="rect">
            <a:avLst/>
          </a:prstGeom>
          <a:solidFill>
            <a:srgbClr val="ECF0F1"/>
          </a:solidFill>
          <a:ln>
            <a:noFill/>
          </a:ln>
        </p:spPr>
      </p:sp>
      <p:sp>
        <p:nvSpPr>
          <p:cNvPr id="74" name="TextBox 74"/>
          <p:cNvSpPr txBox="1"/>
          <p:nvPr/>
        </p:nvSpPr>
        <p:spPr>
          <a:xfrm>
            <a:off x="5525135" y="5590223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门禁道闸</a:t>
            </a:r>
          </a:p>
        </p:txBody>
      </p:sp>
      <p:sp>
        <p:nvSpPr>
          <p:cNvPr id="75" name="Rectangle 75"/>
          <p:cNvSpPr/>
          <p:nvPr/>
        </p:nvSpPr>
        <p:spPr>
          <a:xfrm>
            <a:off x="6724650" y="5446395"/>
            <a:ext cx="1454150" cy="419100"/>
          </a:xfrm>
          <a:prstGeom prst="rect">
            <a:avLst/>
          </a:prstGeom>
          <a:solidFill>
            <a:srgbClr val="ECF0F1"/>
          </a:solidFill>
          <a:ln>
            <a:noFill/>
          </a:ln>
        </p:spPr>
      </p:sp>
      <p:sp>
        <p:nvSpPr>
          <p:cNvPr id="76" name="TextBox 76"/>
          <p:cNvSpPr txBox="1"/>
          <p:nvPr/>
        </p:nvSpPr>
        <p:spPr>
          <a:xfrm>
            <a:off x="7131685" y="5590223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能耗计量</a:t>
            </a:r>
          </a:p>
        </p:txBody>
      </p:sp>
      <p:sp>
        <p:nvSpPr>
          <p:cNvPr id="77" name="Rectangle 77"/>
          <p:cNvSpPr/>
          <p:nvPr/>
        </p:nvSpPr>
        <p:spPr>
          <a:xfrm>
            <a:off x="8331200" y="5446395"/>
            <a:ext cx="1454150" cy="419100"/>
          </a:xfrm>
          <a:prstGeom prst="rect">
            <a:avLst/>
          </a:prstGeom>
          <a:solidFill>
            <a:srgbClr val="ECF0F1"/>
          </a:solidFill>
          <a:ln>
            <a:noFill/>
          </a:ln>
        </p:spPr>
      </p:sp>
      <p:sp>
        <p:nvSpPr>
          <p:cNvPr id="78" name="TextBox 78"/>
          <p:cNvSpPr txBox="1"/>
          <p:nvPr/>
        </p:nvSpPr>
        <p:spPr>
          <a:xfrm>
            <a:off x="8738235" y="5590223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设施设备</a:t>
            </a:r>
          </a:p>
        </p:txBody>
      </p:sp>
      <p:sp>
        <p:nvSpPr>
          <p:cNvPr id="79" name="Rectangle 79"/>
          <p:cNvSpPr/>
          <p:nvPr/>
        </p:nvSpPr>
        <p:spPr>
          <a:xfrm>
            <a:off x="9937750" y="5446395"/>
            <a:ext cx="1454150" cy="419100"/>
          </a:xfrm>
          <a:prstGeom prst="rect">
            <a:avLst/>
          </a:prstGeom>
          <a:solidFill>
            <a:srgbClr val="ECF0F1"/>
          </a:solidFill>
          <a:ln>
            <a:noFill/>
          </a:ln>
        </p:spPr>
      </p:sp>
      <p:sp>
        <p:nvSpPr>
          <p:cNvPr id="80" name="TextBox 80"/>
          <p:cNvSpPr txBox="1"/>
          <p:nvPr/>
        </p:nvSpPr>
        <p:spPr>
          <a:xfrm>
            <a:off x="10344785" y="5590223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应急广播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11005852" y="5252085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6 模块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560070" y="653224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9992296" y="6532245"/>
            <a:ext cx="163963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栖云数字 · 机密 · 仅供评审</a:t>
            </a:r>
          </a:p>
        </p:txBody>
      </p:sp>
    </p:spTree>
  </p:cSld>
  <p:clrMapOvr>
    <a:masterClrMapping/>
  </p:clrMapOvr>
  <p:transition dur="5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00558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337185"/>
            <a:ext cx="379504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实施计划与投资报价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0545" y="736282"/>
            <a:ext cx="636770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5D6D7E"/>
                </a:solidFill>
                <a:latin typeface="Arial"/>
                <a:ea typeface="Microsoft YaHei"/>
                <a:cs typeface="Arial"/>
              </a:rPr>
              <a:t>三期 12 个月、总投资 ¥608 万，分期付款与里程碑验收绑定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0545" y="1193482"/>
            <a:ext cx="235714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分期甘特（12 个月）</a:t>
            </a:r>
          </a:p>
        </p:txBody>
      </p:sp>
      <p:sp>
        <p:nvSpPr>
          <p:cNvPr id="7" name="Line 7"/>
          <p:cNvSpPr/>
          <p:nvPr/>
        </p:nvSpPr>
        <p:spPr>
          <a:xfrm>
            <a:off x="2857500" y="1504950"/>
            <a:ext cx="9525" cy="1333500"/>
          </a:xfrm>
          <a:custGeom>
            <a:avLst/>
            <a:gdLst/>
            <a:ahLst/>
            <a:cxnLst/>
            <a:rect l="l" t="t" r="r" b="b"/>
            <a:pathLst>
              <a:path w="9525" h="1333500">
                <a:moveTo>
                  <a:pt x="0" y="0"/>
                </a:moveTo>
                <a:lnTo>
                  <a:pt x="0" y="1333500"/>
                </a:lnTo>
              </a:path>
            </a:pathLst>
          </a:custGeom>
          <a:noFill/>
          <a:ln w="9525">
            <a:solidFill>
              <a:srgbClr val="ECF0F1">
                <a:alpha val="70000"/>
              </a:srgbClr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3132661" y="1560195"/>
            <a:ext cx="160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M1</a:t>
            </a:r>
          </a:p>
        </p:txBody>
      </p:sp>
      <p:sp>
        <p:nvSpPr>
          <p:cNvPr id="9" name="Line 9"/>
          <p:cNvSpPr/>
          <p:nvPr/>
        </p:nvSpPr>
        <p:spPr>
          <a:xfrm>
            <a:off x="3568700" y="1504950"/>
            <a:ext cx="9525" cy="1333500"/>
          </a:xfrm>
          <a:custGeom>
            <a:avLst/>
            <a:gdLst/>
            <a:ahLst/>
            <a:cxnLst/>
            <a:rect l="l" t="t" r="r" b="b"/>
            <a:pathLst>
              <a:path w="9525" h="1333500">
                <a:moveTo>
                  <a:pt x="0" y="0"/>
                </a:moveTo>
                <a:lnTo>
                  <a:pt x="0" y="1333500"/>
                </a:lnTo>
              </a:path>
            </a:pathLst>
          </a:custGeom>
          <a:noFill/>
          <a:ln w="9525">
            <a:solidFill>
              <a:srgbClr val="ECF0F1">
                <a:alpha val="70000"/>
              </a:srgbClr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3827431" y="1560195"/>
            <a:ext cx="1937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M2</a:t>
            </a:r>
          </a:p>
        </p:txBody>
      </p:sp>
      <p:sp>
        <p:nvSpPr>
          <p:cNvPr id="11" name="Line 11"/>
          <p:cNvSpPr/>
          <p:nvPr/>
        </p:nvSpPr>
        <p:spPr>
          <a:xfrm>
            <a:off x="4279900" y="1504950"/>
            <a:ext cx="9525" cy="1333500"/>
          </a:xfrm>
          <a:custGeom>
            <a:avLst/>
            <a:gdLst/>
            <a:ahLst/>
            <a:cxnLst/>
            <a:rect l="l" t="t" r="r" b="b"/>
            <a:pathLst>
              <a:path w="9525" h="1333500">
                <a:moveTo>
                  <a:pt x="0" y="0"/>
                </a:moveTo>
                <a:lnTo>
                  <a:pt x="0" y="1333500"/>
                </a:lnTo>
              </a:path>
            </a:pathLst>
          </a:custGeom>
          <a:noFill/>
          <a:ln w="9525">
            <a:solidFill>
              <a:srgbClr val="ECF0F1">
                <a:alpha val="70000"/>
              </a:srgbClr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4538631" y="1560195"/>
            <a:ext cx="1937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M3</a:t>
            </a:r>
          </a:p>
        </p:txBody>
      </p:sp>
      <p:sp>
        <p:nvSpPr>
          <p:cNvPr id="13" name="Line 13"/>
          <p:cNvSpPr/>
          <p:nvPr/>
        </p:nvSpPr>
        <p:spPr>
          <a:xfrm>
            <a:off x="4991100" y="1504950"/>
            <a:ext cx="9525" cy="1333500"/>
          </a:xfrm>
          <a:custGeom>
            <a:avLst/>
            <a:gdLst/>
            <a:ahLst/>
            <a:cxnLst/>
            <a:rect l="l" t="t" r="r" b="b"/>
            <a:pathLst>
              <a:path w="9525" h="1333500">
                <a:moveTo>
                  <a:pt x="0" y="0"/>
                </a:moveTo>
                <a:lnTo>
                  <a:pt x="0" y="1333500"/>
                </a:lnTo>
              </a:path>
            </a:pathLst>
          </a:custGeom>
          <a:noFill/>
          <a:ln w="9525">
            <a:solidFill>
              <a:srgbClr val="ECF0F1">
                <a:alpha val="70000"/>
              </a:srgbClr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5249831" y="1560195"/>
            <a:ext cx="1937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M4</a:t>
            </a:r>
          </a:p>
        </p:txBody>
      </p:sp>
      <p:sp>
        <p:nvSpPr>
          <p:cNvPr id="15" name="Line 15"/>
          <p:cNvSpPr/>
          <p:nvPr/>
        </p:nvSpPr>
        <p:spPr>
          <a:xfrm>
            <a:off x="5702300" y="1504950"/>
            <a:ext cx="9525" cy="1333500"/>
          </a:xfrm>
          <a:custGeom>
            <a:avLst/>
            <a:gdLst/>
            <a:ahLst/>
            <a:cxnLst/>
            <a:rect l="l" t="t" r="r" b="b"/>
            <a:pathLst>
              <a:path w="9525" h="1333500">
                <a:moveTo>
                  <a:pt x="0" y="0"/>
                </a:moveTo>
                <a:lnTo>
                  <a:pt x="0" y="1333500"/>
                </a:lnTo>
              </a:path>
            </a:pathLst>
          </a:custGeom>
          <a:noFill/>
          <a:ln w="9525">
            <a:solidFill>
              <a:srgbClr val="ECF0F1">
                <a:alpha val="70000"/>
              </a:srgbClr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5961031" y="1560195"/>
            <a:ext cx="1937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M5</a:t>
            </a:r>
          </a:p>
        </p:txBody>
      </p:sp>
      <p:sp>
        <p:nvSpPr>
          <p:cNvPr id="17" name="Line 17"/>
          <p:cNvSpPr/>
          <p:nvPr/>
        </p:nvSpPr>
        <p:spPr>
          <a:xfrm>
            <a:off x="6413500" y="1504950"/>
            <a:ext cx="9525" cy="1333500"/>
          </a:xfrm>
          <a:custGeom>
            <a:avLst/>
            <a:gdLst/>
            <a:ahLst/>
            <a:cxnLst/>
            <a:rect l="l" t="t" r="r" b="b"/>
            <a:pathLst>
              <a:path w="9525" h="1333500">
                <a:moveTo>
                  <a:pt x="0" y="0"/>
                </a:moveTo>
                <a:lnTo>
                  <a:pt x="0" y="1333500"/>
                </a:lnTo>
              </a:path>
            </a:pathLst>
          </a:custGeom>
          <a:noFill/>
          <a:ln w="9525">
            <a:solidFill>
              <a:srgbClr val="ECF0F1">
                <a:alpha val="70000"/>
              </a:srgbClr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6672231" y="1560195"/>
            <a:ext cx="1937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M6</a:t>
            </a:r>
          </a:p>
        </p:txBody>
      </p:sp>
      <p:sp>
        <p:nvSpPr>
          <p:cNvPr id="19" name="Line 19"/>
          <p:cNvSpPr/>
          <p:nvPr/>
        </p:nvSpPr>
        <p:spPr>
          <a:xfrm>
            <a:off x="7124700" y="1504950"/>
            <a:ext cx="9525" cy="1333500"/>
          </a:xfrm>
          <a:custGeom>
            <a:avLst/>
            <a:gdLst/>
            <a:ahLst/>
            <a:cxnLst/>
            <a:rect l="l" t="t" r="r" b="b"/>
            <a:pathLst>
              <a:path w="9525" h="1333500">
                <a:moveTo>
                  <a:pt x="0" y="0"/>
                </a:moveTo>
                <a:lnTo>
                  <a:pt x="0" y="1333500"/>
                </a:lnTo>
              </a:path>
            </a:pathLst>
          </a:custGeom>
          <a:noFill/>
          <a:ln w="9525">
            <a:solidFill>
              <a:srgbClr val="ECF0F1">
                <a:alpha val="70000"/>
              </a:srgbClr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7383431" y="1560195"/>
            <a:ext cx="1937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M7</a:t>
            </a:r>
          </a:p>
        </p:txBody>
      </p:sp>
      <p:sp>
        <p:nvSpPr>
          <p:cNvPr id="21" name="Line 21"/>
          <p:cNvSpPr/>
          <p:nvPr/>
        </p:nvSpPr>
        <p:spPr>
          <a:xfrm>
            <a:off x="7835900" y="1504950"/>
            <a:ext cx="9525" cy="1333500"/>
          </a:xfrm>
          <a:custGeom>
            <a:avLst/>
            <a:gdLst/>
            <a:ahLst/>
            <a:cxnLst/>
            <a:rect l="l" t="t" r="r" b="b"/>
            <a:pathLst>
              <a:path w="9525" h="1333500">
                <a:moveTo>
                  <a:pt x="0" y="0"/>
                </a:moveTo>
                <a:lnTo>
                  <a:pt x="0" y="1333500"/>
                </a:lnTo>
              </a:path>
            </a:pathLst>
          </a:custGeom>
          <a:noFill/>
          <a:ln w="9525">
            <a:solidFill>
              <a:srgbClr val="ECF0F1">
                <a:alpha val="70000"/>
              </a:srgbClr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8094631" y="1560195"/>
            <a:ext cx="1937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M8</a:t>
            </a:r>
          </a:p>
        </p:txBody>
      </p:sp>
      <p:sp>
        <p:nvSpPr>
          <p:cNvPr id="23" name="Line 23"/>
          <p:cNvSpPr/>
          <p:nvPr/>
        </p:nvSpPr>
        <p:spPr>
          <a:xfrm>
            <a:off x="8547100" y="1504950"/>
            <a:ext cx="9525" cy="1333500"/>
          </a:xfrm>
          <a:custGeom>
            <a:avLst/>
            <a:gdLst/>
            <a:ahLst/>
            <a:cxnLst/>
            <a:rect l="l" t="t" r="r" b="b"/>
            <a:pathLst>
              <a:path w="9525" h="1333500">
                <a:moveTo>
                  <a:pt x="0" y="0"/>
                </a:moveTo>
                <a:lnTo>
                  <a:pt x="0" y="1333500"/>
                </a:lnTo>
              </a:path>
            </a:pathLst>
          </a:custGeom>
          <a:noFill/>
          <a:ln w="9525">
            <a:solidFill>
              <a:srgbClr val="ECF0F1">
                <a:alpha val="70000"/>
              </a:srgbClr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8805831" y="1560195"/>
            <a:ext cx="1937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M9</a:t>
            </a:r>
          </a:p>
        </p:txBody>
      </p:sp>
      <p:sp>
        <p:nvSpPr>
          <p:cNvPr id="25" name="Line 25"/>
          <p:cNvSpPr/>
          <p:nvPr/>
        </p:nvSpPr>
        <p:spPr>
          <a:xfrm>
            <a:off x="9258300" y="1504950"/>
            <a:ext cx="9525" cy="1333500"/>
          </a:xfrm>
          <a:custGeom>
            <a:avLst/>
            <a:gdLst/>
            <a:ahLst/>
            <a:cxnLst/>
            <a:rect l="l" t="t" r="r" b="b"/>
            <a:pathLst>
              <a:path w="9525" h="1333500">
                <a:moveTo>
                  <a:pt x="0" y="0"/>
                </a:moveTo>
                <a:lnTo>
                  <a:pt x="0" y="1333500"/>
                </a:lnTo>
              </a:path>
            </a:pathLst>
          </a:custGeom>
          <a:noFill/>
          <a:ln w="9525">
            <a:solidFill>
              <a:srgbClr val="ECF0F1">
                <a:alpha val="70000"/>
              </a:srgbClr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9497314" y="1560195"/>
            <a:ext cx="2331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M10</a:t>
            </a:r>
          </a:p>
        </p:txBody>
      </p:sp>
      <p:sp>
        <p:nvSpPr>
          <p:cNvPr id="27" name="Line 27"/>
          <p:cNvSpPr/>
          <p:nvPr/>
        </p:nvSpPr>
        <p:spPr>
          <a:xfrm>
            <a:off x="9969500" y="1504950"/>
            <a:ext cx="9525" cy="1333500"/>
          </a:xfrm>
          <a:custGeom>
            <a:avLst/>
            <a:gdLst/>
            <a:ahLst/>
            <a:cxnLst/>
            <a:rect l="l" t="t" r="r" b="b"/>
            <a:pathLst>
              <a:path w="9525" h="1333500">
                <a:moveTo>
                  <a:pt x="0" y="0"/>
                </a:moveTo>
                <a:lnTo>
                  <a:pt x="0" y="1333500"/>
                </a:lnTo>
              </a:path>
            </a:pathLst>
          </a:custGeom>
          <a:noFill/>
          <a:ln w="9525">
            <a:solidFill>
              <a:srgbClr val="ECF0F1">
                <a:alpha val="70000"/>
              </a:srgbClr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10224945" y="1560195"/>
            <a:ext cx="20031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M11</a:t>
            </a:r>
          </a:p>
        </p:txBody>
      </p:sp>
      <p:sp>
        <p:nvSpPr>
          <p:cNvPr id="29" name="Line 29"/>
          <p:cNvSpPr/>
          <p:nvPr/>
        </p:nvSpPr>
        <p:spPr>
          <a:xfrm>
            <a:off x="10680700" y="1504950"/>
            <a:ext cx="9525" cy="1333500"/>
          </a:xfrm>
          <a:custGeom>
            <a:avLst/>
            <a:gdLst/>
            <a:ahLst/>
            <a:cxnLst/>
            <a:rect l="l" t="t" r="r" b="b"/>
            <a:pathLst>
              <a:path w="9525" h="1333500">
                <a:moveTo>
                  <a:pt x="0" y="0"/>
                </a:moveTo>
                <a:lnTo>
                  <a:pt x="0" y="1333500"/>
                </a:lnTo>
              </a:path>
            </a:pathLst>
          </a:custGeom>
          <a:noFill/>
          <a:ln w="9525">
            <a:solidFill>
              <a:srgbClr val="ECF0F1">
                <a:alpha val="70000"/>
              </a:srgbClr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10919714" y="1560195"/>
            <a:ext cx="2331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M12</a:t>
            </a:r>
          </a:p>
        </p:txBody>
      </p:sp>
      <p:sp>
        <p:nvSpPr>
          <p:cNvPr id="31" name="Line 31"/>
          <p:cNvSpPr/>
          <p:nvPr/>
        </p:nvSpPr>
        <p:spPr>
          <a:xfrm>
            <a:off x="11391900" y="1504950"/>
            <a:ext cx="9525" cy="1333500"/>
          </a:xfrm>
          <a:custGeom>
            <a:avLst/>
            <a:gdLst/>
            <a:ahLst/>
            <a:cxnLst/>
            <a:rect l="l" t="t" r="r" b="b"/>
            <a:pathLst>
              <a:path w="9525" h="1333500">
                <a:moveTo>
                  <a:pt x="0" y="0"/>
                </a:moveTo>
                <a:lnTo>
                  <a:pt x="0" y="1333500"/>
                </a:lnTo>
              </a:path>
            </a:pathLst>
          </a:custGeom>
          <a:noFill/>
          <a:ln w="9525">
            <a:solidFill>
              <a:srgbClr val="ECF0F1">
                <a:alpha val="70000"/>
              </a:srgbClr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558165" y="1801178"/>
            <a:ext cx="11231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D6D7E"/>
                </a:solidFill>
                <a:latin typeface="Arial"/>
                <a:ea typeface="Microsoft YaHei"/>
                <a:cs typeface="Arial"/>
              </a:rPr>
              <a:t>一期 · 底座建设</a:t>
            </a:r>
          </a:p>
        </p:txBody>
      </p:sp>
      <p:sp>
        <p:nvSpPr>
          <p:cNvPr id="33" name="Rectangle 33"/>
          <p:cNvSpPr/>
          <p:nvPr/>
        </p:nvSpPr>
        <p:spPr>
          <a:xfrm>
            <a:off x="2857500" y="1752600"/>
            <a:ext cx="2844800" cy="209550"/>
          </a:xfrm>
          <a:prstGeom prst="rect">
            <a:avLst/>
          </a:prstGeom>
          <a:solidFill>
            <a:srgbClr val="005587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2941320" y="1807845"/>
            <a:ext cx="100869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4 个月 · ¥286 万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58165" y="2163128"/>
            <a:ext cx="11231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D6D7E"/>
                </a:solidFill>
                <a:latin typeface="Arial"/>
                <a:ea typeface="Microsoft YaHei"/>
                <a:cs typeface="Arial"/>
              </a:rPr>
              <a:t>二期 · 场景接入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702300" y="2114550"/>
            <a:ext cx="3556000" cy="209550"/>
          </a:xfrm>
          <a:prstGeom prst="rect">
            <a:avLst/>
          </a:prstGeom>
          <a:solidFill>
            <a:srgbClr val="0076A8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5786120" y="2169795"/>
            <a:ext cx="97583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5 个月 · ¥194 万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58165" y="2525078"/>
            <a:ext cx="15831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D6D7E"/>
                </a:solidFill>
                <a:latin typeface="Arial"/>
                <a:ea typeface="Microsoft YaHei"/>
                <a:cs typeface="Arial"/>
              </a:rPr>
              <a:t>三期 · 运营保障与移交</a:t>
            </a:r>
          </a:p>
        </p:txBody>
      </p:sp>
      <p:sp>
        <p:nvSpPr>
          <p:cNvPr id="39" name="Rectangle 39"/>
          <p:cNvSpPr/>
          <p:nvPr/>
        </p:nvSpPr>
        <p:spPr>
          <a:xfrm>
            <a:off x="9258300" y="2476500"/>
            <a:ext cx="2133600" cy="209550"/>
          </a:xfrm>
          <a:prstGeom prst="rect">
            <a:avLst/>
          </a:prstGeom>
          <a:solidFill>
            <a:srgbClr val="4A90A4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9342120" y="2531745"/>
            <a:ext cx="97583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 个月 · ¥128 万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50545" y="2850832"/>
            <a:ext cx="206616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投资报价（万元）</a:t>
            </a:r>
          </a:p>
        </p:txBody>
      </p:sp>
      <p:sp>
        <p:nvSpPr>
          <p:cNvPr id="42" name="Rectangle 42"/>
          <p:cNvSpPr/>
          <p:nvPr/>
        </p:nvSpPr>
        <p:spPr>
          <a:xfrm>
            <a:off x="571500" y="3143250"/>
            <a:ext cx="11049000" cy="400050"/>
          </a:xfrm>
          <a:prstGeom prst="rect">
            <a:avLst/>
          </a:prstGeom>
          <a:solidFill>
            <a:srgbClr val="005587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710565" y="3287078"/>
            <a:ext cx="3487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分期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3091815" y="3287078"/>
            <a:ext cx="5097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时间窗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377815" y="3287078"/>
            <a:ext cx="3487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工期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520815" y="3287078"/>
            <a:ext cx="3487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金额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7854315" y="3287078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交付重点</a:t>
            </a:r>
          </a:p>
        </p:txBody>
      </p:sp>
      <p:sp>
        <p:nvSpPr>
          <p:cNvPr id="48" name="Rectangle 48"/>
          <p:cNvSpPr/>
          <p:nvPr/>
        </p:nvSpPr>
        <p:spPr>
          <a:xfrm>
            <a:off x="571500" y="3543300"/>
            <a:ext cx="11049000" cy="400050"/>
          </a:xfrm>
          <a:prstGeom prst="rect">
            <a:avLst/>
          </a:prstGeom>
          <a:solidFill>
            <a:srgbClr val="ECF0F1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710565" y="3687128"/>
            <a:ext cx="11231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一期 · 底座建设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3091815" y="3687128"/>
            <a:ext cx="13071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2026.10 - 2027.01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379720" y="3703320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4 个月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522720" y="3703320"/>
            <a:ext cx="23974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005587"/>
                </a:solidFill>
                <a:latin typeface="Arial"/>
                <a:ea typeface="Microsoft YaHei"/>
                <a:cs typeface="Arial"/>
              </a:rPr>
              <a:t>286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7854315" y="3687128"/>
            <a:ext cx="20662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感知改造 / 数据底座 / 一张图</a:t>
            </a:r>
          </a:p>
        </p:txBody>
      </p:sp>
      <p:sp>
        <p:nvSpPr>
          <p:cNvPr id="54" name="Rectangle 54"/>
          <p:cNvSpPr/>
          <p:nvPr/>
        </p:nvSpPr>
        <p:spPr>
          <a:xfrm>
            <a:off x="571500" y="3943350"/>
            <a:ext cx="11049000" cy="4000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710565" y="4087178"/>
            <a:ext cx="11231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二期 · 场景接入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3091815" y="4087178"/>
            <a:ext cx="13838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2027.02 - 2027.06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5379720" y="4103370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5 个月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6522720" y="4103370"/>
            <a:ext cx="20688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005587"/>
                </a:solidFill>
                <a:latin typeface="Arial"/>
                <a:ea typeface="Microsoft YaHei"/>
                <a:cs typeface="Arial"/>
              </a:rPr>
              <a:t>194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7854315" y="4087178"/>
            <a:ext cx="188990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八大应用上线 / 跨部门流程</a:t>
            </a:r>
          </a:p>
        </p:txBody>
      </p:sp>
      <p:sp>
        <p:nvSpPr>
          <p:cNvPr id="60" name="Rectangle 60"/>
          <p:cNvSpPr/>
          <p:nvPr/>
        </p:nvSpPr>
        <p:spPr>
          <a:xfrm>
            <a:off x="571500" y="4343400"/>
            <a:ext cx="11049000" cy="400050"/>
          </a:xfrm>
          <a:prstGeom prst="rect">
            <a:avLst/>
          </a:prstGeom>
          <a:solidFill>
            <a:srgbClr val="ECF0F1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710565" y="4487228"/>
            <a:ext cx="15831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三期 · 运营保障与移交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3091815" y="4487228"/>
            <a:ext cx="13838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2027.07 - 2027.09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5379720" y="4503420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3 个月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6522720" y="4503420"/>
            <a:ext cx="20688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005587"/>
                </a:solidFill>
                <a:latin typeface="Arial"/>
                <a:ea typeface="Microsoft YaHei"/>
                <a:cs typeface="Arial"/>
              </a:rPr>
              <a:t>128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7854315" y="4487228"/>
            <a:ext cx="20662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试运行 / 知识转移 / 考核移交</a:t>
            </a:r>
          </a:p>
        </p:txBody>
      </p:sp>
      <p:sp>
        <p:nvSpPr>
          <p:cNvPr id="66" name="Rectangle 66"/>
          <p:cNvSpPr/>
          <p:nvPr/>
        </p:nvSpPr>
        <p:spPr>
          <a:xfrm>
            <a:off x="571500" y="4743450"/>
            <a:ext cx="11049000" cy="400050"/>
          </a:xfrm>
          <a:prstGeom prst="rect">
            <a:avLst/>
          </a:prstGeom>
          <a:solidFill>
            <a:srgbClr val="004D5C"/>
          </a:solidFill>
          <a:ln>
            <a:noFill/>
          </a:ln>
        </p:spPr>
      </p:sp>
      <p:sp>
        <p:nvSpPr>
          <p:cNvPr id="67" name="TextBox 67"/>
          <p:cNvSpPr txBox="1"/>
          <p:nvPr/>
        </p:nvSpPr>
        <p:spPr>
          <a:xfrm>
            <a:off x="710565" y="4887278"/>
            <a:ext cx="3487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合计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6518910" y="4871085"/>
            <a:ext cx="3341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608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9691688" y="4887278"/>
            <a:ext cx="17135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含部署、定制、首年运维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558165" y="512540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付款节奏</a:t>
            </a:r>
          </a:p>
        </p:txBody>
      </p:sp>
      <p:sp>
        <p:nvSpPr>
          <p:cNvPr id="71" name="Rectangle 71"/>
          <p:cNvSpPr/>
          <p:nvPr/>
        </p:nvSpPr>
        <p:spPr>
          <a:xfrm>
            <a:off x="571500" y="5353050"/>
            <a:ext cx="3246120" cy="247650"/>
          </a:xfrm>
          <a:prstGeom prst="rect">
            <a:avLst/>
          </a:prstGeom>
          <a:solidFill>
            <a:srgbClr val="005587"/>
          </a:solidFill>
          <a:ln>
            <a:noFill/>
          </a:ln>
        </p:spPr>
      </p:sp>
      <p:sp>
        <p:nvSpPr>
          <p:cNvPr id="72" name="TextBox 72"/>
          <p:cNvSpPr txBox="1"/>
          <p:nvPr/>
        </p:nvSpPr>
        <p:spPr>
          <a:xfrm>
            <a:off x="655320" y="5427345"/>
            <a:ext cx="67351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预付款 30%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897237" y="5694045"/>
            <a:ext cx="59464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¥182.4 万</a:t>
            </a:r>
          </a:p>
        </p:txBody>
      </p:sp>
      <p:sp>
        <p:nvSpPr>
          <p:cNvPr id="74" name="Rectangle 74"/>
          <p:cNvSpPr/>
          <p:nvPr/>
        </p:nvSpPr>
        <p:spPr>
          <a:xfrm>
            <a:off x="3836670" y="5353050"/>
            <a:ext cx="4328160" cy="247650"/>
          </a:xfrm>
          <a:prstGeom prst="rect">
            <a:avLst/>
          </a:prstGeom>
          <a:solidFill>
            <a:srgbClr val="0076A8"/>
          </a:solidFill>
          <a:ln>
            <a:noFill/>
          </a:ln>
        </p:spPr>
      </p:sp>
      <p:sp>
        <p:nvSpPr>
          <p:cNvPr id="75" name="TextBox 75"/>
          <p:cNvSpPr txBox="1"/>
          <p:nvPr/>
        </p:nvSpPr>
        <p:spPr>
          <a:xfrm>
            <a:off x="3920490" y="5427345"/>
            <a:ext cx="67351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到货款 40%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5686996" y="5694045"/>
            <a:ext cx="62750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¥243.2 万</a:t>
            </a:r>
          </a:p>
        </p:txBody>
      </p:sp>
      <p:sp>
        <p:nvSpPr>
          <p:cNvPr id="77" name="Rectangle 77"/>
          <p:cNvSpPr/>
          <p:nvPr/>
        </p:nvSpPr>
        <p:spPr>
          <a:xfrm>
            <a:off x="8183880" y="5353050"/>
            <a:ext cx="2705100" cy="247650"/>
          </a:xfrm>
          <a:prstGeom prst="rect">
            <a:avLst/>
          </a:prstGeom>
          <a:solidFill>
            <a:srgbClr val="4A90A4"/>
          </a:solidFill>
          <a:ln>
            <a:noFill/>
          </a:ln>
        </p:spPr>
      </p:sp>
      <p:sp>
        <p:nvSpPr>
          <p:cNvPr id="78" name="TextBox 78"/>
          <p:cNvSpPr txBox="1"/>
          <p:nvPr/>
        </p:nvSpPr>
        <p:spPr>
          <a:xfrm>
            <a:off x="8267700" y="5427345"/>
            <a:ext cx="67351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验收款 25%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9239107" y="5694045"/>
            <a:ext cx="59464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¥152.0 万</a:t>
            </a:r>
          </a:p>
        </p:txBody>
      </p:sp>
      <p:sp>
        <p:nvSpPr>
          <p:cNvPr id="80" name="Rectangle 80"/>
          <p:cNvSpPr/>
          <p:nvPr/>
        </p:nvSpPr>
        <p:spPr>
          <a:xfrm>
            <a:off x="10908030" y="5353050"/>
            <a:ext cx="541020" cy="247650"/>
          </a:xfrm>
          <a:prstGeom prst="rect">
            <a:avLst/>
          </a:prstGeom>
          <a:solidFill>
            <a:srgbClr val="F5A623"/>
          </a:solidFill>
          <a:ln>
            <a:noFill/>
          </a:ln>
        </p:spPr>
      </p:sp>
      <p:sp>
        <p:nvSpPr>
          <p:cNvPr id="81" name="TextBox 81"/>
          <p:cNvSpPr txBox="1"/>
          <p:nvPr/>
        </p:nvSpPr>
        <p:spPr>
          <a:xfrm>
            <a:off x="10991850" y="5427345"/>
            <a:ext cx="60121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质保金 5%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10900934" y="5694045"/>
            <a:ext cx="55521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¥30.4 万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560070" y="5979795"/>
            <a:ext cx="54515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驻场团队 13 人：项目经理×1 / 系统架构师×2 / 算法工程师×3 / 实施工程师×5 / 质量与安全×2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560070" y="653224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9992296" y="6532245"/>
            <a:ext cx="163963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栖云数字 · 机密 · 仅供评审</a:t>
            </a:r>
          </a:p>
        </p:txBody>
      </p:sp>
    </p:spTree>
  </p:cSld>
  <p:clrMapOvr>
    <a:masterClrMapping/>
  </p:clrMapOvr>
  <p:transition dur="5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00558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738851" y="1263015"/>
            <a:ext cx="4714299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30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恳请审议 · 期待共建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285673" y="1860232"/>
            <a:ext cx="562065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005587"/>
                </a:solidFill>
                <a:latin typeface="Arial"/>
                <a:ea typeface="Microsoft YaHei"/>
                <a:cs typeface="Arial"/>
              </a:rPr>
              <a:t>澄区智慧运管中心建设项目 · 技术方案与投资建议书</a:t>
            </a:r>
          </a:p>
        </p:txBody>
      </p:sp>
      <p:sp>
        <p:nvSpPr>
          <p:cNvPr id="6" name="Rectangle 6"/>
          <p:cNvSpPr/>
          <p:nvPr/>
        </p:nvSpPr>
        <p:spPr>
          <a:xfrm>
            <a:off x="2381250" y="2667000"/>
            <a:ext cx="742950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CF0F1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2626995" y="2907982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5587"/>
                </a:solidFill>
                <a:latin typeface="Arial"/>
                <a:ea typeface="Microsoft YaHei"/>
                <a:cs typeface="Arial"/>
              </a:rPr>
              <a:t>一次立项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271010" y="2956560"/>
            <a:ext cx="33604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D6D7E"/>
                </a:solidFill>
                <a:latin typeface="Arial"/>
                <a:ea typeface="Microsoft YaHei"/>
                <a:cs typeface="Arial"/>
              </a:rPr>
              <a:t>按三期滚动实施，每期验收后再进入下一期</a:t>
            </a:r>
          </a:p>
        </p:txBody>
      </p:sp>
      <p:sp>
        <p:nvSpPr>
          <p:cNvPr id="9" name="Rectangle 9"/>
          <p:cNvSpPr/>
          <p:nvPr/>
        </p:nvSpPr>
        <p:spPr>
          <a:xfrm>
            <a:off x="2381250" y="3543300"/>
            <a:ext cx="742950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CF0F1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2626995" y="3784282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5587"/>
                </a:solidFill>
                <a:latin typeface="Arial"/>
                <a:ea typeface="Microsoft YaHei"/>
                <a:cs typeface="Arial"/>
              </a:rPr>
              <a:t>两地试点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271010" y="3832860"/>
            <a:ext cx="33604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D6D7E"/>
                </a:solidFill>
                <a:latin typeface="Arial"/>
                <a:ea typeface="Microsoft YaHei"/>
                <a:cs typeface="Arial"/>
              </a:rPr>
              <a:t>先落地澄区北苑园区与云谷路两个示范片区</a:t>
            </a:r>
          </a:p>
        </p:txBody>
      </p:sp>
      <p:sp>
        <p:nvSpPr>
          <p:cNvPr id="12" name="Rectangle 12"/>
          <p:cNvSpPr/>
          <p:nvPr/>
        </p:nvSpPr>
        <p:spPr>
          <a:xfrm>
            <a:off x="2381250" y="4419600"/>
            <a:ext cx="742950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CF0F1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2626995" y="4660582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5587"/>
                </a:solidFill>
                <a:latin typeface="Arial"/>
                <a:ea typeface="Microsoft YaHei"/>
                <a:cs typeface="Arial"/>
              </a:rPr>
              <a:t>三方共管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271010" y="4709160"/>
            <a:ext cx="35356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D6D7E"/>
                </a:solidFill>
                <a:latin typeface="Arial"/>
                <a:ea typeface="Microsoft YaHei"/>
                <a:cs typeface="Arial"/>
              </a:rPr>
              <a:t>管委会、运营公司与栖云数字共建联合工作组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084338" y="6189345"/>
            <a:ext cx="602332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栖云数字科技有限公司 · 0571-8688-0000 · proposal@qiyun.example · 澄区云栖路 1 号 · 数字港 B 座</a:t>
            </a:r>
          </a:p>
        </p:txBody>
      </p:sp>
    </p:spTree>
  </p:cSld>
  <p:clrMapOvr>
    <a:masterClrMapping/>
  </p:clrMapOvr>
  <p:transition dur="5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