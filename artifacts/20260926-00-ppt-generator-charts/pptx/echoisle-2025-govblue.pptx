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9450" y="405765"/>
            <a:ext cx="2803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年度核心指标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26566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四项指标 · 两项由趋势与漏斗数据推算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42875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6F4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23900" y="1619250"/>
            <a:ext cx="76200" cy="6667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5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年度营收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19154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ANNUAL REVENUE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8210" y="2423160"/>
            <a:ext cx="14349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¥3,846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99132" y="252031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0013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利润率 15.3% · 12 个月合计</a:t>
            </a:r>
          </a:p>
        </p:txBody>
      </p:sp>
      <p:sp>
        <p:nvSpPr>
          <p:cNvPr id="16" name="Freeform 16"/>
          <p:cNvSpPr/>
          <p:nvPr/>
        </p:nvSpPr>
        <p:spPr>
          <a:xfrm>
            <a:off x="952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08710" y="3070860"/>
            <a:ext cx="10119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A169"/>
                </a:solidFill>
                <a:latin typeface="微软雅黑"/>
                <a:ea typeface="Microsoft YaHei"/>
                <a:cs typeface="微软雅黑"/>
              </a:rPr>
              <a:t>+23.8% 同比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34490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12 个月营收合计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42875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6F4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438900" y="1619250"/>
            <a:ext cx="76200" cy="666750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50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年度利润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4165" y="1915478"/>
            <a:ext cx="824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NET PROFIT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33210" y="2423160"/>
            <a:ext cx="9794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¥588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6368" y="252031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165" y="3001328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营收 3,846 − 成本 3,258</a:t>
            </a:r>
          </a:p>
        </p:txBody>
      </p:sp>
      <p:sp>
        <p:nvSpPr>
          <p:cNvPr id="26" name="Freeform 26"/>
          <p:cNvSpPr/>
          <p:nvPr/>
        </p:nvSpPr>
        <p:spPr>
          <a:xfrm>
            <a:off x="6667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23710" y="3070860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A169"/>
                </a:solidFill>
                <a:latin typeface="微软雅黑"/>
                <a:ea typeface="Microsoft YaHei"/>
                <a:cs typeface="微软雅黑"/>
              </a:rPr>
              <a:t>利润率 15.3%（推算）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4165" y="34490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营收合计 − 成本合计（推算）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19100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6F4FF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23900" y="4381500"/>
            <a:ext cx="76200" cy="6667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月活用户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9165" y="467772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MONTHLY ACTIVE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8210" y="5185410"/>
            <a:ext cx="8759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18.8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01368" y="528256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9165" y="5763578"/>
            <a:ext cx="778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188,000 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52500" y="5886450"/>
            <a:ext cx="114300" cy="57150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08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182CE"/>
                </a:solidFill>
                <a:latin typeface="微软雅黑"/>
                <a:ea typeface="Microsoft YaHei"/>
                <a:cs typeface="微软雅黑"/>
              </a:rPr>
              <a:t>注册→月活 46.9%（推算）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9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转化漏斗第 4 级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419100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6F4FF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38900" y="4381500"/>
            <a:ext cx="76200" cy="66675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0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付费订阅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4165" y="4677728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PAID SUBSCRIBERS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33210" y="5185410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5.2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17486" y="528256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54165" y="5763578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52,000 人</a:t>
            </a:r>
          </a:p>
        </p:txBody>
      </p:sp>
      <p:sp>
        <p:nvSpPr>
          <p:cNvPr id="46" name="Freeform 46"/>
          <p:cNvSpPr/>
          <p:nvPr/>
        </p:nvSpPr>
        <p:spPr>
          <a:xfrm>
            <a:off x="6667500" y="587692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0"/>
                </a:moveTo>
                <a:lnTo>
                  <a:pt x="57150" y="85725"/>
                </a:lnTo>
                <a:lnTo>
                  <a:pt x="114300" y="0"/>
                </a:lnTo>
                <a:close/>
              </a:path>
            </a:pathLst>
          </a:custGeom>
          <a:solidFill>
            <a:srgbClr val="E53E3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823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3E3E"/>
                </a:solidFill>
                <a:latin typeface="微软雅黑"/>
                <a:ea typeface="Microsoft YaHei"/>
                <a:cs typeface="微软雅黑"/>
              </a:rPr>
              <a:t>月活→付费 27.7%（推算）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54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转化漏斗第 5 级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31772" y="64779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01 / 06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946" y="405765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月度营收与成本趋势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1452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单位：万元 · 12 个月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</a:t>
            </a:r>
          </a:p>
        </p:txBody>
      </p:sp>
      <p:sp>
        <p:nvSpPr>
          <p:cNvPr id="10" name="Line 10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1" name="TextBox 11"/>
          <p:cNvSpPr txBox="1"/>
          <p:nvPr/>
        </p:nvSpPr>
        <p:spPr>
          <a:xfrm>
            <a:off x="962596" y="42205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100</a:t>
            </a:r>
          </a:p>
        </p:txBody>
      </p:sp>
      <p:sp>
        <p:nvSpPr>
          <p:cNvPr id="12" name="Line 12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200</a:t>
            </a:r>
          </a:p>
        </p:txBody>
      </p:sp>
      <p:sp>
        <p:nvSpPr>
          <p:cNvPr id="14" name="Line 14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5" name="TextBox 15"/>
          <p:cNvSpPr txBox="1"/>
          <p:nvPr/>
        </p:nvSpPr>
        <p:spPr>
          <a:xfrm>
            <a:off x="924258" y="2315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300</a:t>
            </a:r>
          </a:p>
        </p:txBody>
      </p:sp>
      <p:sp>
        <p:nvSpPr>
          <p:cNvPr id="16" name="Line 16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7" name="TextBox 17"/>
          <p:cNvSpPr txBox="1"/>
          <p:nvPr/>
        </p:nvSpPr>
        <p:spPr>
          <a:xfrm>
            <a:off x="924258" y="1363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400</a:t>
            </a:r>
          </a:p>
        </p:txBody>
      </p:sp>
      <p:sp>
        <p:nvSpPr>
          <p:cNvPr id="18" name="Line 18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19" name="Line 19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030111" y="5411152"/>
            <a:ext cx="226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205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2月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301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398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4月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494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590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6月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686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7月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783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8月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79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9月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7456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10月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03358" y="5411152"/>
            <a:ext cx="272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11月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9381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12月</a:t>
            </a:r>
          </a:p>
        </p:txBody>
      </p:sp>
      <p:sp>
        <p:nvSpPr>
          <p:cNvPr id="32" name="Polyline 32"/>
          <p:cNvSpPr/>
          <p:nvPr/>
        </p:nvSpPr>
        <p:spPr>
          <a:xfrm>
            <a:off x="2143125" y="1533525"/>
            <a:ext cx="8905875" cy="1343025"/>
          </a:xfrm>
          <a:custGeom>
            <a:avLst/>
            <a:gdLst/>
            <a:ahLst/>
            <a:cxnLst/>
            <a:rect l="l" t="t" r="r" b="b"/>
            <a:pathLst>
              <a:path w="8905875" h="1343025">
                <a:moveTo>
                  <a:pt x="0" y="1343025"/>
                </a:moveTo>
                <a:lnTo>
                  <a:pt x="809625" y="1181100"/>
                </a:lnTo>
                <a:lnTo>
                  <a:pt x="1619250" y="1047750"/>
                </a:lnTo>
                <a:lnTo>
                  <a:pt x="2428875" y="838200"/>
                </a:lnTo>
                <a:lnTo>
                  <a:pt x="3238500" y="704850"/>
                </a:lnTo>
                <a:lnTo>
                  <a:pt x="4048125" y="590550"/>
                </a:lnTo>
                <a:lnTo>
                  <a:pt x="4857750" y="485775"/>
                </a:lnTo>
                <a:lnTo>
                  <a:pt x="5667375" y="447675"/>
                </a:lnTo>
                <a:lnTo>
                  <a:pt x="6477000" y="552450"/>
                </a:lnTo>
                <a:lnTo>
                  <a:pt x="7286625" y="381000"/>
                </a:lnTo>
                <a:lnTo>
                  <a:pt x="8096250" y="2571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0050B3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2095500" y="282892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2905125" y="266700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3714750" y="253365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4524375" y="232410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5334000" y="219075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143625" y="207645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953250" y="197167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7762875" y="193357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8572500" y="203835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9382125" y="186690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10191750" y="174307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11001375" y="1485900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5" name="Polyline 45"/>
          <p:cNvSpPr/>
          <p:nvPr/>
        </p:nvSpPr>
        <p:spPr>
          <a:xfrm>
            <a:off x="2143125" y="2305050"/>
            <a:ext cx="8905875" cy="733425"/>
          </a:xfrm>
          <a:custGeom>
            <a:avLst/>
            <a:gdLst/>
            <a:ahLst/>
            <a:cxnLst/>
            <a:rect l="l" t="t" r="r" b="b"/>
            <a:pathLst>
              <a:path w="8905875" h="733425">
                <a:moveTo>
                  <a:pt x="0" y="733425"/>
                </a:moveTo>
                <a:lnTo>
                  <a:pt x="809625" y="628650"/>
                </a:lnTo>
                <a:lnTo>
                  <a:pt x="1619250" y="571500"/>
                </a:lnTo>
                <a:lnTo>
                  <a:pt x="2428875" y="466725"/>
                </a:lnTo>
                <a:lnTo>
                  <a:pt x="3238500" y="400050"/>
                </a:lnTo>
                <a:lnTo>
                  <a:pt x="4048125" y="323850"/>
                </a:lnTo>
                <a:lnTo>
                  <a:pt x="4857750" y="257175"/>
                </a:lnTo>
                <a:lnTo>
                  <a:pt x="5667375" y="209550"/>
                </a:lnTo>
                <a:lnTo>
                  <a:pt x="6477000" y="295275"/>
                </a:lnTo>
                <a:lnTo>
                  <a:pt x="7286625" y="180975"/>
                </a:lnTo>
                <a:lnTo>
                  <a:pt x="8096250" y="1047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00B4D8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2095500" y="299085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2905125" y="288607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3714750" y="282892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4524375" y="272415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5334000" y="265747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6143625" y="258127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953250" y="251460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7762875" y="246697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8572500" y="255270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9382125" y="243840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10191750" y="236220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11001375" y="225742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0653922" y="20612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308</a:t>
            </a:r>
          </a:p>
        </p:txBody>
      </p:sp>
      <p:sp>
        <p:nvSpPr>
          <p:cNvPr id="59" name="Rectangle 59"/>
          <p:cNvSpPr/>
          <p:nvPr/>
        </p:nvSpPr>
        <p:spPr>
          <a:xfrm>
            <a:off x="9048750" y="1162050"/>
            <a:ext cx="133350" cy="1333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24306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营收</a:t>
            </a:r>
          </a:p>
        </p:txBody>
      </p:sp>
      <p:sp>
        <p:nvSpPr>
          <p:cNvPr id="61" name="Rectangle 61"/>
          <p:cNvSpPr/>
          <p:nvPr/>
        </p:nvSpPr>
        <p:spPr>
          <a:xfrm>
            <a:off x="10096500" y="1162050"/>
            <a:ext cx="133350" cy="1333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29081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成本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20165" y="5887402"/>
            <a:ext cx="38911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利润 = 营收合计 3,846 − 成本合计 3,258 = 588（万元）</a:t>
            </a:r>
          </a:p>
        </p:txBody>
      </p:sp>
      <p:sp>
        <p:nvSpPr>
          <p:cNvPr id="64" name="Rectangle 6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02 / 06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946" y="405765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各内容线年度营收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单位：万元 · 五条内容线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</a:t>
            </a:r>
          </a:p>
        </p:txBody>
      </p:sp>
      <p:sp>
        <p:nvSpPr>
          <p:cNvPr id="10" name="Line 10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1" name="TextBox 11"/>
          <p:cNvSpPr txBox="1"/>
          <p:nvPr/>
        </p:nvSpPr>
        <p:spPr>
          <a:xfrm>
            <a:off x="924258" y="4220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400</a:t>
            </a:r>
          </a:p>
        </p:txBody>
      </p:sp>
      <p:sp>
        <p:nvSpPr>
          <p:cNvPr id="12" name="Line 12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800</a:t>
            </a:r>
          </a:p>
        </p:txBody>
      </p:sp>
      <p:sp>
        <p:nvSpPr>
          <p:cNvPr id="14" name="Line 14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5" name="TextBox 15"/>
          <p:cNvSpPr txBox="1"/>
          <p:nvPr/>
        </p:nvSpPr>
        <p:spPr>
          <a:xfrm>
            <a:off x="793909" y="23155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1,200</a:t>
            </a:r>
          </a:p>
        </p:txBody>
      </p:sp>
      <p:sp>
        <p:nvSpPr>
          <p:cNvPr id="16" name="Line 16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7" name="TextBox 17"/>
          <p:cNvSpPr txBox="1"/>
          <p:nvPr/>
        </p:nvSpPr>
        <p:spPr>
          <a:xfrm>
            <a:off x="793909" y="13630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1,600</a:t>
            </a:r>
          </a:p>
        </p:txBody>
      </p:sp>
      <p:sp>
        <p:nvSpPr>
          <p:cNvPr id="18" name="Line 18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19" name="Line 19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2095500" y="2176462"/>
            <a:ext cx="476250" cy="3062288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8356" y="1913572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1,286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67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声音内容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810000" y="3181350"/>
            <a:ext cx="476250" cy="20574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881066" y="291846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864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82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付费社区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0" y="3543300"/>
            <a:ext cx="476250" cy="1695450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618569" y="3280410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712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96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直播打赏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39000" y="3802856"/>
            <a:ext cx="476250" cy="1435894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310066" y="3539966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603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11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品牌合作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953500" y="4331494"/>
            <a:ext cx="476250" cy="907256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47569" y="4068604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381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25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衍生周边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0165" y="5887402"/>
            <a:ext cx="2863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五条内容线合计 3,846 万元 · 单位：万元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03 / 06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946" y="405765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营收构成占比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五项构成 · 角度与占比同源计算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Freeform 9"/>
          <p:cNvSpPr/>
          <p:nvPr/>
        </p:nvSpPr>
        <p:spPr>
          <a:xfrm>
            <a:off x="3810000" y="2190750"/>
            <a:ext cx="1793115" cy="2581466"/>
          </a:xfrm>
          <a:custGeom>
            <a:avLst/>
            <a:gdLst/>
            <a:ahLst/>
            <a:cxnLst/>
            <a:rect l="l" t="t" r="r" b="b"/>
            <a:pathLst>
              <a:path w="1793115" h="2581466">
                <a:moveTo>
                  <a:pt x="0" y="0"/>
                </a:moveTo>
                <a:cubicBezTo>
                  <a:pt x="614538" y="4"/>
                  <a:pt x="1182073" y="328916"/>
                  <a:pt x="1487594" y="862127"/>
                </a:cubicBezTo>
                <a:cubicBezTo>
                  <a:pt x="1793115" y="1395337"/>
                  <a:pt x="1789889" y="2051286"/>
                  <a:pt x="1479137" y="2581466"/>
                </a:cubicBezTo>
                <a:lnTo>
                  <a:pt x="821722" y="2196084"/>
                </a:lnTo>
                <a:cubicBezTo>
                  <a:pt x="994327" y="1901547"/>
                  <a:pt x="996103" y="1537159"/>
                  <a:pt x="826379" y="1240953"/>
                </a:cubicBezTo>
                <a:cubicBezTo>
                  <a:pt x="656654" y="944746"/>
                  <a:pt x="341386" y="762023"/>
                  <a:pt x="0" y="762000"/>
                </a:cubicBezTo>
                <a:close/>
              </a:path>
            </a:pathLst>
          </a:custGeom>
          <a:solidFill>
            <a:srgbClr val="0050B3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3188684" y="4386834"/>
            <a:ext cx="2100453" cy="1421424"/>
          </a:xfrm>
          <a:custGeom>
            <a:avLst/>
            <a:gdLst/>
            <a:ahLst/>
            <a:cxnLst/>
            <a:rect l="l" t="t" r="r" b="b"/>
            <a:pathLst>
              <a:path w="2100453" h="1421424">
                <a:moveTo>
                  <a:pt x="2100453" y="385381"/>
                </a:moveTo>
                <a:cubicBezTo>
                  <a:pt x="1674722" y="1111683"/>
                  <a:pt x="784652" y="1421424"/>
                  <a:pt x="0" y="1116330"/>
                </a:cubicBezTo>
                <a:lnTo>
                  <a:pt x="276130" y="406146"/>
                </a:lnTo>
                <a:cubicBezTo>
                  <a:pt x="712060" y="575626"/>
                  <a:pt x="1206541" y="403520"/>
                  <a:pt x="1443037" y="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2096643" y="3940207"/>
            <a:ext cx="1368171" cy="1562957"/>
          </a:xfrm>
          <a:custGeom>
            <a:avLst/>
            <a:gdLst/>
            <a:ahLst/>
            <a:cxnLst/>
            <a:rect l="l" t="t" r="r" b="b"/>
            <a:pathLst>
              <a:path w="1368171" h="1562957">
                <a:moveTo>
                  <a:pt x="1092041" y="1562957"/>
                </a:moveTo>
                <a:cubicBezTo>
                  <a:pt x="454371" y="1315027"/>
                  <a:pt x="25145" y="711715"/>
                  <a:pt x="0" y="28004"/>
                </a:cubicBezTo>
                <a:lnTo>
                  <a:pt x="761524" y="0"/>
                </a:lnTo>
                <a:cubicBezTo>
                  <a:pt x="775478" y="379837"/>
                  <a:pt x="1013919" y="715018"/>
                  <a:pt x="1368171" y="852773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2075560" y="2512314"/>
            <a:ext cx="1179133" cy="1455896"/>
          </a:xfrm>
          <a:custGeom>
            <a:avLst/>
            <a:gdLst/>
            <a:ahLst/>
            <a:cxnLst/>
            <a:rect l="l" t="t" r="r" b="b"/>
            <a:pathLst>
              <a:path w="1179133" h="1455896">
                <a:moveTo>
                  <a:pt x="21083" y="1455896"/>
                </a:moveTo>
                <a:cubicBezTo>
                  <a:pt x="0" y="881642"/>
                  <a:pt x="268004" y="335012"/>
                  <a:pt x="734887" y="0"/>
                </a:cubicBezTo>
                <a:lnTo>
                  <a:pt x="1179133" y="619030"/>
                </a:lnTo>
                <a:cubicBezTo>
                  <a:pt x="919756" y="805161"/>
                  <a:pt x="770876" y="1108857"/>
                  <a:pt x="782607" y="1427893"/>
                </a:cubicBezTo>
                <a:close/>
              </a:path>
            </a:pathLst>
          </a:custGeom>
          <a:solidFill>
            <a:srgbClr val="3182CE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2810446" y="2190750"/>
            <a:ext cx="999554" cy="940594"/>
          </a:xfrm>
          <a:custGeom>
            <a:avLst/>
            <a:gdLst/>
            <a:ahLst/>
            <a:cxnLst/>
            <a:rect l="l" t="t" r="r" b="b"/>
            <a:pathLst>
              <a:path w="999554" h="940594">
                <a:moveTo>
                  <a:pt x="0" y="321564"/>
                </a:moveTo>
                <a:cubicBezTo>
                  <a:pt x="291355" y="112478"/>
                  <a:pt x="640938" y="14"/>
                  <a:pt x="999553" y="0"/>
                </a:cubicBezTo>
                <a:lnTo>
                  <a:pt x="999554" y="762000"/>
                </a:lnTo>
                <a:cubicBezTo>
                  <a:pt x="800329" y="761992"/>
                  <a:pt x="606116" y="824453"/>
                  <a:pt x="444246" y="940594"/>
                </a:cubicBezTo>
                <a:close/>
              </a:path>
            </a:pathLst>
          </a:custGeom>
          <a:solidFill>
            <a:srgbClr val="E53E3E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2857500" y="2952750"/>
            <a:ext cx="1905000" cy="190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206389" y="35375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3,846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59931" y="40014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年营收（万元）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0" y="1771650"/>
            <a:ext cx="171450" cy="1714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26605" y="1759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声音内容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8510" y="2004060"/>
            <a:ext cx="26944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33.4% · 1,286 万元 · 扇形 120.4°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0" y="2438400"/>
            <a:ext cx="171450" cy="1714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26605" y="2426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付费社区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28510" y="267081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22.5% · 864 万元 · 扇形 80.9°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0" y="3105150"/>
            <a:ext cx="171450" cy="171450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126605" y="3092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直播打赏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28510" y="333756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18.5% · 712 万元 · 扇形 66.6°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58000" y="3771900"/>
            <a:ext cx="171450" cy="171450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12660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品牌合作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28510" y="4004310"/>
            <a:ext cx="24490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15.7% · 603 万元 · 扇形 56.4°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858000" y="4438650"/>
            <a:ext cx="171450" cy="17145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2660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衍生周边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8510" y="4671060"/>
            <a:ext cx="23526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9.9% · 381 万元 · 扇形 35.7°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44665" y="531590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占比合计 100.0% · 角度合计 360.0°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04 / 06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946" y="405765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25330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节目播放量 TOP8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单位：万次 · 降序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1993" y="60779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</a:t>
            </a:r>
          </a:p>
        </p:txBody>
      </p:sp>
      <p:sp>
        <p:nvSpPr>
          <p:cNvPr id="10" name="Line 10"/>
          <p:cNvSpPr/>
          <p:nvPr/>
        </p:nvSpPr>
        <p:spPr>
          <a:xfrm>
            <a:off x="4572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1" name="TextBox 11"/>
          <p:cNvSpPr txBox="1"/>
          <p:nvPr/>
        </p:nvSpPr>
        <p:spPr>
          <a:xfrm>
            <a:off x="4366974" y="6077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1,000</a:t>
            </a:r>
          </a:p>
        </p:txBody>
      </p:sp>
      <p:sp>
        <p:nvSpPr>
          <p:cNvPr id="12" name="Line 12"/>
          <p:cNvSpPr/>
          <p:nvPr/>
        </p:nvSpPr>
        <p:spPr>
          <a:xfrm>
            <a:off x="6286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6062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2,000</a:t>
            </a:r>
          </a:p>
        </p:txBody>
      </p:sp>
      <p:sp>
        <p:nvSpPr>
          <p:cNvPr id="14" name="Line 14"/>
          <p:cNvSpPr/>
          <p:nvPr/>
        </p:nvSpPr>
        <p:spPr>
          <a:xfrm>
            <a:off x="8001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5" name="TextBox 15"/>
          <p:cNvSpPr txBox="1"/>
          <p:nvPr/>
        </p:nvSpPr>
        <p:spPr>
          <a:xfrm>
            <a:off x="7776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3,000</a:t>
            </a:r>
          </a:p>
        </p:txBody>
      </p:sp>
      <p:sp>
        <p:nvSpPr>
          <p:cNvPr id="16" name="Line 16"/>
          <p:cNvSpPr/>
          <p:nvPr/>
        </p:nvSpPr>
        <p:spPr>
          <a:xfrm>
            <a:off x="9715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7" name="TextBox 17"/>
          <p:cNvSpPr txBox="1"/>
          <p:nvPr/>
        </p:nvSpPr>
        <p:spPr>
          <a:xfrm>
            <a:off x="9491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4,000</a:t>
            </a:r>
          </a:p>
        </p:txBody>
      </p:sp>
      <p:sp>
        <p:nvSpPr>
          <p:cNvPr id="18" name="Line 18"/>
          <p:cNvSpPr/>
          <p:nvPr/>
        </p:nvSpPr>
        <p:spPr>
          <a:xfrm>
            <a:off x="11430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6F4FF"/>
            </a:solidFill>
            <a:prstDash val="dash"/>
          </a:ln>
        </p:spPr>
      </p:sp>
      <p:sp>
        <p:nvSpPr>
          <p:cNvPr id="19" name="TextBox 19"/>
          <p:cNvSpPr txBox="1"/>
          <p:nvPr/>
        </p:nvSpPr>
        <p:spPr>
          <a:xfrm>
            <a:off x="11205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5,000</a:t>
            </a:r>
          </a:p>
        </p:txBody>
      </p:sp>
      <p:sp>
        <p:nvSpPr>
          <p:cNvPr id="20" name="Line 20"/>
          <p:cNvSpPr/>
          <p:nvPr/>
        </p:nvSpPr>
        <p:spPr>
          <a:xfrm>
            <a:off x="2857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21" name="Line 21"/>
          <p:cNvSpPr/>
          <p:nvPr/>
        </p:nvSpPr>
        <p:spPr>
          <a:xfrm>
            <a:off x="2857500" y="5905500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45970" y="1575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深夜电台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857500" y="1476375"/>
            <a:ext cx="8263890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523887" y="15754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4,820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70710" y="2146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城市声音志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2047875"/>
            <a:ext cx="6266498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04008" y="2146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3,655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70710" y="2718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历史回音壁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857500" y="2619375"/>
            <a:ext cx="5318379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255889" y="2718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3,102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70710" y="3289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亲子共读夜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857500" y="3190875"/>
            <a:ext cx="4608576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46086" y="3289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2,688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70710" y="3861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独立音乐场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857500" y="3762375"/>
            <a:ext cx="4013644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51154" y="3861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2,341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45970" y="4432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职场树洞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857500" y="4333875"/>
            <a:ext cx="3353562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291072" y="4432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1,956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45970" y="5004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科幻频段</a:t>
            </a:r>
          </a:p>
        </p:txBody>
      </p:sp>
      <p:sp>
        <p:nvSpPr>
          <p:cNvPr id="41" name="Rectangle 41"/>
          <p:cNvSpPr/>
          <p:nvPr/>
        </p:nvSpPr>
        <p:spPr>
          <a:xfrm>
            <a:off x="2857500" y="4905375"/>
            <a:ext cx="2818638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756148" y="5004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1,644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45970" y="5575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晨光英语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857500" y="5476875"/>
            <a:ext cx="2275142" cy="3429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212652" y="5575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1,327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44165" y="62112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单位：万次 · 降序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05 / 06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946" y="405765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638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用户转化漏斗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6867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五级 · 单位：人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7955" y="477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回声岛 · 2025 年 1—12 月</a:t>
            </a:r>
          </a:p>
        </p:txBody>
      </p:sp>
      <p:sp>
        <p:nvSpPr>
          <p:cNvPr id="9" name="Freeform 9"/>
          <p:cNvSpPr/>
          <p:nvPr/>
        </p:nvSpPr>
        <p:spPr>
          <a:xfrm>
            <a:off x="3238500" y="152400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5715000" y="0"/>
                </a:lnTo>
                <a:lnTo>
                  <a:pt x="4662297" y="762000"/>
                </a:lnTo>
                <a:lnTo>
                  <a:pt x="1052703" y="762000"/>
                </a:lnTo>
                <a:close/>
              </a:path>
            </a:pathLst>
          </a:custGeom>
          <a:solidFill>
            <a:srgbClr val="0050B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995815" y="16859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到访 · 2,860,000 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48275" y="1946910"/>
            <a:ext cx="1695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占首级 100.0% · 入口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91203" y="2524125"/>
            <a:ext cx="3609594" cy="762000"/>
          </a:xfrm>
          <a:custGeom>
            <a:avLst/>
            <a:gdLst/>
            <a:ahLst/>
            <a:cxnLst/>
            <a:rect l="l" t="t" r="r" b="b"/>
            <a:pathLst>
              <a:path w="3609594" h="762000">
                <a:moveTo>
                  <a:pt x="0" y="0"/>
                </a:moveTo>
                <a:lnTo>
                  <a:pt x="3609594" y="0"/>
                </a:lnTo>
                <a:lnTo>
                  <a:pt x="2696813" y="762000"/>
                </a:lnTo>
                <a:lnTo>
                  <a:pt x="912781" y="76200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024568" y="2686050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试听 · 1,543,000 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32032" y="2947035"/>
            <a:ext cx="2527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占首级 54.0% · 上级转化 54.0%</a:t>
            </a:r>
          </a:p>
        </p:txBody>
      </p:sp>
      <p:sp>
        <p:nvSpPr>
          <p:cNvPr id="15" name="Freeform 15"/>
          <p:cNvSpPr/>
          <p:nvPr/>
        </p:nvSpPr>
        <p:spPr>
          <a:xfrm>
            <a:off x="5203984" y="3524250"/>
            <a:ext cx="1784032" cy="762000"/>
          </a:xfrm>
          <a:custGeom>
            <a:avLst/>
            <a:gdLst/>
            <a:ahLst/>
            <a:cxnLst/>
            <a:rect l="l" t="t" r="r" b="b"/>
            <a:pathLst>
              <a:path w="1784032" h="762000">
                <a:moveTo>
                  <a:pt x="0" y="0"/>
                </a:moveTo>
                <a:lnTo>
                  <a:pt x="1784032" y="0"/>
                </a:lnTo>
                <a:lnTo>
                  <a:pt x="1613821" y="762000"/>
                </a:lnTo>
                <a:lnTo>
                  <a:pt x="170212" y="76200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151084" y="3686175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注册 · 401,000 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53940" y="3947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占首级 14.0% · 上级转化 26.0%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74196" y="4524375"/>
            <a:ext cx="1443609" cy="762000"/>
          </a:xfrm>
          <a:custGeom>
            <a:avLst/>
            <a:gdLst/>
            <a:ahLst/>
            <a:cxnLst/>
            <a:rect l="l" t="t" r="r" b="b"/>
            <a:pathLst>
              <a:path w="1443609" h="762000">
                <a:moveTo>
                  <a:pt x="0" y="0"/>
                </a:moveTo>
                <a:lnTo>
                  <a:pt x="1443609" y="0"/>
                </a:lnTo>
                <a:lnTo>
                  <a:pt x="1334833" y="762000"/>
                </a:lnTo>
                <a:lnTo>
                  <a:pt x="108775" y="762000"/>
                </a:lnTo>
                <a:close/>
              </a:path>
            </a:pathLst>
          </a:custGeom>
          <a:solidFill>
            <a:srgbClr val="3182C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151084" y="4686300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月活 · 188,000 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80229" y="4947285"/>
            <a:ext cx="24315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占首级 6.6% · 上级转化 46.9%</a:t>
            </a:r>
          </a:p>
        </p:txBody>
      </p:sp>
      <p:sp>
        <p:nvSpPr>
          <p:cNvPr id="21" name="Freeform 21"/>
          <p:cNvSpPr/>
          <p:nvPr/>
        </p:nvSpPr>
        <p:spPr>
          <a:xfrm>
            <a:off x="5482971" y="5524500"/>
            <a:ext cx="1226058" cy="762000"/>
          </a:xfrm>
          <a:custGeom>
            <a:avLst/>
            <a:gdLst/>
            <a:ahLst/>
            <a:cxnLst/>
            <a:rect l="l" t="t" r="r" b="b"/>
            <a:pathLst>
              <a:path w="1226058" h="762000">
                <a:moveTo>
                  <a:pt x="0" y="0"/>
                </a:moveTo>
                <a:lnTo>
                  <a:pt x="1226058" y="0"/>
                </a:lnTo>
                <a:lnTo>
                  <a:pt x="1226058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E53E3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55560" y="5686425"/>
            <a:ext cx="22808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付费订阅 · 52,000 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02136" y="594741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占首级 1.8% · 上级转化 27.7%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8165" y="6192202"/>
            <a:ext cx="5394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宽度编码：120 + 480 × 占首级比例（含基线宽度，防末级不可读）· 首→末 1.8%</a:t>
            </a:r>
          </a:p>
        </p:txBody>
      </p:sp>
      <p:sp>
        <p:nvSpPr>
          <p:cNvPr id="25" name="Rectangle 2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演示数据（虚构）· 图表骨架取自 ppt-generator templates/charts/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06 / 06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