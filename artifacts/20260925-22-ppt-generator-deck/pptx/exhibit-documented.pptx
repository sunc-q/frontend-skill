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10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10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10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10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10" Type="http://schemas.openxmlformats.org/officeDocument/2006/relationships/notesSlide" Target="../notesSlides/notesSlide5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1E40AF"/>
              </a:gs>
              <a:gs pos="100000">
                <a:srgbClr val="7C3AED"/>
              </a:gs>
            </a:gsLst>
            <a:lin ang="0" scaled="1"/>
          </a:gradFill>
          <a:ln>
            <a:noFill/>
          </a:ln>
        </p:spPr>
      </p:sp>
      <p:sp>
        <p:nvSpPr>
          <p:cNvPr id="4" name="Line 4"/>
          <p:cNvSpPr/>
          <p:nvPr/>
        </p:nvSpPr>
        <p:spPr>
          <a:xfrm>
            <a:off x="1143000" y="2286000"/>
            <a:ext cx="9525" cy="2286000"/>
          </a:xfrm>
          <a:custGeom>
            <a:avLst/>
            <a:gdLst/>
            <a:ahLst/>
            <a:cxnLst/>
            <a:rect l="l" t="t" r="r" b="b"/>
            <a:pathLst>
              <a:path w="9525" h="2286000">
                <a:moveTo>
                  <a:pt x="0" y="0"/>
                </a:moveTo>
                <a:lnTo>
                  <a:pt x="0" y="2286000"/>
                </a:lnTo>
              </a:path>
            </a:pathLst>
          </a:custGeom>
          <a:noFill/>
          <a:ln w="38100">
            <a:solidFill>
              <a:srgbClr val="D4AF37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1470660" y="2594610"/>
            <a:ext cx="6289853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前端 Skill 验证实验室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01140" y="3425190"/>
            <a:ext cx="481717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每小时一轮 · 页面构建技能横评阶段汇报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08760" y="4061460"/>
            <a:ext cx="271195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366F1"/>
                </a:solidFill>
                <a:latin typeface="Arial"/>
                <a:ea typeface="Microsoft YaHei"/>
                <a:cs typeface="Arial"/>
              </a:rPr>
              <a:t>LAB-2026-09 · 8 RUNS · 4 SKILLS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7143750" y="1428750"/>
            <a:ext cx="3810000" cy="3810000"/>
            <a:chOff x="7143750" y="1428750"/>
            <a:chExt cx="3810000" cy="3810000"/>
          </a:xfrm>
        </p:grpSpPr>
        <p:sp>
          <p:nvSpPr>
            <p:cNvPr id="8" name="Line 8"/>
            <p:cNvSpPr/>
            <p:nvPr/>
          </p:nvSpPr>
          <p:spPr>
            <a:xfrm>
              <a:off x="7620000" y="1428750"/>
              <a:ext cx="9525" cy="3810000"/>
            </a:xfrm>
            <a:custGeom>
              <a:avLst/>
              <a:gdLst/>
              <a:ahLst/>
              <a:cxnLst/>
              <a:rect l="l" t="t" r="r" b="b"/>
              <a:pathLst>
                <a:path w="9525" h="3810000">
                  <a:moveTo>
                    <a:pt x="0" y="0"/>
                  </a:moveTo>
                  <a:lnTo>
                    <a:pt x="0" y="3810000"/>
                  </a:lnTo>
                </a:path>
              </a:pathLst>
            </a:custGeom>
            <a:noFill/>
            <a:ln w="4762">
              <a:solidFill>
                <a:srgbClr val="1E40AF">
                  <a:alpha val="30000"/>
                </a:srgb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8572500" y="1428750"/>
              <a:ext cx="9525" cy="3810000"/>
            </a:xfrm>
            <a:custGeom>
              <a:avLst/>
              <a:gdLst/>
              <a:ahLst/>
              <a:cxnLst/>
              <a:rect l="l" t="t" r="r" b="b"/>
              <a:pathLst>
                <a:path w="9525" h="3810000">
                  <a:moveTo>
                    <a:pt x="0" y="0"/>
                  </a:moveTo>
                  <a:lnTo>
                    <a:pt x="0" y="3810000"/>
                  </a:lnTo>
                </a:path>
              </a:pathLst>
            </a:custGeom>
            <a:noFill/>
            <a:ln w="4762">
              <a:solidFill>
                <a:srgbClr val="1E40AF">
                  <a:alpha val="30000"/>
                </a:srgb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9525000" y="1428750"/>
              <a:ext cx="9525" cy="3810000"/>
            </a:xfrm>
            <a:custGeom>
              <a:avLst/>
              <a:gdLst/>
              <a:ahLst/>
              <a:cxnLst/>
              <a:rect l="l" t="t" r="r" b="b"/>
              <a:pathLst>
                <a:path w="9525" h="3810000">
                  <a:moveTo>
                    <a:pt x="0" y="0"/>
                  </a:moveTo>
                  <a:lnTo>
                    <a:pt x="0" y="3810000"/>
                  </a:lnTo>
                </a:path>
              </a:pathLst>
            </a:custGeom>
            <a:noFill/>
            <a:ln w="4762">
              <a:solidFill>
                <a:srgbClr val="1E40AF">
                  <a:alpha val="30000"/>
                </a:srgb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10477500" y="1428750"/>
              <a:ext cx="9525" cy="3810000"/>
            </a:xfrm>
            <a:custGeom>
              <a:avLst/>
              <a:gdLst/>
              <a:ahLst/>
              <a:cxnLst/>
              <a:rect l="l" t="t" r="r" b="b"/>
              <a:pathLst>
                <a:path w="9525" h="3810000">
                  <a:moveTo>
                    <a:pt x="0" y="0"/>
                  </a:moveTo>
                  <a:lnTo>
                    <a:pt x="0" y="3810000"/>
                  </a:lnTo>
                </a:path>
              </a:pathLst>
            </a:custGeom>
            <a:noFill/>
            <a:ln w="4762">
              <a:solidFill>
                <a:srgbClr val="1E40AF">
                  <a:alpha val="30000"/>
                </a:srgb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7143750" y="2381250"/>
              <a:ext cx="3810000" cy="9525"/>
            </a:xfrm>
            <a:custGeom>
              <a:avLst/>
              <a:gdLst/>
              <a:ahLst/>
              <a:cxnLst/>
              <a:rect l="l" t="t" r="r" b="b"/>
              <a:pathLst>
                <a:path w="3810000" h="9525">
                  <a:moveTo>
                    <a:pt x="0" y="0"/>
                  </a:moveTo>
                  <a:lnTo>
                    <a:pt x="3810000" y="0"/>
                  </a:lnTo>
                </a:path>
              </a:pathLst>
            </a:custGeom>
            <a:noFill/>
            <a:ln w="4762">
              <a:solidFill>
                <a:srgbClr val="1E40AF">
                  <a:alpha val="30000"/>
                </a:srgbClr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7143750" y="3333750"/>
              <a:ext cx="3810000" cy="9525"/>
            </a:xfrm>
            <a:custGeom>
              <a:avLst/>
              <a:gdLst/>
              <a:ahLst/>
              <a:cxnLst/>
              <a:rect l="l" t="t" r="r" b="b"/>
              <a:pathLst>
                <a:path w="3810000" h="9525">
                  <a:moveTo>
                    <a:pt x="0" y="0"/>
                  </a:moveTo>
                  <a:lnTo>
                    <a:pt x="3810000" y="0"/>
                  </a:lnTo>
                </a:path>
              </a:pathLst>
            </a:custGeom>
            <a:noFill/>
            <a:ln w="4762">
              <a:solidFill>
                <a:srgbClr val="1E40AF">
                  <a:alpha val="30000"/>
                </a:srgbClr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7143750" y="4286250"/>
              <a:ext cx="3810000" cy="9525"/>
            </a:xfrm>
            <a:custGeom>
              <a:avLst/>
              <a:gdLst/>
              <a:ahLst/>
              <a:cxnLst/>
              <a:rect l="l" t="t" r="r" b="b"/>
              <a:pathLst>
                <a:path w="3810000" h="9525">
                  <a:moveTo>
                    <a:pt x="0" y="0"/>
                  </a:moveTo>
                  <a:lnTo>
                    <a:pt x="3810000" y="0"/>
                  </a:lnTo>
                </a:path>
              </a:pathLst>
            </a:custGeom>
            <a:noFill/>
            <a:ln w="4762">
              <a:solidFill>
                <a:srgbClr val="1E40AF">
                  <a:alpha val="30000"/>
                </a:srgbClr>
              </a:solidFill>
            </a:ln>
          </p:spPr>
        </p:sp>
      </p:grpSp>
      <p:sp>
        <p:nvSpPr>
          <p:cNvPr id="16" name="Line 16"/>
          <p:cNvSpPr/>
          <p:nvPr/>
        </p:nvSpPr>
        <p:spPr>
          <a:xfrm>
            <a:off x="1143000" y="5905500"/>
            <a:ext cx="9906000" cy="9525"/>
          </a:xfrm>
          <a:custGeom>
            <a:avLst/>
            <a:gdLst/>
            <a:ahLst/>
            <a:cxnLst/>
            <a:rect l="l" t="t" r="r" b="b"/>
            <a:pathLst>
              <a:path w="9906000" h="9525">
                <a:moveTo>
                  <a:pt x="0" y="0"/>
                </a:moveTo>
                <a:lnTo>
                  <a:pt x="9906000" y="0"/>
                </a:lnTo>
              </a:path>
            </a:pathLst>
          </a:custGeom>
          <a:noFill/>
          <a:ln w="9525">
            <a:solidFill>
              <a:srgbClr val="1F2937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1129665" y="6268402"/>
            <a:ext cx="230395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2026-09-25 22:00 · 第 9 轮汇报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670518" y="6284595"/>
            <a:ext cx="85096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D4AF37"/>
                </a:solidFill>
                <a:latin typeface="Arial"/>
                <a:ea typeface="Microsoft YaHei"/>
                <a:cs typeface="Arial"/>
              </a:rPr>
              <a:t>CONFIDENTIAL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582025" y="6268402"/>
            <a:ext cx="24803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汇报人：Qoder Agent（无人值守）</a:t>
            </a:r>
          </a:p>
        </p:txBody>
      </p:sp>
    </p:spTree>
  </p:cSld>
  <p:clrMapOvr>
    <a:masterClrMapping/>
  </p:clrMapOvr>
  <p:transition dur="5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1E40AF"/>
              </a:gs>
              <a:gs pos="100000">
                <a:srgbClr val="7C3AED"/>
              </a:gs>
            </a:gsLst>
            <a:lin ang="0" scaled="1"/>
          </a:gradFill>
          <a:ln>
            <a:noFill/>
          </a:ln>
        </p:spPr>
      </p:sp>
      <p:sp>
        <p:nvSpPr>
          <p:cNvPr id="4" name="Line 4"/>
          <p:cNvSpPr/>
          <p:nvPr/>
        </p:nvSpPr>
        <p:spPr>
          <a:xfrm>
            <a:off x="952500" y="2667000"/>
            <a:ext cx="9525" cy="1524000"/>
          </a:xfrm>
          <a:custGeom>
            <a:avLst/>
            <a:gdLst/>
            <a:ahLst/>
            <a:cxnLst/>
            <a:rect l="l" t="t" r="r" b="b"/>
            <a:pathLst>
              <a:path w="9525" h="1524000">
                <a:moveTo>
                  <a:pt x="0" y="0"/>
                </a:moveTo>
                <a:lnTo>
                  <a:pt x="0" y="1524000"/>
                </a:lnTo>
              </a:path>
            </a:pathLst>
          </a:custGeom>
          <a:noFill/>
          <a:ln w="38100">
            <a:solidFill>
              <a:srgbClr val="D4AF37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1162050" y="2162175"/>
            <a:ext cx="2620185" cy="274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0" b="1" dirty="0">
                <a:solidFill>
                  <a:srgbClr val="FFFFFF">
                    <a:alpha val="8000"/>
                  </a:srgbClr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78280" y="3040380"/>
            <a:ext cx="5060061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已试组合与留用判定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04950" y="3838575"/>
            <a:ext cx="516445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4 个技能在 8 个场景上各做一轮，24 种风格无一重复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7620000" y="1905000"/>
            <a:ext cx="3810000" cy="3048000"/>
            <a:chOff x="7620000" y="1905000"/>
            <a:chExt cx="3810000" cy="3048000"/>
          </a:xfrm>
        </p:grpSpPr>
        <p:sp>
          <p:nvSpPr>
            <p:cNvPr id="8" name="Line 8"/>
            <p:cNvSpPr/>
            <p:nvPr/>
          </p:nvSpPr>
          <p:spPr>
            <a:xfrm>
              <a:off x="8096250" y="1905000"/>
              <a:ext cx="9525" cy="3048000"/>
            </a:xfrm>
            <a:custGeom>
              <a:avLst/>
              <a:gdLst/>
              <a:ahLst/>
              <a:cxnLst/>
              <a:rect l="l" t="t" r="r" b="b"/>
              <a:pathLst>
                <a:path w="9525" h="3048000">
                  <a:moveTo>
                    <a:pt x="0" y="0"/>
                  </a:moveTo>
                  <a:lnTo>
                    <a:pt x="0" y="3048000"/>
                  </a:lnTo>
                </a:path>
              </a:pathLst>
            </a:custGeom>
            <a:noFill/>
            <a:ln w="4762">
              <a:solidFill>
                <a:srgbClr val="1E40AF">
                  <a:alpha val="20000"/>
                </a:srgb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9048750" y="1905000"/>
              <a:ext cx="9525" cy="3048000"/>
            </a:xfrm>
            <a:custGeom>
              <a:avLst/>
              <a:gdLst/>
              <a:ahLst/>
              <a:cxnLst/>
              <a:rect l="l" t="t" r="r" b="b"/>
              <a:pathLst>
                <a:path w="9525" h="3048000">
                  <a:moveTo>
                    <a:pt x="0" y="0"/>
                  </a:moveTo>
                  <a:lnTo>
                    <a:pt x="0" y="3048000"/>
                  </a:lnTo>
                </a:path>
              </a:pathLst>
            </a:custGeom>
            <a:noFill/>
            <a:ln w="4762">
              <a:solidFill>
                <a:srgbClr val="1E40AF">
                  <a:alpha val="20000"/>
                </a:srgb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10001250" y="1905000"/>
              <a:ext cx="9525" cy="3048000"/>
            </a:xfrm>
            <a:custGeom>
              <a:avLst/>
              <a:gdLst/>
              <a:ahLst/>
              <a:cxnLst/>
              <a:rect l="l" t="t" r="r" b="b"/>
              <a:pathLst>
                <a:path w="9525" h="3048000">
                  <a:moveTo>
                    <a:pt x="0" y="0"/>
                  </a:moveTo>
                  <a:lnTo>
                    <a:pt x="0" y="3048000"/>
                  </a:lnTo>
                </a:path>
              </a:pathLst>
            </a:custGeom>
            <a:noFill/>
            <a:ln w="4762">
              <a:solidFill>
                <a:srgbClr val="1E40AF">
                  <a:alpha val="20000"/>
                </a:srgb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10953750" y="1905000"/>
              <a:ext cx="9525" cy="3048000"/>
            </a:xfrm>
            <a:custGeom>
              <a:avLst/>
              <a:gdLst/>
              <a:ahLst/>
              <a:cxnLst/>
              <a:rect l="l" t="t" r="r" b="b"/>
              <a:pathLst>
                <a:path w="9525" h="3048000">
                  <a:moveTo>
                    <a:pt x="0" y="0"/>
                  </a:moveTo>
                  <a:lnTo>
                    <a:pt x="0" y="3048000"/>
                  </a:lnTo>
                </a:path>
              </a:pathLst>
            </a:custGeom>
            <a:noFill/>
            <a:ln w="4762">
              <a:solidFill>
                <a:srgbClr val="1E40AF">
                  <a:alpha val="20000"/>
                </a:srgb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7620000" y="2476500"/>
              <a:ext cx="3810000" cy="9525"/>
            </a:xfrm>
            <a:custGeom>
              <a:avLst/>
              <a:gdLst/>
              <a:ahLst/>
              <a:cxnLst/>
              <a:rect l="l" t="t" r="r" b="b"/>
              <a:pathLst>
                <a:path w="3810000" h="9525">
                  <a:moveTo>
                    <a:pt x="0" y="0"/>
                  </a:moveTo>
                  <a:lnTo>
                    <a:pt x="3810000" y="0"/>
                  </a:lnTo>
                </a:path>
              </a:pathLst>
            </a:custGeom>
            <a:noFill/>
            <a:ln w="4762">
              <a:solidFill>
                <a:srgbClr val="1E40AF">
                  <a:alpha val="20000"/>
                </a:srgbClr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7620000" y="3429000"/>
              <a:ext cx="3810000" cy="9525"/>
            </a:xfrm>
            <a:custGeom>
              <a:avLst/>
              <a:gdLst/>
              <a:ahLst/>
              <a:cxnLst/>
              <a:rect l="l" t="t" r="r" b="b"/>
              <a:pathLst>
                <a:path w="3810000" h="9525">
                  <a:moveTo>
                    <a:pt x="0" y="0"/>
                  </a:moveTo>
                  <a:lnTo>
                    <a:pt x="3810000" y="0"/>
                  </a:lnTo>
                </a:path>
              </a:pathLst>
            </a:custGeom>
            <a:noFill/>
            <a:ln w="4762">
              <a:solidFill>
                <a:srgbClr val="1E40AF">
                  <a:alpha val="20000"/>
                </a:srgbClr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7620000" y="4381500"/>
              <a:ext cx="3810000" cy="9525"/>
            </a:xfrm>
            <a:custGeom>
              <a:avLst/>
              <a:gdLst/>
              <a:ahLst/>
              <a:cxnLst/>
              <a:rect l="l" t="t" r="r" b="b"/>
              <a:pathLst>
                <a:path w="3810000" h="9525">
                  <a:moveTo>
                    <a:pt x="0" y="0"/>
                  </a:moveTo>
                  <a:lnTo>
                    <a:pt x="3810000" y="0"/>
                  </a:lnTo>
                </a:path>
              </a:pathLst>
            </a:custGeom>
            <a:noFill/>
            <a:ln w="4762">
              <a:solidFill>
                <a:srgbClr val="1E40AF">
                  <a:alpha val="20000"/>
                </a:srgbClr>
              </a:solidFill>
            </a:ln>
          </p:spPr>
        </p:sp>
      </p:grpSp>
      <p:sp>
        <p:nvSpPr>
          <p:cNvPr id="16" name="TextBox 16"/>
          <p:cNvSpPr txBox="1"/>
          <p:nvPr/>
        </p:nvSpPr>
        <p:spPr>
          <a:xfrm>
            <a:off x="5670518" y="6284595"/>
            <a:ext cx="85096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D4AF37"/>
                </a:solidFill>
                <a:latin typeface="Arial"/>
                <a:ea typeface="Microsoft YaHei"/>
                <a:cs typeface="Arial"/>
              </a:rPr>
              <a:t>CONFIDENTIAL</a:t>
            </a:r>
          </a:p>
        </p:txBody>
      </p:sp>
    </p:spTree>
  </p:cSld>
  <p:clrMapOvr>
    <a:masterClrMapping/>
  </p:clrMapOvr>
  <p:transition dur="5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1E40AF"/>
              </a:gs>
              <a:gs pos="100000">
                <a:srgbClr val="7C3AED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81000" y="285750"/>
            <a:ext cx="11430000" cy="571500"/>
          </a:xfrm>
          <a:prstGeom prst="rect">
            <a:avLst/>
          </a:prstGeom>
          <a:solidFill>
            <a:srgbClr val="1F2937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381000" y="285750"/>
            <a:ext cx="57150" cy="571500"/>
          </a:xfrm>
          <a:prstGeom prst="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643890" y="472440"/>
            <a:ext cx="95663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AGENDA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080260" y="537210"/>
            <a:ext cx="7315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汇报提纲</a:t>
            </a:r>
          </a:p>
        </p:txBody>
      </p:sp>
      <p:sp>
        <p:nvSpPr>
          <p:cNvPr id="8" name="Rectangle 8"/>
          <p:cNvSpPr/>
          <p:nvPr/>
        </p:nvSpPr>
        <p:spPr>
          <a:xfrm>
            <a:off x="571500" y="1143000"/>
            <a:ext cx="5334000" cy="1238250"/>
          </a:xfrm>
          <a:prstGeom prst="rect">
            <a:avLst/>
          </a:prstGeom>
          <a:solidFill>
            <a:srgbClr val="1F2937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891540" y="1148715"/>
            <a:ext cx="747598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800" b="1" dirty="0">
                <a:solidFill>
                  <a:srgbClr val="1E40AF">
                    <a:alpha val="30000"/>
                  </a:srgbClr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95450" y="1457325"/>
            <a:ext cx="164830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方法与去重契约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01165" y="1791652"/>
            <a:ext cx="313972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独立会话 · 工作记录即唯一记忆 · 四道去重闸</a:t>
            </a:r>
          </a:p>
        </p:txBody>
      </p:sp>
      <p:sp>
        <p:nvSpPr>
          <p:cNvPr id="12" name="Line 12"/>
          <p:cNvSpPr/>
          <p:nvPr/>
        </p:nvSpPr>
        <p:spPr>
          <a:xfrm>
            <a:off x="1714500" y="2095500"/>
            <a:ext cx="3619500" cy="9525"/>
          </a:xfrm>
          <a:custGeom>
            <a:avLst/>
            <a:gdLst/>
            <a:ahLst/>
            <a:cxnLst/>
            <a:rect l="l" t="t" r="r" b="b"/>
            <a:pathLst>
              <a:path w="3619500" h="9525">
                <a:moveTo>
                  <a:pt x="0" y="0"/>
                </a:moveTo>
                <a:lnTo>
                  <a:pt x="3619500" y="0"/>
                </a:lnTo>
              </a:path>
            </a:pathLst>
          </a:custGeom>
          <a:noFill/>
          <a:ln w="9525">
            <a:solidFill>
              <a:srgbClr val="374151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286500" y="1143000"/>
            <a:ext cx="5334000" cy="1238250"/>
          </a:xfrm>
          <a:prstGeom prst="rect">
            <a:avLst/>
          </a:prstGeom>
          <a:solidFill>
            <a:srgbClr val="1F2937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606540" y="1148715"/>
            <a:ext cx="931621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800" b="1" dirty="0">
                <a:solidFill>
                  <a:srgbClr val="7C3AED">
                    <a:alpha val="30000"/>
                  </a:srgbClr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410450" y="1457325"/>
            <a:ext cx="210835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已试组合与留用判定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416165" y="1791652"/>
            <a:ext cx="294036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8 轮 · 4 个技能 · 8 个场景 · 全部判为留用</a:t>
            </a:r>
          </a:p>
        </p:txBody>
      </p:sp>
      <p:sp>
        <p:nvSpPr>
          <p:cNvPr id="17" name="Line 17"/>
          <p:cNvSpPr/>
          <p:nvPr/>
        </p:nvSpPr>
        <p:spPr>
          <a:xfrm>
            <a:off x="7429500" y="2095500"/>
            <a:ext cx="3619500" cy="9525"/>
          </a:xfrm>
          <a:custGeom>
            <a:avLst/>
            <a:gdLst/>
            <a:ahLst/>
            <a:cxnLst/>
            <a:rect l="l" t="t" r="r" b="b"/>
            <a:pathLst>
              <a:path w="3619500" h="9525">
                <a:moveTo>
                  <a:pt x="0" y="0"/>
                </a:moveTo>
                <a:lnTo>
                  <a:pt x="3619500" y="0"/>
                </a:lnTo>
              </a:path>
            </a:pathLst>
          </a:custGeom>
          <a:noFill/>
          <a:ln w="9525">
            <a:solidFill>
              <a:srgbClr val="374151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571500" y="2571750"/>
            <a:ext cx="5334000" cy="1238250"/>
          </a:xfrm>
          <a:prstGeom prst="rect">
            <a:avLst/>
          </a:prstGeom>
          <a:solidFill>
            <a:srgbClr val="1F2937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891540" y="2577465"/>
            <a:ext cx="931621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800" b="1" dirty="0">
                <a:solidFill>
                  <a:srgbClr val="1E40AF">
                    <a:alpha val="30000"/>
                  </a:srgbClr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695450" y="2886075"/>
            <a:ext cx="279844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质量闸门：断言与视觉复核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701165" y="3220402"/>
            <a:ext cx="330841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累计 1,203 条断言 · 计算样式复核 · 逐字节同构</a:t>
            </a:r>
          </a:p>
        </p:txBody>
      </p:sp>
      <p:sp>
        <p:nvSpPr>
          <p:cNvPr id="22" name="Line 22"/>
          <p:cNvSpPr/>
          <p:nvPr/>
        </p:nvSpPr>
        <p:spPr>
          <a:xfrm>
            <a:off x="1714500" y="3524250"/>
            <a:ext cx="3619500" cy="9525"/>
          </a:xfrm>
          <a:custGeom>
            <a:avLst/>
            <a:gdLst/>
            <a:ahLst/>
            <a:cxnLst/>
            <a:rect l="l" t="t" r="r" b="b"/>
            <a:pathLst>
              <a:path w="3619500" h="9525">
                <a:moveTo>
                  <a:pt x="0" y="0"/>
                </a:moveTo>
                <a:lnTo>
                  <a:pt x="3619500" y="0"/>
                </a:lnTo>
              </a:path>
            </a:pathLst>
          </a:custGeom>
          <a:noFill/>
          <a:ln w="9525">
            <a:solidFill>
              <a:srgbClr val="374151"/>
            </a:solidFill>
          </a:ln>
        </p:spPr>
      </p:sp>
      <p:sp>
        <p:nvSpPr>
          <p:cNvPr id="23" name="Rectangle 23"/>
          <p:cNvSpPr/>
          <p:nvPr/>
        </p:nvSpPr>
        <p:spPr>
          <a:xfrm>
            <a:off x="6286500" y="2571750"/>
            <a:ext cx="5334000" cy="1238250"/>
          </a:xfrm>
          <a:prstGeom prst="rect">
            <a:avLst/>
          </a:prstGeom>
          <a:solidFill>
            <a:srgbClr val="1F2937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6606540" y="2577465"/>
            <a:ext cx="931621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800" b="1" dirty="0">
                <a:solidFill>
                  <a:srgbClr val="7C3AED">
                    <a:alpha val="30000"/>
                  </a:srgbClr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410450" y="2886075"/>
            <a:ext cx="187833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环境约束与下一步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416165" y="3220402"/>
            <a:ext cx="304004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TLS 重置 · 镜像源可达清单 · 45 条环境笔记</a:t>
            </a:r>
          </a:p>
        </p:txBody>
      </p:sp>
      <p:sp>
        <p:nvSpPr>
          <p:cNvPr id="27" name="Line 27"/>
          <p:cNvSpPr/>
          <p:nvPr/>
        </p:nvSpPr>
        <p:spPr>
          <a:xfrm>
            <a:off x="7429500" y="3524250"/>
            <a:ext cx="3619500" cy="9525"/>
          </a:xfrm>
          <a:custGeom>
            <a:avLst/>
            <a:gdLst/>
            <a:ahLst/>
            <a:cxnLst/>
            <a:rect l="l" t="t" r="r" b="b"/>
            <a:pathLst>
              <a:path w="3619500" h="9525">
                <a:moveTo>
                  <a:pt x="0" y="0"/>
                </a:moveTo>
                <a:lnTo>
                  <a:pt x="3619500" y="0"/>
                </a:lnTo>
              </a:path>
            </a:pathLst>
          </a:custGeom>
          <a:noFill/>
          <a:ln w="9525">
            <a:solidFill>
              <a:srgbClr val="374151"/>
            </a:solidFill>
          </a:ln>
        </p:spPr>
      </p:sp>
      <p:sp>
        <p:nvSpPr>
          <p:cNvPr id="28" name="Rectangle 28"/>
          <p:cNvSpPr/>
          <p:nvPr/>
        </p:nvSpPr>
        <p:spPr>
          <a:xfrm>
            <a:off x="571500" y="4000500"/>
            <a:ext cx="5334000" cy="1238250"/>
          </a:xfrm>
          <a:prstGeom prst="rect">
            <a:avLst/>
          </a:prstGeom>
          <a:noFill/>
          <a:ln w="9525">
            <a:solidFill>
              <a:srgbClr val="374151"/>
            </a:solidFill>
            <a:prstDash val="dash"/>
          </a:ln>
        </p:spPr>
      </p:sp>
      <p:sp>
        <p:nvSpPr>
          <p:cNvPr id="29" name="TextBox 29"/>
          <p:cNvSpPr txBox="1"/>
          <p:nvPr/>
        </p:nvSpPr>
        <p:spPr>
          <a:xfrm>
            <a:off x="891540" y="4006215"/>
            <a:ext cx="931621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800" b="1" dirty="0">
                <a:solidFill>
                  <a:srgbClr val="374151">
                    <a:alpha val="30000"/>
                  </a:srgbClr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699260" y="4537710"/>
            <a:ext cx="24841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附录：九份复现文档与产物索引</a:t>
            </a:r>
          </a:p>
        </p:txBody>
      </p:sp>
      <p:sp>
        <p:nvSpPr>
          <p:cNvPr id="31" name="Line 31"/>
          <p:cNvSpPr/>
          <p:nvPr/>
        </p:nvSpPr>
        <p:spPr>
          <a:xfrm>
            <a:off x="571500" y="57150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374151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560070" y="6379845"/>
            <a:ext cx="74580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2026-09-25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670518" y="6379845"/>
            <a:ext cx="85096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D4AF37"/>
                </a:solidFill>
                <a:latin typeface="Arial"/>
                <a:ea typeface="Microsoft YaHei"/>
                <a:cs typeface="Arial"/>
              </a:rPr>
              <a:t>CONFIDENTIAL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168729" y="6379845"/>
            <a:ext cx="46320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02 / 05</a:t>
            </a:r>
          </a:p>
        </p:txBody>
      </p:sp>
    </p:spTree>
  </p:cSld>
  <p:clrMapOvr>
    <a:masterClrMapping/>
  </p:clrMapOvr>
  <p:transition dur="5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E40AF"/>
              </a:gs>
              <a:gs pos="100000">
                <a:srgbClr val="7C3AED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381000" y="190500"/>
            <a:ext cx="57150" cy="571500"/>
          </a:xfrm>
          <a:prstGeom prst="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54355" y="406718"/>
            <a:ext cx="582066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八轮全部判为留用：单轮断言从 36 条增至 398 条，风格零重复</a:t>
            </a:r>
          </a:p>
        </p:txBody>
      </p:sp>
      <p:sp>
        <p:nvSpPr>
          <p:cNvPr id="7" name="Rectangle 7"/>
          <p:cNvSpPr/>
          <p:nvPr/>
        </p:nvSpPr>
        <p:spPr>
          <a:xfrm>
            <a:off x="381000" y="952500"/>
            <a:ext cx="2714625" cy="85725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571500" y="1123950"/>
            <a:ext cx="329232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8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53465" y="1334452"/>
            <a:ext cx="7934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轮已试组合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98170" y="1579245"/>
            <a:ext cx="122558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skill × 场景，无重复</a:t>
            </a:r>
          </a:p>
        </p:txBody>
      </p:sp>
      <p:sp>
        <p:nvSpPr>
          <p:cNvPr id="11" name="Rectangle 11"/>
          <p:cNvSpPr/>
          <p:nvPr/>
        </p:nvSpPr>
        <p:spPr>
          <a:xfrm>
            <a:off x="3286125" y="952500"/>
            <a:ext cx="2714625" cy="85725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476625" y="1123950"/>
            <a:ext cx="329232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4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958590" y="1334452"/>
            <a:ext cx="12534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个技能已完成横评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503295" y="1579245"/>
            <a:ext cx="115328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内置 1 + 本机自装 3</a:t>
            </a:r>
          </a:p>
        </p:txBody>
      </p:sp>
      <p:sp>
        <p:nvSpPr>
          <p:cNvPr id="15" name="Rectangle 15"/>
          <p:cNvSpPr/>
          <p:nvPr/>
        </p:nvSpPr>
        <p:spPr>
          <a:xfrm>
            <a:off x="6191250" y="952500"/>
            <a:ext cx="2714625" cy="85725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6381750" y="1123950"/>
            <a:ext cx="1226344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1,203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408420" y="1579245"/>
            <a:ext cx="175136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条断言（有记录的 6 轮累计）</a:t>
            </a:r>
          </a:p>
        </p:txBody>
      </p:sp>
      <p:sp>
        <p:nvSpPr>
          <p:cNvPr id="18" name="Rectangle 18"/>
          <p:cNvSpPr/>
          <p:nvPr/>
        </p:nvSpPr>
        <p:spPr>
          <a:xfrm>
            <a:off x="9096375" y="952500"/>
            <a:ext cx="2714625" cy="85725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9286875" y="1123950"/>
            <a:ext cx="1203341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1.1MB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313545" y="1579245"/>
            <a:ext cx="171192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单场景产物峰值 / 限额 50MB</a:t>
            </a:r>
          </a:p>
        </p:txBody>
      </p:sp>
      <p:sp>
        <p:nvSpPr>
          <p:cNvPr id="21" name="Rectangle 21"/>
          <p:cNvSpPr/>
          <p:nvPr/>
        </p:nvSpPr>
        <p:spPr>
          <a:xfrm>
            <a:off x="381000" y="2000250"/>
            <a:ext cx="7048500" cy="381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592455" y="2178368"/>
            <a:ext cx="127644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每轮断言条数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98170" y="2417445"/>
            <a:ext cx="185651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16:00 起有量化记录 · 单位：条</a:t>
            </a:r>
          </a:p>
        </p:txBody>
      </p:sp>
      <p:sp>
        <p:nvSpPr>
          <p:cNvPr id="24" name="Line 24"/>
          <p:cNvSpPr/>
          <p:nvPr/>
        </p:nvSpPr>
        <p:spPr>
          <a:xfrm>
            <a:off x="1143000" y="5334000"/>
            <a:ext cx="6096000" cy="9525"/>
          </a:xfrm>
          <a:custGeom>
            <a:avLst/>
            <a:gdLst/>
            <a:ahLst/>
            <a:cxnLst/>
            <a:rect l="l" t="t" r="r" b="b"/>
            <a:pathLst>
              <a:path w="6096000" h="9525">
                <a:moveTo>
                  <a:pt x="0" y="0"/>
                </a:moveTo>
                <a:lnTo>
                  <a:pt x="6096000" y="0"/>
                </a:lnTo>
              </a:path>
            </a:pathLst>
          </a:custGeom>
          <a:noFill/>
          <a:ln w="9525">
            <a:solidFill>
              <a:srgbClr val="E5E7EB"/>
            </a:solidFill>
          </a:ln>
        </p:spPr>
      </p:sp>
      <p:sp>
        <p:nvSpPr>
          <p:cNvPr id="25" name="Line 25"/>
          <p:cNvSpPr/>
          <p:nvPr/>
        </p:nvSpPr>
        <p:spPr>
          <a:xfrm>
            <a:off x="1143000" y="4667250"/>
            <a:ext cx="6096000" cy="9525"/>
          </a:xfrm>
          <a:custGeom>
            <a:avLst/>
            <a:gdLst/>
            <a:ahLst/>
            <a:cxnLst/>
            <a:rect l="l" t="t" r="r" b="b"/>
            <a:pathLst>
              <a:path w="6096000" h="9525">
                <a:moveTo>
                  <a:pt x="0" y="0"/>
                </a:moveTo>
                <a:lnTo>
                  <a:pt x="6096000" y="0"/>
                </a:lnTo>
              </a:path>
            </a:pathLst>
          </a:custGeom>
          <a:noFill/>
          <a:ln w="9525">
            <a:solidFill>
              <a:srgbClr val="E5E7EB">
                <a:alpha val="70000"/>
              </a:srgbClr>
            </a:solidFill>
          </a:ln>
        </p:spPr>
      </p:sp>
      <p:sp>
        <p:nvSpPr>
          <p:cNvPr id="26" name="Line 26"/>
          <p:cNvSpPr/>
          <p:nvPr/>
        </p:nvSpPr>
        <p:spPr>
          <a:xfrm>
            <a:off x="1143000" y="4000500"/>
            <a:ext cx="6096000" cy="9525"/>
          </a:xfrm>
          <a:custGeom>
            <a:avLst/>
            <a:gdLst/>
            <a:ahLst/>
            <a:cxnLst/>
            <a:rect l="l" t="t" r="r" b="b"/>
            <a:pathLst>
              <a:path w="6096000" h="9525">
                <a:moveTo>
                  <a:pt x="0" y="0"/>
                </a:moveTo>
                <a:lnTo>
                  <a:pt x="6096000" y="0"/>
                </a:lnTo>
              </a:path>
            </a:pathLst>
          </a:custGeom>
          <a:noFill/>
          <a:ln w="9525">
            <a:solidFill>
              <a:srgbClr val="E5E7EB">
                <a:alpha val="70000"/>
              </a:srgbClr>
            </a:solidFill>
          </a:ln>
        </p:spPr>
      </p:sp>
      <p:sp>
        <p:nvSpPr>
          <p:cNvPr id="27" name="Line 27"/>
          <p:cNvSpPr/>
          <p:nvPr/>
        </p:nvSpPr>
        <p:spPr>
          <a:xfrm>
            <a:off x="1143000" y="3333750"/>
            <a:ext cx="6096000" cy="9525"/>
          </a:xfrm>
          <a:custGeom>
            <a:avLst/>
            <a:gdLst/>
            <a:ahLst/>
            <a:cxnLst/>
            <a:rect l="l" t="t" r="r" b="b"/>
            <a:pathLst>
              <a:path w="6096000" h="9525">
                <a:moveTo>
                  <a:pt x="0" y="0"/>
                </a:moveTo>
                <a:lnTo>
                  <a:pt x="6096000" y="0"/>
                </a:lnTo>
              </a:path>
            </a:pathLst>
          </a:custGeom>
          <a:noFill/>
          <a:ln w="9525">
            <a:solidFill>
              <a:srgbClr val="E5E7EB">
                <a:alpha val="70000"/>
              </a:srgbClr>
            </a:solidFill>
          </a:ln>
        </p:spPr>
      </p:sp>
      <p:sp>
        <p:nvSpPr>
          <p:cNvPr id="28" name="Line 28"/>
          <p:cNvSpPr/>
          <p:nvPr/>
        </p:nvSpPr>
        <p:spPr>
          <a:xfrm>
            <a:off x="1143000" y="2667000"/>
            <a:ext cx="6096000" cy="9525"/>
          </a:xfrm>
          <a:custGeom>
            <a:avLst/>
            <a:gdLst/>
            <a:ahLst/>
            <a:cxnLst/>
            <a:rect l="l" t="t" r="r" b="b"/>
            <a:pathLst>
              <a:path w="6096000" h="9525">
                <a:moveTo>
                  <a:pt x="0" y="0"/>
                </a:moveTo>
                <a:lnTo>
                  <a:pt x="6096000" y="0"/>
                </a:lnTo>
              </a:path>
            </a:pathLst>
          </a:custGeom>
          <a:noFill/>
          <a:ln w="9525">
            <a:solidFill>
              <a:srgbClr val="E5E7EB">
                <a:alpha val="70000"/>
              </a:srgbClr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964025" y="5274945"/>
            <a:ext cx="951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0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52297" y="4608195"/>
            <a:ext cx="20688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100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19436" y="3941445"/>
            <a:ext cx="23974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200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19436" y="3274695"/>
            <a:ext cx="23974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300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19436" y="2607945"/>
            <a:ext cx="23974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400</a:t>
            </a:r>
          </a:p>
        </p:txBody>
      </p:sp>
      <p:sp>
        <p:nvSpPr>
          <p:cNvPr id="34" name="Rectangle 34"/>
          <p:cNvSpPr/>
          <p:nvPr/>
        </p:nvSpPr>
        <p:spPr>
          <a:xfrm>
            <a:off x="1238250" y="5095875"/>
            <a:ext cx="647700" cy="238125"/>
          </a:xfrm>
          <a:prstGeom prst="rect">
            <a:avLst/>
          </a:prstGeom>
          <a:solidFill>
            <a:srgbClr val="1E40AF"/>
          </a:solidFill>
          <a:ln>
            <a:noFill/>
          </a:ln>
        </p:spPr>
      </p:sp>
      <p:sp>
        <p:nvSpPr>
          <p:cNvPr id="35" name="Rectangle 35"/>
          <p:cNvSpPr/>
          <p:nvPr/>
        </p:nvSpPr>
        <p:spPr>
          <a:xfrm>
            <a:off x="2238375" y="4391025"/>
            <a:ext cx="647700" cy="942975"/>
          </a:xfrm>
          <a:prstGeom prst="rect">
            <a:avLst/>
          </a:prstGeom>
          <a:solidFill>
            <a:srgbClr val="1E40AF"/>
          </a:solidFill>
          <a:ln>
            <a:noFill/>
          </a:ln>
        </p:spPr>
      </p:sp>
      <p:sp>
        <p:nvSpPr>
          <p:cNvPr id="36" name="Rectangle 36"/>
          <p:cNvSpPr/>
          <p:nvPr/>
        </p:nvSpPr>
        <p:spPr>
          <a:xfrm>
            <a:off x="3238500" y="3028950"/>
            <a:ext cx="647700" cy="2305050"/>
          </a:xfrm>
          <a:prstGeom prst="rect">
            <a:avLst/>
          </a:prstGeom>
          <a:solidFill>
            <a:srgbClr val="1E40AF"/>
          </a:solidFill>
          <a:ln>
            <a:noFill/>
          </a:ln>
        </p:spPr>
      </p:sp>
      <p:sp>
        <p:nvSpPr>
          <p:cNvPr id="37" name="Rectangle 37"/>
          <p:cNvSpPr/>
          <p:nvPr/>
        </p:nvSpPr>
        <p:spPr>
          <a:xfrm>
            <a:off x="4238625" y="2676525"/>
            <a:ext cx="647700" cy="2657475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38" name="Rectangle 38"/>
          <p:cNvSpPr/>
          <p:nvPr/>
        </p:nvSpPr>
        <p:spPr>
          <a:xfrm>
            <a:off x="5238750" y="3962400"/>
            <a:ext cx="647700" cy="1371600"/>
          </a:xfrm>
          <a:prstGeom prst="rect">
            <a:avLst/>
          </a:prstGeom>
          <a:solidFill>
            <a:srgbClr val="1E40AF"/>
          </a:solidFill>
          <a:ln>
            <a:noFill/>
          </a:ln>
        </p:spPr>
      </p:sp>
      <p:sp>
        <p:nvSpPr>
          <p:cNvPr id="39" name="Rectangle 39"/>
          <p:cNvSpPr/>
          <p:nvPr/>
        </p:nvSpPr>
        <p:spPr>
          <a:xfrm>
            <a:off x="6238875" y="4810125"/>
            <a:ext cx="647700" cy="523875"/>
          </a:xfrm>
          <a:prstGeom prst="rect">
            <a:avLst/>
          </a:prstGeom>
          <a:solidFill>
            <a:srgbClr val="1E40AF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1460204" y="4887278"/>
            <a:ext cx="2037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36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2456303" y="4182428"/>
            <a:ext cx="21184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141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3416173" y="2820352"/>
            <a:ext cx="29235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345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4416298" y="2467928"/>
            <a:ext cx="29235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398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5416423" y="3753802"/>
            <a:ext cx="29235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205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6460829" y="4601528"/>
            <a:ext cx="2037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78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386364" y="5427345"/>
            <a:ext cx="35147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16:00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2386489" y="5427345"/>
            <a:ext cx="35147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17:00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3386614" y="5427345"/>
            <a:ext cx="35147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18:00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4386739" y="5427345"/>
            <a:ext cx="35147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19:00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5370433" y="5427345"/>
            <a:ext cx="38433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20:00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6386989" y="5427345"/>
            <a:ext cx="35147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21:00</a:t>
            </a:r>
          </a:p>
        </p:txBody>
      </p:sp>
      <p:sp>
        <p:nvSpPr>
          <p:cNvPr id="52" name="Line 52"/>
          <p:cNvSpPr/>
          <p:nvPr/>
        </p:nvSpPr>
        <p:spPr>
          <a:xfrm>
            <a:off x="609600" y="5715000"/>
            <a:ext cx="342900" cy="9525"/>
          </a:xfrm>
          <a:custGeom>
            <a:avLst/>
            <a:gdLst/>
            <a:ahLst/>
            <a:cxnLst/>
            <a:rect l="l" t="t" r="r" b="b"/>
            <a:pathLst>
              <a:path w="342900" h="9525">
                <a:moveTo>
                  <a:pt x="0" y="0"/>
                </a:moveTo>
                <a:lnTo>
                  <a:pt x="342900" y="0"/>
                </a:lnTo>
              </a:path>
            </a:pathLst>
          </a:custGeom>
          <a:noFill/>
          <a:ln w="28575">
            <a:solidFill>
              <a:srgbClr val="D4AF37"/>
            </a:solidFill>
          </a:ln>
        </p:spPr>
      </p:sp>
      <p:sp>
        <p:nvSpPr>
          <p:cNvPr id="53" name="TextBox 53"/>
          <p:cNvSpPr txBox="1"/>
          <p:nvPr/>
        </p:nvSpPr>
        <p:spPr>
          <a:xfrm>
            <a:off x="1055370" y="5655945"/>
            <a:ext cx="29080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D4AF37"/>
                </a:solidFill>
                <a:latin typeface="Arial"/>
                <a:ea typeface="Microsoft YaHei"/>
                <a:cs typeface="Arial"/>
              </a:rPr>
              <a:t>19:00 轮（定价页 · 双技能叠加）为迄今单轮最高</a:t>
            </a:r>
          </a:p>
        </p:txBody>
      </p:sp>
      <p:sp>
        <p:nvSpPr>
          <p:cNvPr id="54" name="Rectangle 54"/>
          <p:cNvSpPr/>
          <p:nvPr/>
        </p:nvSpPr>
        <p:spPr>
          <a:xfrm>
            <a:off x="7620000" y="2000250"/>
            <a:ext cx="4191000" cy="381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55" name="TextBox 55"/>
          <p:cNvSpPr txBox="1"/>
          <p:nvPr/>
        </p:nvSpPr>
        <p:spPr>
          <a:xfrm>
            <a:off x="7831455" y="2178368"/>
            <a:ext cx="110047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技能 × 轮次</a:t>
            </a:r>
          </a:p>
        </p:txBody>
      </p:sp>
      <p:sp>
        <p:nvSpPr>
          <p:cNvPr id="56" name="Rectangle 56"/>
          <p:cNvSpPr/>
          <p:nvPr/>
        </p:nvSpPr>
        <p:spPr>
          <a:xfrm>
            <a:off x="7848600" y="2476500"/>
            <a:ext cx="3733800" cy="28575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57" name="TextBox 57"/>
          <p:cNvSpPr txBox="1"/>
          <p:nvPr/>
        </p:nvSpPr>
        <p:spPr>
          <a:xfrm>
            <a:off x="7970520" y="2569845"/>
            <a:ext cx="36790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SKILL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0418636" y="2569845"/>
            <a:ext cx="29889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轮次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0847070" y="2569845"/>
            <a:ext cx="29889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D4AF37"/>
                </a:solidFill>
                <a:latin typeface="Arial"/>
                <a:ea typeface="Microsoft YaHei"/>
                <a:cs typeface="Arial"/>
              </a:rPr>
              <a:t>判定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7969568" y="2904649"/>
            <a:ext cx="141315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sites:sites-building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0604204" y="2896552"/>
            <a:ext cx="11523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b="1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0846118" y="2904649"/>
            <a:ext cx="3095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留用</a:t>
            </a:r>
          </a:p>
        </p:txBody>
      </p:sp>
      <p:sp>
        <p:nvSpPr>
          <p:cNvPr id="63" name="Line 63"/>
          <p:cNvSpPr/>
          <p:nvPr/>
        </p:nvSpPr>
        <p:spPr>
          <a:xfrm>
            <a:off x="7848600" y="3143250"/>
            <a:ext cx="3733800" cy="9525"/>
          </a:xfrm>
          <a:custGeom>
            <a:avLst/>
            <a:gdLst/>
            <a:ahLst/>
            <a:cxnLst/>
            <a:rect l="l" t="t" r="r" b="b"/>
            <a:pathLst>
              <a:path w="3733800" h="9525">
                <a:moveTo>
                  <a:pt x="0" y="0"/>
                </a:moveTo>
                <a:lnTo>
                  <a:pt x="3733800" y="0"/>
                </a:lnTo>
              </a:path>
            </a:pathLst>
          </a:custGeom>
          <a:noFill/>
          <a:ln w="9525">
            <a:solidFill>
              <a:srgbClr val="E5E7EB"/>
            </a:solidFill>
          </a:ln>
        </p:spPr>
      </p:sp>
      <p:sp>
        <p:nvSpPr>
          <p:cNvPr id="64" name="TextBox 64"/>
          <p:cNvSpPr txBox="1"/>
          <p:nvPr/>
        </p:nvSpPr>
        <p:spPr>
          <a:xfrm>
            <a:off x="7969568" y="3304699"/>
            <a:ext cx="206818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vercel-react-best-practices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0604204" y="3296602"/>
            <a:ext cx="11523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b="1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4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0846118" y="3304699"/>
            <a:ext cx="3095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留用</a:t>
            </a:r>
          </a:p>
        </p:txBody>
      </p:sp>
      <p:sp>
        <p:nvSpPr>
          <p:cNvPr id="67" name="Line 67"/>
          <p:cNvSpPr/>
          <p:nvPr/>
        </p:nvSpPr>
        <p:spPr>
          <a:xfrm>
            <a:off x="7848600" y="3543300"/>
            <a:ext cx="3733800" cy="9525"/>
          </a:xfrm>
          <a:custGeom>
            <a:avLst/>
            <a:gdLst/>
            <a:ahLst/>
            <a:cxnLst/>
            <a:rect l="l" t="t" r="r" b="b"/>
            <a:pathLst>
              <a:path w="3733800" h="9525">
                <a:moveTo>
                  <a:pt x="0" y="0"/>
                </a:moveTo>
                <a:lnTo>
                  <a:pt x="3733800" y="0"/>
                </a:lnTo>
              </a:path>
            </a:pathLst>
          </a:custGeom>
          <a:noFill/>
          <a:ln w="9525">
            <a:solidFill>
              <a:srgbClr val="E5E7EB"/>
            </a:solidFill>
          </a:ln>
        </p:spPr>
      </p:sp>
      <p:sp>
        <p:nvSpPr>
          <p:cNvPr id="68" name="TextBox 68"/>
          <p:cNvSpPr txBox="1"/>
          <p:nvPr/>
        </p:nvSpPr>
        <p:spPr>
          <a:xfrm>
            <a:off x="7969568" y="3704749"/>
            <a:ext cx="158403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frontend-development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10644459" y="3696652"/>
            <a:ext cx="7497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b="1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1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10846118" y="3704749"/>
            <a:ext cx="3095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留用</a:t>
            </a:r>
          </a:p>
        </p:txBody>
      </p:sp>
      <p:sp>
        <p:nvSpPr>
          <p:cNvPr id="71" name="Line 71"/>
          <p:cNvSpPr/>
          <p:nvPr/>
        </p:nvSpPr>
        <p:spPr>
          <a:xfrm>
            <a:off x="7848600" y="3943350"/>
            <a:ext cx="3733800" cy="9525"/>
          </a:xfrm>
          <a:custGeom>
            <a:avLst/>
            <a:gdLst/>
            <a:ahLst/>
            <a:cxnLst/>
            <a:rect l="l" t="t" r="r" b="b"/>
            <a:pathLst>
              <a:path w="3733800" h="9525">
                <a:moveTo>
                  <a:pt x="0" y="0"/>
                </a:moveTo>
                <a:lnTo>
                  <a:pt x="3733800" y="0"/>
                </a:lnTo>
              </a:path>
            </a:pathLst>
          </a:custGeom>
          <a:noFill/>
          <a:ln w="9525">
            <a:solidFill>
              <a:srgbClr val="E5E7EB"/>
            </a:solidFill>
          </a:ln>
        </p:spPr>
      </p:sp>
      <p:sp>
        <p:nvSpPr>
          <p:cNvPr id="72" name="TextBox 72"/>
          <p:cNvSpPr txBox="1"/>
          <p:nvPr/>
        </p:nvSpPr>
        <p:spPr>
          <a:xfrm>
            <a:off x="7969568" y="4104799"/>
            <a:ext cx="57300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drafter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10644459" y="4096702"/>
            <a:ext cx="7497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b="1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1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10846118" y="4104799"/>
            <a:ext cx="11639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留用（限定场景）</a:t>
            </a:r>
          </a:p>
        </p:txBody>
      </p:sp>
      <p:sp>
        <p:nvSpPr>
          <p:cNvPr id="75" name="Line 75"/>
          <p:cNvSpPr/>
          <p:nvPr/>
        </p:nvSpPr>
        <p:spPr>
          <a:xfrm>
            <a:off x="7848600" y="4343400"/>
            <a:ext cx="3733800" cy="9525"/>
          </a:xfrm>
          <a:custGeom>
            <a:avLst/>
            <a:gdLst/>
            <a:ahLst/>
            <a:cxnLst/>
            <a:rect l="l" t="t" r="r" b="b"/>
            <a:pathLst>
              <a:path w="3733800" h="9525">
                <a:moveTo>
                  <a:pt x="0" y="0"/>
                </a:moveTo>
                <a:lnTo>
                  <a:pt x="3733800" y="0"/>
                </a:lnTo>
              </a:path>
            </a:pathLst>
          </a:custGeom>
          <a:noFill/>
          <a:ln w="9525">
            <a:solidFill>
              <a:srgbClr val="E5E7EB"/>
            </a:solidFill>
          </a:ln>
        </p:spPr>
      </p:sp>
      <p:sp>
        <p:nvSpPr>
          <p:cNvPr id="76" name="Rectangle 76"/>
          <p:cNvSpPr/>
          <p:nvPr/>
        </p:nvSpPr>
        <p:spPr>
          <a:xfrm>
            <a:off x="7848600" y="4400550"/>
            <a:ext cx="3733800" cy="323850"/>
          </a:xfrm>
          <a:prstGeom prst="rect">
            <a:avLst/>
          </a:prstGeom>
          <a:noFill/>
          <a:ln w="9525">
            <a:solidFill>
              <a:srgbClr val="D4AF37"/>
            </a:solidFill>
          </a:ln>
        </p:spPr>
      </p:sp>
      <p:sp>
        <p:nvSpPr>
          <p:cNvPr id="77" name="TextBox 77"/>
          <p:cNvSpPr txBox="1"/>
          <p:nvPr/>
        </p:nvSpPr>
        <p:spPr>
          <a:xfrm>
            <a:off x="7969568" y="4504849"/>
            <a:ext cx="62284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合计轮次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10589647" y="4480560"/>
            <a:ext cx="13169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b="1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8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10846118" y="4504849"/>
            <a:ext cx="62284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D4AF37"/>
                </a:solidFill>
                <a:latin typeface="Arial"/>
                <a:ea typeface="Microsoft YaHei"/>
                <a:cs typeface="Arial"/>
              </a:rPr>
              <a:t>全部留用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7837170" y="4893945"/>
            <a:ext cx="288178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19:00 轮由 vercel 与 sites-building 叠加完成，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7837170" y="5065395"/>
            <a:ext cx="221799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故技能轮次相加为 9、实际轮次为 8。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7837170" y="5484495"/>
            <a:ext cx="297380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未安装来源：扩展市场 12 个候选（需用户确认）、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7837170" y="5655945"/>
            <a:ext cx="182365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GitHub / skills.sh 本机不可达</a:t>
            </a:r>
          </a:p>
        </p:txBody>
      </p:sp>
      <p:sp>
        <p:nvSpPr>
          <p:cNvPr id="84" name="Line 84"/>
          <p:cNvSpPr/>
          <p:nvPr/>
        </p:nvSpPr>
        <p:spPr>
          <a:xfrm>
            <a:off x="381000" y="62865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5E7EB"/>
            </a:solidFill>
          </a:ln>
        </p:spPr>
      </p:sp>
      <p:sp>
        <p:nvSpPr>
          <p:cNvPr id="85" name="TextBox 85"/>
          <p:cNvSpPr txBox="1"/>
          <p:nvPr/>
        </p:nvSpPr>
        <p:spPr>
          <a:xfrm>
            <a:off x="369570" y="6522720"/>
            <a:ext cx="487318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Source: state/state.json 与 records/work-log.md @ 2026-09-25 22:00 快照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5670518" y="6522720"/>
            <a:ext cx="85096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D4AF37"/>
                </a:solidFill>
                <a:latin typeface="Arial"/>
                <a:ea typeface="Microsoft YaHei"/>
                <a:cs typeface="Arial"/>
              </a:rPr>
              <a:t>CONFIDENTIAL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11168729" y="6522720"/>
            <a:ext cx="46320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04 / 05</a:t>
            </a:r>
          </a:p>
        </p:txBody>
      </p:sp>
    </p:spTree>
  </p:cSld>
  <p:clrMapOvr>
    <a:masterClrMapping/>
  </p:clrMapOvr>
  <p:transition dur="5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1E40AF"/>
              </a:gs>
              <a:gs pos="100000">
                <a:srgbClr val="7C3AED"/>
              </a:gs>
            </a:gsLst>
            <a:lin ang="0" scaled="1"/>
          </a:gradFill>
          <a:ln>
            <a:noFill/>
          </a:ln>
        </p:spPr>
      </p:sp>
      <p:grpSp>
        <p:nvGrpSpPr>
          <p:cNvPr id="12" name="Group 12"/>
          <p:cNvGrpSpPr/>
          <p:nvPr/>
        </p:nvGrpSpPr>
        <p:grpSpPr>
          <a:xfrm>
            <a:off x="952500" y="952500"/>
            <a:ext cx="10287000" cy="4953000"/>
            <a:chOff x="952500" y="952500"/>
            <a:chExt cx="10287000" cy="4953000"/>
          </a:xfrm>
        </p:grpSpPr>
        <p:sp>
          <p:nvSpPr>
            <p:cNvPr id="4" name="Line 4"/>
            <p:cNvSpPr/>
            <p:nvPr/>
          </p:nvSpPr>
          <p:spPr>
            <a:xfrm>
              <a:off x="1905000" y="952500"/>
              <a:ext cx="9525" cy="4953000"/>
            </a:xfrm>
            <a:custGeom>
              <a:avLst/>
              <a:gdLst/>
              <a:ahLst/>
              <a:cxnLst/>
              <a:rect l="l" t="t" r="r" b="b"/>
              <a:pathLst>
                <a:path w="9525" h="4953000">
                  <a:moveTo>
                    <a:pt x="0" y="0"/>
                  </a:moveTo>
                  <a:lnTo>
                    <a:pt x="0" y="4953000"/>
                  </a:lnTo>
                </a:path>
              </a:pathLst>
            </a:custGeom>
            <a:noFill/>
            <a:ln w="4762">
              <a:solidFill>
                <a:srgbClr val="1E40AF">
                  <a:alpha val="100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3810000" y="952500"/>
              <a:ext cx="9525" cy="4953000"/>
            </a:xfrm>
            <a:custGeom>
              <a:avLst/>
              <a:gdLst/>
              <a:ahLst/>
              <a:cxnLst/>
              <a:rect l="l" t="t" r="r" b="b"/>
              <a:pathLst>
                <a:path w="9525" h="4953000">
                  <a:moveTo>
                    <a:pt x="0" y="0"/>
                  </a:moveTo>
                  <a:lnTo>
                    <a:pt x="0" y="4953000"/>
                  </a:lnTo>
                </a:path>
              </a:pathLst>
            </a:custGeom>
            <a:noFill/>
            <a:ln w="4762">
              <a:solidFill>
                <a:srgbClr val="1E40AF">
                  <a:alpha val="10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5715000" y="952500"/>
              <a:ext cx="9525" cy="4953000"/>
            </a:xfrm>
            <a:custGeom>
              <a:avLst/>
              <a:gdLst/>
              <a:ahLst/>
              <a:cxnLst/>
              <a:rect l="l" t="t" r="r" b="b"/>
              <a:pathLst>
                <a:path w="9525" h="4953000">
                  <a:moveTo>
                    <a:pt x="0" y="0"/>
                  </a:moveTo>
                  <a:lnTo>
                    <a:pt x="0" y="4953000"/>
                  </a:lnTo>
                </a:path>
              </a:pathLst>
            </a:custGeom>
            <a:noFill/>
            <a:ln w="4762">
              <a:solidFill>
                <a:srgbClr val="1E40AF">
                  <a:alpha val="10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7620000" y="952500"/>
              <a:ext cx="9525" cy="4953000"/>
            </a:xfrm>
            <a:custGeom>
              <a:avLst/>
              <a:gdLst/>
              <a:ahLst/>
              <a:cxnLst/>
              <a:rect l="l" t="t" r="r" b="b"/>
              <a:pathLst>
                <a:path w="9525" h="4953000">
                  <a:moveTo>
                    <a:pt x="0" y="0"/>
                  </a:moveTo>
                  <a:lnTo>
                    <a:pt x="0" y="4953000"/>
                  </a:lnTo>
                </a:path>
              </a:pathLst>
            </a:custGeom>
            <a:noFill/>
            <a:ln w="4762">
              <a:solidFill>
                <a:srgbClr val="1E40AF">
                  <a:alpha val="100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9525000" y="952500"/>
              <a:ext cx="9525" cy="4953000"/>
            </a:xfrm>
            <a:custGeom>
              <a:avLst/>
              <a:gdLst/>
              <a:ahLst/>
              <a:cxnLst/>
              <a:rect l="l" t="t" r="r" b="b"/>
              <a:pathLst>
                <a:path w="9525" h="4953000">
                  <a:moveTo>
                    <a:pt x="0" y="0"/>
                  </a:moveTo>
                  <a:lnTo>
                    <a:pt x="0" y="4953000"/>
                  </a:lnTo>
                </a:path>
              </a:pathLst>
            </a:custGeom>
            <a:noFill/>
            <a:ln w="4762">
              <a:solidFill>
                <a:srgbClr val="1E40AF">
                  <a:alpha val="10000"/>
                </a:srgb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952500" y="1905000"/>
              <a:ext cx="10287000" cy="9525"/>
            </a:xfrm>
            <a:custGeom>
              <a:avLst/>
              <a:gdLst/>
              <a:ahLst/>
              <a:cxnLst/>
              <a:rect l="l" t="t" r="r" b="b"/>
              <a:pathLst>
                <a:path w="10287000" h="9525">
                  <a:moveTo>
                    <a:pt x="0" y="0"/>
                  </a:moveTo>
                  <a:lnTo>
                    <a:pt x="10287000" y="0"/>
                  </a:lnTo>
                </a:path>
              </a:pathLst>
            </a:custGeom>
            <a:noFill/>
            <a:ln w="4762">
              <a:solidFill>
                <a:srgbClr val="1E40AF">
                  <a:alpha val="10000"/>
                </a:srgb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952500" y="3429000"/>
              <a:ext cx="10287000" cy="9525"/>
            </a:xfrm>
            <a:custGeom>
              <a:avLst/>
              <a:gdLst/>
              <a:ahLst/>
              <a:cxnLst/>
              <a:rect l="l" t="t" r="r" b="b"/>
              <a:pathLst>
                <a:path w="10287000" h="9525">
                  <a:moveTo>
                    <a:pt x="0" y="0"/>
                  </a:moveTo>
                  <a:lnTo>
                    <a:pt x="10287000" y="0"/>
                  </a:lnTo>
                </a:path>
              </a:pathLst>
            </a:custGeom>
            <a:noFill/>
            <a:ln w="4762">
              <a:solidFill>
                <a:srgbClr val="1E40AF">
                  <a:alpha val="10000"/>
                </a:srgb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952500" y="4953000"/>
              <a:ext cx="10287000" cy="9525"/>
            </a:xfrm>
            <a:custGeom>
              <a:avLst/>
              <a:gdLst/>
              <a:ahLst/>
              <a:cxnLst/>
              <a:rect l="l" t="t" r="r" b="b"/>
              <a:pathLst>
                <a:path w="10287000" h="9525">
                  <a:moveTo>
                    <a:pt x="0" y="0"/>
                  </a:moveTo>
                  <a:lnTo>
                    <a:pt x="10287000" y="0"/>
                  </a:lnTo>
                </a:path>
              </a:pathLst>
            </a:custGeom>
            <a:noFill/>
            <a:ln w="4762">
              <a:solidFill>
                <a:srgbClr val="1E40AF">
                  <a:alpha val="10000"/>
                </a:srgbClr>
              </a:solidFill>
            </a:ln>
          </p:spPr>
        </p:sp>
      </p:grpSp>
      <p:sp>
        <p:nvSpPr>
          <p:cNvPr id="13" name="TextBox 13"/>
          <p:cNvSpPr txBox="1"/>
          <p:nvPr/>
        </p:nvSpPr>
        <p:spPr>
          <a:xfrm>
            <a:off x="4754499" y="2213610"/>
            <a:ext cx="2683002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谢谢评审</a:t>
            </a:r>
          </a:p>
        </p:txBody>
      </p:sp>
      <p:sp>
        <p:nvSpPr>
          <p:cNvPr id="14" name="Line 14"/>
          <p:cNvSpPr/>
          <p:nvPr/>
        </p:nvSpPr>
        <p:spPr>
          <a:xfrm>
            <a:off x="4762500" y="3048000"/>
            <a:ext cx="2667000" cy="9525"/>
          </a:xfrm>
          <a:custGeom>
            <a:avLst/>
            <a:gdLst/>
            <a:ahLst/>
            <a:cxnLst/>
            <a:rect l="l" t="t" r="r" b="b"/>
            <a:pathLst>
              <a:path w="2667000" h="9525">
                <a:moveTo>
                  <a:pt x="0" y="0"/>
                </a:moveTo>
                <a:lnTo>
                  <a:pt x="2667000" y="0"/>
                </a:lnTo>
              </a:path>
            </a:pathLst>
          </a:custGeom>
          <a:noFill/>
          <a:ln w="28575">
            <a:solidFill>
              <a:srgbClr val="D4AF37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3544729" y="3441382"/>
            <a:ext cx="510254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下一轮：让风格来自技能，而不是来自临场发挥</a:t>
            </a:r>
          </a:p>
        </p:txBody>
      </p:sp>
      <p:sp>
        <p:nvSpPr>
          <p:cNvPr id="16" name="Rectangle 16"/>
          <p:cNvSpPr/>
          <p:nvPr/>
        </p:nvSpPr>
        <p:spPr>
          <a:xfrm>
            <a:off x="4191000" y="4191000"/>
            <a:ext cx="3810000" cy="952500"/>
          </a:xfrm>
          <a:prstGeom prst="rect">
            <a:avLst/>
          </a:prstGeom>
          <a:solidFill>
            <a:srgbClr val="1F2937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4801800" y="4537710"/>
            <a:ext cx="25884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前端 Skill 验证实验室 · 第 9 轮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560016" y="4839652"/>
            <a:ext cx="507196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artifacts/20260925-22-ppt-generator-deck · skill: ppt-generator</a:t>
            </a:r>
          </a:p>
        </p:txBody>
      </p:sp>
      <p:sp>
        <p:nvSpPr>
          <p:cNvPr id="19" name="Line 19"/>
          <p:cNvSpPr/>
          <p:nvPr/>
        </p:nvSpPr>
        <p:spPr>
          <a:xfrm>
            <a:off x="1905000" y="6096000"/>
            <a:ext cx="8382000" cy="9525"/>
          </a:xfrm>
          <a:custGeom>
            <a:avLst/>
            <a:gdLst/>
            <a:ahLst/>
            <a:cxnLst/>
            <a:rect l="l" t="t" r="r" b="b"/>
            <a:pathLst>
              <a:path w="8382000" h="9525">
                <a:moveTo>
                  <a:pt x="0" y="0"/>
                </a:moveTo>
                <a:lnTo>
                  <a:pt x="8382000" y="0"/>
                </a:lnTo>
              </a:path>
            </a:pathLst>
          </a:custGeom>
          <a:noFill/>
          <a:ln w="9525">
            <a:solidFill>
              <a:srgbClr val="1F2937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4405360" y="6379845"/>
            <a:ext cx="338128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D4AF37"/>
                </a:solidFill>
                <a:latin typeface="Arial"/>
                <a:ea typeface="Microsoft YaHei"/>
                <a:cs typeface="Arial"/>
              </a:rPr>
              <a:t>CONFIDENTIAL · 2026-09-25 Qoder Agent 无人值守产出</a:t>
            </a:r>
          </a:p>
        </p:txBody>
      </p:sp>
    </p:spTree>
  </p:cSld>
  <p:clrMapOvr>
    <a:masterClrMapping/>
  </p:clrMapOvr>
  <p:transition dur="5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